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1.svg" ContentType="image/svg+xml"/>
  <Override PartName="/ppt/media/image2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66" r:id="rId3"/>
    <p:sldMasterId id="2147483674" r:id="rId4"/>
  </p:sldMasterIdLst>
  <p:notesMasterIdLst>
    <p:notesMasterId r:id="rId6"/>
  </p:notesMasterIdLst>
  <p:sldIdLst>
    <p:sldId id="876" r:id="rId5"/>
    <p:sldId id="1159" r:id="rId7"/>
    <p:sldId id="837" r:id="rId8"/>
    <p:sldId id="1169" r:id="rId9"/>
    <p:sldId id="1182" r:id="rId10"/>
    <p:sldId id="1183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目录" id="{357FA8D8-EAF3-4D76-A51F-06E98BA34D03}">
          <p14:sldIdLst/>
        </p14:section>
        <p14:section name="关于优维" id="{488118d0-9751-49cf-a26e-3b75dee743de}">
          <p14:sldIdLst/>
        </p14:section>
        <p14:section name="现状阐述" id="{936694d5-5e2a-42bb-85e6-1bee1786ea42}">
          <p14:sldIdLst/>
        </p14:section>
        <p14:section name="设计理念" id="{23fbbc4b-1200-47a6-bde8-bcba066a221f}">
          <p14:sldIdLst>
            <p14:sldId id="876"/>
          </p14:sldIdLst>
        </p14:section>
        <p14:section name="一体化解决方案" id="{d5fa2c38-9e36-4d06-8640-ef7288bfe21f}">
          <p14:sldIdLst>
            <p14:sldId id="1159"/>
            <p14:sldId id="837"/>
            <p14:sldId id="1169"/>
            <p14:sldId id="1182"/>
            <p14:sldId id="1183"/>
          </p14:sldIdLst>
        </p14:section>
        <p14:section name="平台建设价值收益" id="{7868d7ce-768a-4b9a-a03b-83b1687489b5}">
          <p14:sldIdLst/>
        </p14:section>
        <p14:section name="客户案例介绍" id="{cf28baae-d25f-4b85-b94d-e482ffbc9ff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0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丁浩宸" initials="丁" lastIdx="1" clrIdx="0"/>
  <p:cmAuthor id="1" name="Neko Huang" initials="NH" lastIdx="9" clrIdx="0"/>
  <p:cmAuthor id="2" name="杨畯/01115369" initials="杨畯/01115369" lastIdx="1" clrIdx="1"/>
  <p:cmAuthor id="3" name="ASUS-李晓红" initials="A" lastIdx="1" clrIdx="2"/>
  <p:cmAuthor id="5" name="zxb" initials="zxb" lastIdx="1" clrIdx="4"/>
  <p:cmAuthor id="4" name="微软(中国)有限公司" initials="MSOffice" lastIdx="1" clrIdx="4"/>
  <p:cmAuthor id="6" name="chenyue2" initials="c" lastIdx="12" clrIdx="5"/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7FFF"/>
    <a:srgbClr val="FFC000"/>
    <a:srgbClr val="9BBB59"/>
    <a:srgbClr val="69A35B"/>
    <a:srgbClr val="1AA3AA"/>
    <a:srgbClr val="3498DB"/>
    <a:srgbClr val="0955D1"/>
    <a:srgbClr val="0056D1"/>
    <a:srgbClr val="3270D6"/>
    <a:srgbClr val="2355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31"/>
    <p:restoredTop sz="94714"/>
  </p:normalViewPr>
  <p:slideViewPr>
    <p:cSldViewPr snapToGrid="0" snapToObjects="1" showGuides="1">
      <p:cViewPr varScale="1">
        <p:scale>
          <a:sx n="117" d="100"/>
          <a:sy n="117" d="100"/>
        </p:scale>
        <p:origin x="376" y="176"/>
      </p:cViewPr>
      <p:guideLst>
        <p:guide orient="horz" pos="2060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6" d="100"/>
          <a:sy n="96" d="100"/>
        </p:scale>
        <p:origin x="3688" y="176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commentAuthors" Target="commentAuthors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BDF80-B02F-F84F-B7E0-250D9BC4D6F1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126D6-9DD9-CE49-8E5F-09BA9FAA2A4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126D6-9DD9-CE49-8E5F-09BA9FAA2A4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en-US" altLang="zh-CN"/>
              <a:t> </a:t>
            </a:r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4" Type="http://schemas.openxmlformats.org/officeDocument/2006/relationships/image" Target="../media/image12.jpe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28651" y="773720"/>
            <a:ext cx="10321234" cy="1965299"/>
          </a:xfr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2">
                    <a:lumMod val="10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cxnSp>
        <p:nvCxnSpPr>
          <p:cNvPr id="14" name="直接连接符 10"/>
          <p:cNvCxnSpPr/>
          <p:nvPr userDrawn="1"/>
        </p:nvCxnSpPr>
        <p:spPr>
          <a:xfrm>
            <a:off x="711200" y="5761355"/>
            <a:ext cx="36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 userDrawn="1"/>
        </p:nvSpPr>
        <p:spPr>
          <a:xfrm>
            <a:off x="628824" y="5926445"/>
            <a:ext cx="29857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1600" b="0" i="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优维科技（深圳）有限公司</a:t>
            </a:r>
            <a:endParaRPr kumimoji="1" lang="zh-CN" altLang="en-US" sz="16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6" name="任意多边形 35"/>
          <p:cNvSpPr/>
          <p:nvPr userDrawn="1"/>
        </p:nvSpPr>
        <p:spPr>
          <a:xfrm rot="16200000">
            <a:off x="6840633" y="1535531"/>
            <a:ext cx="6886898" cy="3815836"/>
          </a:xfrm>
          <a:custGeom>
            <a:avLst/>
            <a:gdLst>
              <a:gd name="connsiteX0" fmla="*/ 6886898 w 6886898"/>
              <a:gd name="connsiteY0" fmla="*/ 2035429 h 3815836"/>
              <a:gd name="connsiteX1" fmla="*/ 6886898 w 6886898"/>
              <a:gd name="connsiteY1" fmla="*/ 3815836 h 3815836"/>
              <a:gd name="connsiteX2" fmla="*/ 4635589 w 6886898"/>
              <a:gd name="connsiteY2" fmla="*/ 3815836 h 3815836"/>
              <a:gd name="connsiteX3" fmla="*/ 4632870 w 6886898"/>
              <a:gd name="connsiteY3" fmla="*/ 3774878 h 3815836"/>
              <a:gd name="connsiteX4" fmla="*/ 4043437 w 6886898"/>
              <a:gd name="connsiteY4" fmla="*/ 2894617 h 3815836"/>
              <a:gd name="connsiteX5" fmla="*/ 2843463 w 6886898"/>
              <a:gd name="connsiteY5" fmla="*/ 2894616 h 3815836"/>
              <a:gd name="connsiteX6" fmla="*/ 2254029 w 6886898"/>
              <a:gd name="connsiteY6" fmla="*/ 3774876 h 3815836"/>
              <a:gd name="connsiteX7" fmla="*/ 2251310 w 6886898"/>
              <a:gd name="connsiteY7" fmla="*/ 3815836 h 3815836"/>
              <a:gd name="connsiteX8" fmla="*/ 0 w 6886898"/>
              <a:gd name="connsiteY8" fmla="*/ 3815836 h 3815836"/>
              <a:gd name="connsiteX9" fmla="*/ 0 w 6886898"/>
              <a:gd name="connsiteY9" fmla="*/ 2035428 h 3815836"/>
              <a:gd name="connsiteX10" fmla="*/ 36657 w 6886898"/>
              <a:gd name="connsiteY10" fmla="*/ 1966912 h 3815836"/>
              <a:gd name="connsiteX11" fmla="*/ 1476537 w 6886898"/>
              <a:gd name="connsiteY11" fmla="*/ 527032 h 3815836"/>
              <a:gd name="connsiteX12" fmla="*/ 5410363 w 6886898"/>
              <a:gd name="connsiteY12" fmla="*/ 527034 h 3815836"/>
              <a:gd name="connsiteX13" fmla="*/ 6850242 w 6886898"/>
              <a:gd name="connsiteY13" fmla="*/ 1966915 h 3815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886898" h="3815836">
                <a:moveTo>
                  <a:pt x="6886898" y="2035429"/>
                </a:moveTo>
                <a:lnTo>
                  <a:pt x="6886898" y="3815836"/>
                </a:lnTo>
                <a:lnTo>
                  <a:pt x="4635589" y="3815836"/>
                </a:lnTo>
                <a:lnTo>
                  <a:pt x="4632870" y="3774878"/>
                </a:lnTo>
                <a:cubicBezTo>
                  <a:pt x="4584017" y="3408920"/>
                  <a:pt x="4368301" y="3082178"/>
                  <a:pt x="4043437" y="2894617"/>
                </a:cubicBezTo>
                <a:cubicBezTo>
                  <a:pt x="3672164" y="2680262"/>
                  <a:pt x="3214736" y="2680262"/>
                  <a:pt x="2843463" y="2894616"/>
                </a:cubicBezTo>
                <a:cubicBezTo>
                  <a:pt x="2518599" y="3082177"/>
                  <a:pt x="2302882" y="3408919"/>
                  <a:pt x="2254029" y="3774876"/>
                </a:cubicBezTo>
                <a:lnTo>
                  <a:pt x="2251310" y="3815836"/>
                </a:lnTo>
                <a:lnTo>
                  <a:pt x="0" y="3815836"/>
                </a:lnTo>
                <a:lnTo>
                  <a:pt x="0" y="2035428"/>
                </a:lnTo>
                <a:lnTo>
                  <a:pt x="36657" y="1966912"/>
                </a:lnTo>
                <a:cubicBezTo>
                  <a:pt x="376244" y="1378730"/>
                  <a:pt x="867972" y="878387"/>
                  <a:pt x="1476537" y="527032"/>
                </a:cubicBezTo>
                <a:cubicBezTo>
                  <a:pt x="2693667" y="-175678"/>
                  <a:pt x="4193233" y="-175677"/>
                  <a:pt x="5410363" y="527034"/>
                </a:cubicBezTo>
                <a:cubicBezTo>
                  <a:pt x="6018928" y="878390"/>
                  <a:pt x="6510656" y="1378733"/>
                  <a:pt x="6850242" y="1966915"/>
                </a:cubicBezTo>
                <a:close/>
              </a:path>
            </a:pathLst>
          </a:custGeom>
          <a:solidFill>
            <a:srgbClr val="005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inpin heiti" charset="-122"/>
              <a:ea typeface="inpin heiti" charset="-122"/>
            </a:endParaRPr>
          </a:p>
        </p:txBody>
      </p:sp>
      <p:pic>
        <p:nvPicPr>
          <p:cNvPr id="8" name="图片 7" descr="Logo-横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4749800"/>
            <a:ext cx="2529840" cy="10115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多边形 35"/>
          <p:cNvSpPr/>
          <p:nvPr userDrawn="1"/>
        </p:nvSpPr>
        <p:spPr>
          <a:xfrm rot="16200000">
            <a:off x="6840633" y="1535531"/>
            <a:ext cx="6886898" cy="3815836"/>
          </a:xfrm>
          <a:custGeom>
            <a:avLst/>
            <a:gdLst>
              <a:gd name="connsiteX0" fmla="*/ 6886898 w 6886898"/>
              <a:gd name="connsiteY0" fmla="*/ 2035429 h 3815836"/>
              <a:gd name="connsiteX1" fmla="*/ 6886898 w 6886898"/>
              <a:gd name="connsiteY1" fmla="*/ 3815836 h 3815836"/>
              <a:gd name="connsiteX2" fmla="*/ 4635589 w 6886898"/>
              <a:gd name="connsiteY2" fmla="*/ 3815836 h 3815836"/>
              <a:gd name="connsiteX3" fmla="*/ 4632870 w 6886898"/>
              <a:gd name="connsiteY3" fmla="*/ 3774878 h 3815836"/>
              <a:gd name="connsiteX4" fmla="*/ 4043437 w 6886898"/>
              <a:gd name="connsiteY4" fmla="*/ 2894617 h 3815836"/>
              <a:gd name="connsiteX5" fmla="*/ 2843463 w 6886898"/>
              <a:gd name="connsiteY5" fmla="*/ 2894616 h 3815836"/>
              <a:gd name="connsiteX6" fmla="*/ 2254029 w 6886898"/>
              <a:gd name="connsiteY6" fmla="*/ 3774876 h 3815836"/>
              <a:gd name="connsiteX7" fmla="*/ 2251310 w 6886898"/>
              <a:gd name="connsiteY7" fmla="*/ 3815836 h 3815836"/>
              <a:gd name="connsiteX8" fmla="*/ 0 w 6886898"/>
              <a:gd name="connsiteY8" fmla="*/ 3815836 h 3815836"/>
              <a:gd name="connsiteX9" fmla="*/ 0 w 6886898"/>
              <a:gd name="connsiteY9" fmla="*/ 2035428 h 3815836"/>
              <a:gd name="connsiteX10" fmla="*/ 36657 w 6886898"/>
              <a:gd name="connsiteY10" fmla="*/ 1966912 h 3815836"/>
              <a:gd name="connsiteX11" fmla="*/ 1476537 w 6886898"/>
              <a:gd name="connsiteY11" fmla="*/ 527032 h 3815836"/>
              <a:gd name="connsiteX12" fmla="*/ 5410363 w 6886898"/>
              <a:gd name="connsiteY12" fmla="*/ 527034 h 3815836"/>
              <a:gd name="connsiteX13" fmla="*/ 6850242 w 6886898"/>
              <a:gd name="connsiteY13" fmla="*/ 1966915 h 3815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886898" h="3815836">
                <a:moveTo>
                  <a:pt x="6886898" y="2035429"/>
                </a:moveTo>
                <a:lnTo>
                  <a:pt x="6886898" y="3815836"/>
                </a:lnTo>
                <a:lnTo>
                  <a:pt x="4635589" y="3815836"/>
                </a:lnTo>
                <a:lnTo>
                  <a:pt x="4632870" y="3774878"/>
                </a:lnTo>
                <a:cubicBezTo>
                  <a:pt x="4584017" y="3408920"/>
                  <a:pt x="4368301" y="3082178"/>
                  <a:pt x="4043437" y="2894617"/>
                </a:cubicBezTo>
                <a:cubicBezTo>
                  <a:pt x="3672164" y="2680262"/>
                  <a:pt x="3214736" y="2680262"/>
                  <a:pt x="2843463" y="2894616"/>
                </a:cubicBezTo>
                <a:cubicBezTo>
                  <a:pt x="2518599" y="3082177"/>
                  <a:pt x="2302882" y="3408919"/>
                  <a:pt x="2254029" y="3774876"/>
                </a:cubicBezTo>
                <a:lnTo>
                  <a:pt x="2251310" y="3815836"/>
                </a:lnTo>
                <a:lnTo>
                  <a:pt x="0" y="3815836"/>
                </a:lnTo>
                <a:lnTo>
                  <a:pt x="0" y="2035428"/>
                </a:lnTo>
                <a:lnTo>
                  <a:pt x="36657" y="1966912"/>
                </a:lnTo>
                <a:cubicBezTo>
                  <a:pt x="376244" y="1378730"/>
                  <a:pt x="867972" y="878387"/>
                  <a:pt x="1476537" y="527032"/>
                </a:cubicBezTo>
                <a:cubicBezTo>
                  <a:pt x="2693667" y="-175678"/>
                  <a:pt x="4193233" y="-175677"/>
                  <a:pt x="5410363" y="527034"/>
                </a:cubicBezTo>
                <a:cubicBezTo>
                  <a:pt x="6018928" y="878390"/>
                  <a:pt x="6510656" y="1378733"/>
                  <a:pt x="6850242" y="1966915"/>
                </a:cubicBezTo>
                <a:close/>
              </a:path>
            </a:pathLst>
          </a:custGeom>
          <a:solidFill>
            <a:srgbClr val="005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inpin heiti" charset="-122"/>
              <a:ea typeface="inpin heiti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 rot="5400000">
            <a:off x="0" y="3438000"/>
            <a:ext cx="5715002" cy="70351"/>
          </a:xfrm>
          <a:prstGeom prst="rect">
            <a:avLst/>
          </a:prstGeom>
          <a:gradFill flip="none" rotWithShape="1">
            <a:gsLst>
              <a:gs pos="0">
                <a:srgbClr val="00A8AE"/>
              </a:gs>
              <a:gs pos="69000">
                <a:srgbClr val="0083C8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 userDrawn="1"/>
        </p:nvSpPr>
        <p:spPr>
          <a:xfrm>
            <a:off x="1090137" y="2344462"/>
            <a:ext cx="738664" cy="22574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en-US" altLang="en-US" sz="36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目    录</a:t>
            </a:r>
            <a:endParaRPr kumimoji="1" lang="zh-CN" altLang="en-US" sz="3600" b="0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3714750" y="615674"/>
            <a:ext cx="7443788" cy="5715003"/>
          </a:xfrm>
        </p:spPr>
        <p:txBody>
          <a:bodyPr vert="horz" lIns="91440" tIns="45720" rIns="91440" bIns="45720" numCol="2" rtlCol="0" anchor="ctr">
            <a:normAutofit/>
          </a:bodyPr>
          <a:lstStyle>
            <a:lvl1pPr marL="514350" marR="0" lvl="0" indent="-51435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buClr>
                <a:schemeClr val="accent1"/>
              </a:buClr>
              <a:buSzPct val="150000"/>
              <a:buFont typeface="+mj-lt"/>
              <a:buAutoNum type="arabicPeriod"/>
              <a:defRPr kumimoji="1" lang="zh-CN" altLang="en-US" sz="2400" b="0" i="0" u="none" strike="noStrike" kern="1200" cap="none" spc="0" normalizeH="0" baseline="0" noProof="1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+mn-ea"/>
              </a:defRPr>
            </a:lvl1pPr>
            <a:lvl2pPr marL="914400" indent="-457200">
              <a:lnSpc>
                <a:spcPct val="200000"/>
              </a:lnSpc>
              <a:buClr>
                <a:schemeClr val="accent1"/>
              </a:buClr>
              <a:buSzPct val="150000"/>
              <a:buFont typeface="+mj-lt"/>
              <a:buAutoNum type="arabicPeriod"/>
              <a:defRPr/>
            </a:lvl2pPr>
            <a:lvl3pPr marL="1371600" indent="-457200">
              <a:lnSpc>
                <a:spcPct val="200000"/>
              </a:lnSpc>
              <a:buClr>
                <a:schemeClr val="accent1"/>
              </a:buClr>
              <a:buSzPct val="150000"/>
              <a:buFont typeface="+mj-lt"/>
              <a:buAutoNum type="arabicPeriod"/>
              <a:defRPr/>
            </a:lvl3pPr>
            <a:lvl4pPr marL="1714500" indent="-342900">
              <a:lnSpc>
                <a:spcPct val="200000"/>
              </a:lnSpc>
              <a:buClr>
                <a:schemeClr val="accent1"/>
              </a:buClr>
              <a:buSzPct val="150000"/>
              <a:buFont typeface="+mj-lt"/>
              <a:buAutoNum type="arabicPeriod"/>
              <a:defRPr/>
            </a:lvl4pPr>
            <a:lvl5pPr marL="2171700" indent="-342900">
              <a:lnSpc>
                <a:spcPct val="200000"/>
              </a:lnSpc>
              <a:buClr>
                <a:schemeClr val="accent1"/>
              </a:buClr>
              <a:buSzPct val="150000"/>
              <a:buFont typeface="+mj-lt"/>
              <a:buAutoNum type="arabicPeriod"/>
              <a:defRPr/>
            </a:lvl5pPr>
          </a:lstStyle>
          <a:p>
            <a:pPr lvl="0" algn="l">
              <a:buAutoNum type="arabicPeriod"/>
            </a:pPr>
            <a:r>
              <a:rPr>
                <a:sym typeface="+mn-ea"/>
              </a:rPr>
              <a:t>编辑母版文本样式</a:t>
            </a:r>
            <a:endParaRPr>
              <a:sym typeface="+mn-ea"/>
            </a:endParaRPr>
          </a:p>
        </p:txBody>
      </p:sp>
      <p:pic>
        <p:nvPicPr>
          <p:cNvPr id="10" name="图片 9" descr="Logo-横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09250" y="0"/>
            <a:ext cx="1682750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PT素材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993900"/>
            <a:ext cx="2954655" cy="4864100"/>
          </a:xfrm>
          <a:prstGeom prst="rect">
            <a:avLst/>
          </a:prstGeom>
        </p:spPr>
      </p:pic>
      <p:sp>
        <p:nvSpPr>
          <p:cNvPr id="14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364478" y="3919079"/>
            <a:ext cx="8070983" cy="914400"/>
          </a:xfrm>
        </p:spPr>
        <p:txBody>
          <a:bodyPr anchor="ctr">
            <a:noAutofit/>
          </a:bodyPr>
          <a:lstStyle>
            <a:lvl1pPr marL="0" indent="0">
              <a:buNone/>
              <a:defRPr sz="4800">
                <a:solidFill>
                  <a:srgbClr val="0056D1"/>
                </a:solidFill>
              </a:defRPr>
            </a:lvl1pPr>
            <a:lvl2pPr marL="457200" indent="0">
              <a:buNone/>
              <a:defRPr sz="4000">
                <a:solidFill>
                  <a:schemeClr val="bg1"/>
                </a:solidFill>
              </a:defRPr>
            </a:lvl2pPr>
            <a:lvl3pPr marL="914400" indent="0">
              <a:buNone/>
              <a:defRPr sz="4000">
                <a:solidFill>
                  <a:schemeClr val="bg1"/>
                </a:solidFill>
              </a:defRPr>
            </a:lvl3pPr>
            <a:lvl4pPr marL="1371600" indent="0">
              <a:buNone/>
              <a:defRPr sz="4000">
                <a:solidFill>
                  <a:schemeClr val="bg1"/>
                </a:solidFill>
              </a:defRPr>
            </a:lvl4pPr>
            <a:lvl5pPr marL="1828800" indent="0">
              <a:buNone/>
              <a:defRPr sz="40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15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1399540" y="3491865"/>
            <a:ext cx="1644015" cy="1769110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0" i="0">
                <a:solidFill>
                  <a:schemeClr val="bg1"/>
                </a:solidFill>
                <a:latin typeface="微软雅黑" panose="020B0604030504040204" pitchFamily="34" charset="-122"/>
                <a:ea typeface="微软雅黑" panose="020B0604030504040204" pitchFamily="34" charset="-122"/>
              </a:defRPr>
            </a:lvl1pPr>
            <a:lvl2pPr marL="457200" indent="0">
              <a:buNone/>
              <a:defRPr sz="4000">
                <a:solidFill>
                  <a:schemeClr val="bg1"/>
                </a:solidFill>
              </a:defRPr>
            </a:lvl2pPr>
            <a:lvl3pPr marL="914400" indent="0">
              <a:buNone/>
              <a:defRPr sz="4000">
                <a:solidFill>
                  <a:schemeClr val="bg1"/>
                </a:solidFill>
              </a:defRPr>
            </a:lvl3pPr>
            <a:lvl4pPr marL="1371600" indent="0">
              <a:buNone/>
              <a:defRPr sz="4000">
                <a:solidFill>
                  <a:schemeClr val="bg1"/>
                </a:solidFill>
              </a:defRPr>
            </a:lvl4pPr>
            <a:lvl5pPr marL="1828800" indent="0">
              <a:buNone/>
              <a:defRPr sz="40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序号</a:t>
            </a:r>
            <a:endParaRPr kumimoji="1" lang="zh-CN" altLang="en-US" dirty="0"/>
          </a:p>
        </p:txBody>
      </p:sp>
      <p:cxnSp>
        <p:nvCxnSpPr>
          <p:cNvPr id="7" name="直接连接符 10"/>
          <p:cNvCxnSpPr/>
          <p:nvPr userDrawn="1"/>
        </p:nvCxnSpPr>
        <p:spPr>
          <a:xfrm>
            <a:off x="1998190" y="4801094"/>
            <a:ext cx="44630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Logo-横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09250" y="318"/>
            <a:ext cx="1682750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单圆角矩形 5"/>
          <p:cNvSpPr/>
          <p:nvPr userDrawn="1"/>
        </p:nvSpPr>
        <p:spPr>
          <a:xfrm rot="10800000" flipH="1">
            <a:off x="0" y="0"/>
            <a:ext cx="10194925" cy="688975"/>
          </a:xfrm>
          <a:prstGeom prst="round1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 descr="PPT素材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410210" cy="675005"/>
          </a:xfrm>
          <a:prstGeom prst="rect">
            <a:avLst/>
          </a:prstGeom>
        </p:spPr>
      </p:pic>
      <p:pic>
        <p:nvPicPr>
          <p:cNvPr id="11" name="图片 10" descr="鹿头_画板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85245" y="0"/>
            <a:ext cx="706755" cy="7067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普通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518270" y="195811"/>
            <a:ext cx="8721234" cy="571500"/>
          </a:xfrm>
        </p:spPr>
        <p:txBody>
          <a:bodyPr anchor="ctr">
            <a:noAutofit/>
          </a:bodyPr>
          <a:lstStyle>
            <a:lvl1pPr marL="0" indent="0">
              <a:buNone/>
              <a:defRPr sz="2400" b="0" i="0">
                <a:solidFill>
                  <a:schemeClr val="bg2">
                    <a:lumMod val="10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defRPr>
            </a:lvl1pPr>
            <a:lvl2pPr>
              <a:defRPr sz="2800">
                <a:solidFill>
                  <a:srgbClr val="1940B1"/>
                </a:solidFill>
              </a:defRPr>
            </a:lvl2pPr>
            <a:lvl3pPr>
              <a:defRPr sz="2800">
                <a:solidFill>
                  <a:srgbClr val="1940B1"/>
                </a:solidFill>
              </a:defRPr>
            </a:lvl3pPr>
            <a:lvl4pPr>
              <a:defRPr sz="2800">
                <a:solidFill>
                  <a:srgbClr val="1940B1"/>
                </a:solidFill>
              </a:defRPr>
            </a:lvl4pPr>
            <a:lvl5pPr>
              <a:defRPr sz="2800">
                <a:solidFill>
                  <a:srgbClr val="1940B1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1"/>
          </p:nvPr>
        </p:nvSpPr>
        <p:spPr>
          <a:xfrm>
            <a:off x="518139" y="1282004"/>
            <a:ext cx="10290852" cy="4914900"/>
          </a:xfr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pic>
        <p:nvPicPr>
          <p:cNvPr id="5" name="图片 4" descr="PPT素材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6055"/>
            <a:ext cx="363855" cy="598805"/>
          </a:xfrm>
          <a:prstGeom prst="rect">
            <a:avLst/>
          </a:prstGeom>
        </p:spPr>
      </p:pic>
      <p:pic>
        <p:nvPicPr>
          <p:cNvPr id="9" name="图片 8" descr="Logo-横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09250" y="0"/>
            <a:ext cx="1682750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普通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1"/>
          </p:nvPr>
        </p:nvSpPr>
        <p:spPr>
          <a:xfrm>
            <a:off x="518139" y="1282004"/>
            <a:ext cx="10290852" cy="4914900"/>
          </a:xfr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518270" y="195811"/>
            <a:ext cx="8721234" cy="571500"/>
          </a:xfrm>
        </p:spPr>
        <p:txBody>
          <a:bodyPr anchor="ctr">
            <a:noAutofit/>
          </a:bodyPr>
          <a:lstStyle>
            <a:lvl1pPr marL="0" indent="0">
              <a:buNone/>
              <a:defRPr sz="2400" b="0" i="0">
                <a:solidFill>
                  <a:schemeClr val="bg2">
                    <a:lumMod val="10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defRPr>
            </a:lvl1pPr>
            <a:lvl2pPr>
              <a:defRPr sz="2800">
                <a:solidFill>
                  <a:srgbClr val="1940B1"/>
                </a:solidFill>
              </a:defRPr>
            </a:lvl2pPr>
            <a:lvl3pPr>
              <a:defRPr sz="2800">
                <a:solidFill>
                  <a:srgbClr val="1940B1"/>
                </a:solidFill>
              </a:defRPr>
            </a:lvl3pPr>
            <a:lvl4pPr>
              <a:defRPr sz="2800">
                <a:solidFill>
                  <a:srgbClr val="1940B1"/>
                </a:solidFill>
              </a:defRPr>
            </a:lvl4pPr>
            <a:lvl5pPr>
              <a:defRPr sz="2800">
                <a:solidFill>
                  <a:srgbClr val="1940B1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pic>
        <p:nvPicPr>
          <p:cNvPr id="5" name="图片 4" descr="PPT素材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6055"/>
            <a:ext cx="363855" cy="598805"/>
          </a:xfrm>
          <a:prstGeom prst="rect">
            <a:avLst/>
          </a:prstGeom>
        </p:spPr>
      </p:pic>
      <p:pic>
        <p:nvPicPr>
          <p:cNvPr id="2" name="图片 1" descr="PPT素材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21300000">
            <a:off x="9359900" y="4398645"/>
            <a:ext cx="3188335" cy="2908935"/>
          </a:xfrm>
          <a:prstGeom prst="rect">
            <a:avLst/>
          </a:prstGeom>
        </p:spPr>
      </p:pic>
      <p:pic>
        <p:nvPicPr>
          <p:cNvPr id="9" name="图片 8" descr="Logo-横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09250" y="0"/>
            <a:ext cx="1682750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普通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518270" y="195811"/>
            <a:ext cx="8721234" cy="571500"/>
          </a:xfrm>
        </p:spPr>
        <p:txBody>
          <a:bodyPr anchor="ctr">
            <a:noAutofit/>
          </a:bodyPr>
          <a:lstStyle>
            <a:lvl1pPr marL="0" indent="0">
              <a:buNone/>
              <a:defRPr sz="2400" b="0" i="0">
                <a:solidFill>
                  <a:schemeClr val="bg2">
                    <a:lumMod val="10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defRPr>
            </a:lvl1pPr>
            <a:lvl2pPr>
              <a:defRPr sz="2800">
                <a:solidFill>
                  <a:srgbClr val="1940B1"/>
                </a:solidFill>
              </a:defRPr>
            </a:lvl2pPr>
            <a:lvl3pPr>
              <a:defRPr sz="2800">
                <a:solidFill>
                  <a:srgbClr val="1940B1"/>
                </a:solidFill>
              </a:defRPr>
            </a:lvl3pPr>
            <a:lvl4pPr>
              <a:defRPr sz="2800">
                <a:solidFill>
                  <a:srgbClr val="1940B1"/>
                </a:solidFill>
              </a:defRPr>
            </a:lvl4pPr>
            <a:lvl5pPr>
              <a:defRPr sz="2800">
                <a:solidFill>
                  <a:srgbClr val="1940B1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pic>
        <p:nvPicPr>
          <p:cNvPr id="5" name="图片 4" descr="PPT素材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86055"/>
            <a:ext cx="363855" cy="598805"/>
          </a:xfrm>
          <a:prstGeom prst="rect">
            <a:avLst/>
          </a:prstGeom>
        </p:spPr>
      </p:pic>
      <p:pic>
        <p:nvPicPr>
          <p:cNvPr id="9" name="图片 8" descr="Logo-横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09250" y="0"/>
            <a:ext cx="1682750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1"/>
          </p:nvPr>
        </p:nvSpPr>
        <p:spPr>
          <a:xfrm>
            <a:off x="950574" y="1281832"/>
            <a:ext cx="10290852" cy="4914900"/>
          </a:xfr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pic>
        <p:nvPicPr>
          <p:cNvPr id="9" name="图片 8" descr="Logo-横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09250" y="0"/>
            <a:ext cx="1682750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普通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Logo-横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09250" y="0"/>
            <a:ext cx="1682750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普通内容页-深色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92175" y="-15240"/>
            <a:ext cx="11291570" cy="6888480"/>
          </a:xfrm>
          <a:prstGeom prst="rect">
            <a:avLst/>
          </a:prstGeom>
          <a:solidFill>
            <a:srgbClr val="005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鹿头_画板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520" y="6094730"/>
            <a:ext cx="706755" cy="706755"/>
          </a:xfrm>
          <a:prstGeom prst="rect">
            <a:avLst/>
          </a:prstGeom>
        </p:spPr>
      </p:pic>
      <p:sp>
        <p:nvSpPr>
          <p:cNvPr id="13" name="内容占位符 12"/>
          <p:cNvSpPr>
            <a:spLocks noGrp="1"/>
          </p:cNvSpPr>
          <p:nvPr>
            <p:ph sz="quarter" idx="11"/>
          </p:nvPr>
        </p:nvSpPr>
        <p:spPr>
          <a:xfrm>
            <a:off x="1229974" y="1282004"/>
            <a:ext cx="10290852" cy="49149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/>
          </p:nvPr>
        </p:nvSpPr>
        <p:spPr>
          <a:xfrm>
            <a:off x="1230105" y="190731"/>
            <a:ext cx="8721234" cy="571500"/>
          </a:xfrm>
        </p:spPr>
        <p:txBody>
          <a:bodyPr anchor="ctr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微软雅黑" panose="020B0604030504040204" pitchFamily="34" charset="-122"/>
                <a:ea typeface="微软雅黑" panose="020B0604030504040204" pitchFamily="34" charset="-122"/>
              </a:defRPr>
            </a:lvl1pPr>
            <a:lvl2pPr>
              <a:defRPr sz="2800">
                <a:solidFill>
                  <a:srgbClr val="1940B1"/>
                </a:solidFill>
              </a:defRPr>
            </a:lvl2pPr>
            <a:lvl3pPr>
              <a:defRPr sz="2800">
                <a:solidFill>
                  <a:srgbClr val="1940B1"/>
                </a:solidFill>
              </a:defRPr>
            </a:lvl3pPr>
            <a:lvl4pPr>
              <a:defRPr sz="2800">
                <a:solidFill>
                  <a:srgbClr val="1940B1"/>
                </a:solidFill>
              </a:defRPr>
            </a:lvl4pPr>
            <a:lvl5pPr>
              <a:defRPr sz="2800">
                <a:solidFill>
                  <a:srgbClr val="1940B1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pic>
        <p:nvPicPr>
          <p:cNvPr id="5" name="图片 4" descr="PPT素材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86055"/>
            <a:ext cx="363855" cy="59880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普通内容页-深色">
    <p:bg>
      <p:bgPr>
        <a:solidFill>
          <a:srgbClr val="0056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PPT素材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09430" y="4354195"/>
            <a:ext cx="3188335" cy="290893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结束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多边形 35"/>
          <p:cNvSpPr/>
          <p:nvPr userDrawn="1"/>
        </p:nvSpPr>
        <p:spPr>
          <a:xfrm rot="5400000" flipH="1">
            <a:off x="-1535652" y="1535531"/>
            <a:ext cx="6886898" cy="3815836"/>
          </a:xfrm>
          <a:custGeom>
            <a:avLst/>
            <a:gdLst>
              <a:gd name="connsiteX0" fmla="*/ 6886898 w 6886898"/>
              <a:gd name="connsiteY0" fmla="*/ 2035429 h 3815836"/>
              <a:gd name="connsiteX1" fmla="*/ 6886898 w 6886898"/>
              <a:gd name="connsiteY1" fmla="*/ 3815836 h 3815836"/>
              <a:gd name="connsiteX2" fmla="*/ 4635589 w 6886898"/>
              <a:gd name="connsiteY2" fmla="*/ 3815836 h 3815836"/>
              <a:gd name="connsiteX3" fmla="*/ 4632870 w 6886898"/>
              <a:gd name="connsiteY3" fmla="*/ 3774878 h 3815836"/>
              <a:gd name="connsiteX4" fmla="*/ 4043437 w 6886898"/>
              <a:gd name="connsiteY4" fmla="*/ 2894617 h 3815836"/>
              <a:gd name="connsiteX5" fmla="*/ 2843463 w 6886898"/>
              <a:gd name="connsiteY5" fmla="*/ 2894616 h 3815836"/>
              <a:gd name="connsiteX6" fmla="*/ 2254029 w 6886898"/>
              <a:gd name="connsiteY6" fmla="*/ 3774876 h 3815836"/>
              <a:gd name="connsiteX7" fmla="*/ 2251310 w 6886898"/>
              <a:gd name="connsiteY7" fmla="*/ 3815836 h 3815836"/>
              <a:gd name="connsiteX8" fmla="*/ 0 w 6886898"/>
              <a:gd name="connsiteY8" fmla="*/ 3815836 h 3815836"/>
              <a:gd name="connsiteX9" fmla="*/ 0 w 6886898"/>
              <a:gd name="connsiteY9" fmla="*/ 2035428 h 3815836"/>
              <a:gd name="connsiteX10" fmla="*/ 36657 w 6886898"/>
              <a:gd name="connsiteY10" fmla="*/ 1966912 h 3815836"/>
              <a:gd name="connsiteX11" fmla="*/ 1476537 w 6886898"/>
              <a:gd name="connsiteY11" fmla="*/ 527032 h 3815836"/>
              <a:gd name="connsiteX12" fmla="*/ 5410363 w 6886898"/>
              <a:gd name="connsiteY12" fmla="*/ 527034 h 3815836"/>
              <a:gd name="connsiteX13" fmla="*/ 6850242 w 6886898"/>
              <a:gd name="connsiteY13" fmla="*/ 1966915 h 3815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886898" h="3815836">
                <a:moveTo>
                  <a:pt x="6886898" y="2035429"/>
                </a:moveTo>
                <a:lnTo>
                  <a:pt x="6886898" y="3815836"/>
                </a:lnTo>
                <a:lnTo>
                  <a:pt x="4635589" y="3815836"/>
                </a:lnTo>
                <a:lnTo>
                  <a:pt x="4632870" y="3774878"/>
                </a:lnTo>
                <a:cubicBezTo>
                  <a:pt x="4584017" y="3408920"/>
                  <a:pt x="4368301" y="3082178"/>
                  <a:pt x="4043437" y="2894617"/>
                </a:cubicBezTo>
                <a:cubicBezTo>
                  <a:pt x="3672164" y="2680262"/>
                  <a:pt x="3214736" y="2680262"/>
                  <a:pt x="2843463" y="2894616"/>
                </a:cubicBezTo>
                <a:cubicBezTo>
                  <a:pt x="2518599" y="3082177"/>
                  <a:pt x="2302882" y="3408919"/>
                  <a:pt x="2254029" y="3774876"/>
                </a:cubicBezTo>
                <a:lnTo>
                  <a:pt x="2251310" y="3815836"/>
                </a:lnTo>
                <a:lnTo>
                  <a:pt x="0" y="3815836"/>
                </a:lnTo>
                <a:lnTo>
                  <a:pt x="0" y="2035428"/>
                </a:lnTo>
                <a:lnTo>
                  <a:pt x="36657" y="1966912"/>
                </a:lnTo>
                <a:cubicBezTo>
                  <a:pt x="376244" y="1378730"/>
                  <a:pt x="867972" y="878387"/>
                  <a:pt x="1476537" y="527032"/>
                </a:cubicBezTo>
                <a:cubicBezTo>
                  <a:pt x="2693667" y="-175678"/>
                  <a:pt x="4193233" y="-175677"/>
                  <a:pt x="5410363" y="527034"/>
                </a:cubicBezTo>
                <a:cubicBezTo>
                  <a:pt x="6018928" y="878390"/>
                  <a:pt x="6510656" y="1378733"/>
                  <a:pt x="6850242" y="1966915"/>
                </a:cubicBezTo>
                <a:close/>
              </a:path>
            </a:pathLst>
          </a:custGeom>
          <a:solidFill>
            <a:srgbClr val="005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inpin heiti" charset="-122"/>
              <a:ea typeface="inpin heiti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6267713" y="5615839"/>
            <a:ext cx="5403274" cy="865474"/>
            <a:chOff x="4296369" y="5519175"/>
            <a:chExt cx="5403274" cy="865474"/>
          </a:xfrm>
        </p:grpSpPr>
        <p:sp>
          <p:nvSpPr>
            <p:cNvPr id="4" name="矩形 3"/>
            <p:cNvSpPr/>
            <p:nvPr/>
          </p:nvSpPr>
          <p:spPr>
            <a:xfrm>
              <a:off x="4296369" y="5636029"/>
              <a:ext cx="2320562" cy="631767"/>
            </a:xfrm>
            <a:prstGeom prst="rect">
              <a:avLst/>
            </a:prstGeom>
            <a:noFill/>
            <a:ln>
              <a:solidFill>
                <a:srgbClr val="0955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5" name="图片 4" descr="Logo-横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79494" y="5519175"/>
              <a:ext cx="2163930" cy="865474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6600306" y="5636029"/>
              <a:ext cx="2942705" cy="631767"/>
            </a:xfrm>
            <a:prstGeom prst="rect">
              <a:avLst/>
            </a:prstGeom>
            <a:solidFill>
              <a:srgbClr val="0955D1"/>
            </a:solidFill>
            <a:ln>
              <a:solidFill>
                <a:srgbClr val="0955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713847" y="5765271"/>
              <a:ext cx="2985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0" i="0" spc="-15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优维科技（深圳）有限公司</a:t>
              </a:r>
              <a:endParaRPr kumimoji="1" lang="zh-CN" altLang="en-US" b="0" i="0" spc="-15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635" y="0"/>
            <a:ext cx="12183110" cy="6888480"/>
          </a:xfrm>
          <a:prstGeom prst="rect">
            <a:avLst/>
          </a:prstGeom>
          <a:solidFill>
            <a:srgbClr val="005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51896" y="1082086"/>
            <a:ext cx="601841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8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j-cs"/>
              </a:rPr>
              <a:t>THANK</a:t>
            </a:r>
            <a:r>
              <a:rPr kumimoji="1" lang="zh-CN" altLang="en-US" sz="8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j-cs"/>
              </a:rPr>
              <a:t> </a:t>
            </a:r>
            <a:r>
              <a:rPr kumimoji="1" lang="en-US" altLang="zh-CN" sz="8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j-cs"/>
              </a:rPr>
              <a:t>YOU</a:t>
            </a:r>
            <a:endParaRPr kumimoji="1" lang="en-US" altLang="zh-CN" sz="8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604030504040204" pitchFamily="34" charset="-122"/>
              <a:ea typeface="微软雅黑" panose="020B0604030504040204" pitchFamily="34" charset="-122"/>
              <a:cs typeface="+mj-cs"/>
            </a:endParaRPr>
          </a:p>
        </p:txBody>
      </p:sp>
      <p:pic>
        <p:nvPicPr>
          <p:cNvPr id="6" name="图片 5" descr="PPT素材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09430" y="4354195"/>
            <a:ext cx="3188335" cy="2908935"/>
          </a:xfrm>
          <a:prstGeom prst="rect">
            <a:avLst/>
          </a:prstGeom>
        </p:spPr>
      </p:pic>
      <p:pic>
        <p:nvPicPr>
          <p:cNvPr id="4" name="图片 3" descr="PPT素材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6015" y="4975860"/>
            <a:ext cx="2566035" cy="596900"/>
          </a:xfrm>
          <a:prstGeom prst="rect">
            <a:avLst/>
          </a:prstGeom>
        </p:spPr>
      </p:pic>
      <p:sp>
        <p:nvSpPr>
          <p:cNvPr id="15" name="文本框 14"/>
          <p:cNvSpPr txBox="1"/>
          <p:nvPr userDrawn="1"/>
        </p:nvSpPr>
        <p:spPr>
          <a:xfrm>
            <a:off x="1136189" y="5860405"/>
            <a:ext cx="29857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16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优维科技（深圳）有限公司</a:t>
            </a:r>
            <a:endParaRPr kumimoji="1" lang="zh-CN" altLang="en-US" sz="16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Logo-横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09250" y="0"/>
            <a:ext cx="1682750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gradFill rotWithShape="0">
          <a:gsLst>
            <a:gs pos="0">
              <a:schemeClr val="bg1"/>
            </a:gs>
            <a:gs pos="100000">
              <a:schemeClr val="bg1"/>
            </a:gs>
          </a:gsLst>
          <a:lin ang="108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6754813"/>
            <a:ext cx="12192000" cy="103188"/>
          </a:xfrm>
          <a:prstGeom prst="rect">
            <a:avLst/>
          </a:prstGeom>
          <a:gradFill flip="none" rotWithShape="1">
            <a:gsLst>
              <a:gs pos="0">
                <a:srgbClr val="00A8AE"/>
              </a:gs>
              <a:gs pos="69000">
                <a:srgbClr val="0083C8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z="1350" strike="noStrike" noProof="1"/>
          </a:p>
        </p:txBody>
      </p:sp>
      <p:pic>
        <p:nvPicPr>
          <p:cNvPr id="4099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06150" y="225425"/>
            <a:ext cx="776288" cy="2619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10"/>
          <p:cNvSpPr/>
          <p:nvPr userDrawn="1"/>
        </p:nvSpPr>
        <p:spPr>
          <a:xfrm>
            <a:off x="838200" y="619125"/>
            <a:ext cx="3733800" cy="28575"/>
          </a:xfrm>
          <a:prstGeom prst="rect">
            <a:avLst/>
          </a:prstGeom>
          <a:gradFill flip="none" rotWithShape="1">
            <a:gsLst>
              <a:gs pos="100000">
                <a:srgbClr val="00A8AE"/>
              </a:gs>
              <a:gs pos="0">
                <a:srgbClr val="0083C8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z="1350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>
              <a:defRPr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>
              <a:defRPr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>
              <a:defRPr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>
              <a:defRPr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/>
              <a:t>编辑母版文本样式</a:t>
            </a:r>
            <a:endParaRPr kumimoji="1" lang="zh-CN" altLang="en-US" strike="noStrike" noProof="1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838200" y="95001"/>
            <a:ext cx="10515600" cy="523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/>
            </a:lvl1pPr>
          </a:lstStyle>
          <a:p>
            <a:pPr fontAlgn="auto"/>
            <a:r>
              <a:rPr kumimoji="1" lang="zh-CN" altLang="en-US" strike="noStrike" noProof="1"/>
              <a:t>单击此处编辑母版标题样式</a:t>
            </a:r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rgbClr val="92929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6756401"/>
            <a:ext cx="7162800" cy="125999"/>
          </a:xfrm>
          <a:prstGeom prst="rect">
            <a:avLst/>
          </a:prstGeom>
          <a:solidFill>
            <a:srgbClr val="0083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7162800" y="6756400"/>
            <a:ext cx="5029200" cy="127000"/>
          </a:xfrm>
          <a:prstGeom prst="rect">
            <a:avLst/>
          </a:prstGeom>
          <a:solidFill>
            <a:srgbClr val="00A8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0" y="6755401"/>
            <a:ext cx="12192000" cy="102600"/>
          </a:xfrm>
          <a:prstGeom prst="rect">
            <a:avLst/>
          </a:prstGeom>
          <a:gradFill flip="none" rotWithShape="1">
            <a:gsLst>
              <a:gs pos="0">
                <a:srgbClr val="00A8AE"/>
              </a:gs>
              <a:gs pos="69000">
                <a:srgbClr val="0083C8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06364" y="225961"/>
            <a:ext cx="776554" cy="261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>
              <a:defRPr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>
              <a:defRPr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>
              <a:defRPr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>
              <a:defRPr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kumimoji="1" lang="zh-CN" altLang="en-US"/>
              <a:t>编辑母版文本样式</a:t>
            </a:r>
            <a:endParaRPr kumimoji="1" lang="zh-CN" altLang="en-US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838200" y="95000"/>
            <a:ext cx="10515600" cy="523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9" name="矩形 8"/>
          <p:cNvSpPr/>
          <p:nvPr userDrawn="1"/>
        </p:nvSpPr>
        <p:spPr>
          <a:xfrm>
            <a:off x="0" y="6755401"/>
            <a:ext cx="12192000" cy="102600"/>
          </a:xfrm>
          <a:prstGeom prst="rect">
            <a:avLst/>
          </a:prstGeom>
          <a:gradFill flip="none" rotWithShape="1">
            <a:gsLst>
              <a:gs pos="0">
                <a:srgbClr val="00A8AE"/>
              </a:gs>
              <a:gs pos="69000">
                <a:srgbClr val="0083C8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06364" y="225961"/>
            <a:ext cx="776554" cy="261954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>
            <a:off x="838200" y="618875"/>
            <a:ext cx="3733800" cy="28800"/>
          </a:xfrm>
          <a:prstGeom prst="rect">
            <a:avLst/>
          </a:prstGeom>
          <a:gradFill flip="none" rotWithShape="1">
            <a:gsLst>
              <a:gs pos="100000">
                <a:srgbClr val="00A8AE"/>
              </a:gs>
              <a:gs pos="0">
                <a:srgbClr val="0083C8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logo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755401"/>
            <a:ext cx="12192000" cy="102600"/>
          </a:xfrm>
          <a:prstGeom prst="rect">
            <a:avLst/>
          </a:prstGeom>
          <a:gradFill flip="none" rotWithShape="1">
            <a:gsLst>
              <a:gs pos="0">
                <a:srgbClr val="00A8AE"/>
              </a:gs>
              <a:gs pos="69000">
                <a:srgbClr val="0083C8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06364" y="225961"/>
            <a:ext cx="776554" cy="261954"/>
          </a:xfrm>
          <a:prstGeom prst="rect">
            <a:avLst/>
          </a:prstGeom>
        </p:spPr>
      </p:pic>
      <p:sp>
        <p:nvSpPr>
          <p:cNvPr id="6" name="标题占位符 1"/>
          <p:cNvSpPr>
            <a:spLocks noGrp="1"/>
          </p:cNvSpPr>
          <p:nvPr>
            <p:ph type="title"/>
          </p:nvPr>
        </p:nvSpPr>
        <p:spPr>
          <a:xfrm>
            <a:off x="838200" y="95000"/>
            <a:ext cx="10515600" cy="523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完全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6755401"/>
            <a:ext cx="12192000" cy="102600"/>
          </a:xfrm>
          <a:prstGeom prst="rect">
            <a:avLst/>
          </a:prstGeom>
          <a:gradFill flip="none" rotWithShape="1">
            <a:gsLst>
              <a:gs pos="0">
                <a:srgbClr val="00A8AE"/>
              </a:gs>
              <a:gs pos="69000">
                <a:srgbClr val="0083C8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也带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>
            <a:off x="0" y="0"/>
            <a:ext cx="3943350" cy="6858000"/>
          </a:xfrm>
          <a:prstGeom prst="rect">
            <a:avLst/>
          </a:prstGeom>
          <a:gradFill>
            <a:gsLst>
              <a:gs pos="0">
                <a:srgbClr val="0083C8"/>
              </a:gs>
              <a:gs pos="100000">
                <a:srgbClr val="0084CC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928687" y="785812"/>
            <a:ext cx="2085975" cy="5286375"/>
          </a:xfrm>
        </p:spPr>
        <p:txBody>
          <a:bodyPr anchor="ctr">
            <a:noAutofit/>
          </a:bodyPr>
          <a:lstStyle>
            <a:lvl1pPr marL="0" indent="0" algn="ctr">
              <a:buNone/>
              <a:defRPr sz="138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zh-CN" altLang="en-US"/>
              <a:t>编辑母版文本样式</a:t>
            </a:r>
            <a:endParaRPr kumimoji="1"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4586288" y="2350292"/>
            <a:ext cx="6915150" cy="21574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/>
            </a:lvl1pPr>
          </a:lstStyle>
          <a:p>
            <a:pPr lvl="0"/>
            <a:r>
              <a:rPr kumimoji="1" lang="zh-CN" altLang="en-US"/>
              <a:t>编辑母版文本样式</a:t>
            </a:r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06364" y="225961"/>
            <a:ext cx="776554" cy="261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没有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0"/>
            <a:ext cx="3943350" cy="6858000"/>
          </a:xfrm>
          <a:prstGeom prst="rect">
            <a:avLst/>
          </a:prstGeom>
          <a:gradFill>
            <a:gsLst>
              <a:gs pos="0">
                <a:srgbClr val="0083C8"/>
              </a:gs>
              <a:gs pos="100000">
                <a:srgbClr val="0084CC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0" hasCustomPrompt="1"/>
          </p:nvPr>
        </p:nvSpPr>
        <p:spPr>
          <a:xfrm>
            <a:off x="928687" y="785812"/>
            <a:ext cx="2085975" cy="5286375"/>
          </a:xfrm>
        </p:spPr>
        <p:txBody>
          <a:bodyPr anchor="ctr">
            <a:noAutofit/>
          </a:bodyPr>
          <a:lstStyle>
            <a:lvl1pPr marL="0" indent="0" algn="ctr">
              <a:buNone/>
              <a:defRPr sz="13800">
                <a:solidFill>
                  <a:schemeClr val="bg2"/>
                </a:solidFill>
              </a:defRPr>
            </a:lvl1pPr>
          </a:lstStyle>
          <a:p>
            <a:pPr lvl="0"/>
            <a:r>
              <a:rPr kumimoji="1" lang="zh-CN" altLang="en-US"/>
              <a:t>编辑母版文本样式</a:t>
            </a:r>
            <a:endParaRPr kumimoji="1"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1" hasCustomPrompt="1"/>
          </p:nvPr>
        </p:nvSpPr>
        <p:spPr>
          <a:xfrm>
            <a:off x="4586288" y="2350292"/>
            <a:ext cx="6915150" cy="21574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/>
            </a:lvl1pPr>
          </a:lstStyle>
          <a:p>
            <a:pPr lvl="0"/>
            <a:r>
              <a:rPr kumimoji="1" lang="zh-CN" altLang="en-US"/>
              <a:t>编辑母版文本样式</a:t>
            </a:r>
            <a:endParaRPr kumimoji="1"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83C8"/>
              </a:gs>
              <a:gs pos="100000">
                <a:srgbClr val="0084CC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alphaModFix amt="43000"/>
            <a:clrChange>
              <a:clrFrom>
                <a:srgbClr val="FFFFFF">
                  <a:alpha val="0"/>
                </a:srgbClr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870218" y="945151"/>
            <a:ext cx="4451564" cy="150164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28651" y="773720"/>
            <a:ext cx="10321234" cy="1965299"/>
          </a:xfr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2">
                    <a:lumMod val="10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  <p:cxnSp>
        <p:nvCxnSpPr>
          <p:cNvPr id="14" name="直接连接符 10"/>
          <p:cNvCxnSpPr/>
          <p:nvPr userDrawn="1"/>
        </p:nvCxnSpPr>
        <p:spPr>
          <a:xfrm>
            <a:off x="711200" y="5761355"/>
            <a:ext cx="360000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 userDrawn="1"/>
        </p:nvSpPr>
        <p:spPr>
          <a:xfrm>
            <a:off x="628824" y="5926445"/>
            <a:ext cx="29857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1600" b="0" i="0" dirty="0">
                <a:solidFill>
                  <a:schemeClr val="bg1">
                    <a:lumMod val="65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优维科技（深圳）有限公司</a:t>
            </a:r>
            <a:endParaRPr kumimoji="1" lang="zh-CN" altLang="en-US" sz="1600" b="0" i="0" dirty="0">
              <a:solidFill>
                <a:schemeClr val="bg1">
                  <a:lumMod val="65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36" name="任意多边形 35"/>
          <p:cNvSpPr/>
          <p:nvPr userDrawn="1"/>
        </p:nvSpPr>
        <p:spPr>
          <a:xfrm rot="16200000">
            <a:off x="6840633" y="1535531"/>
            <a:ext cx="6886898" cy="3815836"/>
          </a:xfrm>
          <a:custGeom>
            <a:avLst/>
            <a:gdLst>
              <a:gd name="connsiteX0" fmla="*/ 6886898 w 6886898"/>
              <a:gd name="connsiteY0" fmla="*/ 2035429 h 3815836"/>
              <a:gd name="connsiteX1" fmla="*/ 6886898 w 6886898"/>
              <a:gd name="connsiteY1" fmla="*/ 3815836 h 3815836"/>
              <a:gd name="connsiteX2" fmla="*/ 4635589 w 6886898"/>
              <a:gd name="connsiteY2" fmla="*/ 3815836 h 3815836"/>
              <a:gd name="connsiteX3" fmla="*/ 4632870 w 6886898"/>
              <a:gd name="connsiteY3" fmla="*/ 3774878 h 3815836"/>
              <a:gd name="connsiteX4" fmla="*/ 4043437 w 6886898"/>
              <a:gd name="connsiteY4" fmla="*/ 2894617 h 3815836"/>
              <a:gd name="connsiteX5" fmla="*/ 2843463 w 6886898"/>
              <a:gd name="connsiteY5" fmla="*/ 2894616 h 3815836"/>
              <a:gd name="connsiteX6" fmla="*/ 2254029 w 6886898"/>
              <a:gd name="connsiteY6" fmla="*/ 3774876 h 3815836"/>
              <a:gd name="connsiteX7" fmla="*/ 2251310 w 6886898"/>
              <a:gd name="connsiteY7" fmla="*/ 3815836 h 3815836"/>
              <a:gd name="connsiteX8" fmla="*/ 0 w 6886898"/>
              <a:gd name="connsiteY8" fmla="*/ 3815836 h 3815836"/>
              <a:gd name="connsiteX9" fmla="*/ 0 w 6886898"/>
              <a:gd name="connsiteY9" fmla="*/ 2035428 h 3815836"/>
              <a:gd name="connsiteX10" fmla="*/ 36657 w 6886898"/>
              <a:gd name="connsiteY10" fmla="*/ 1966912 h 3815836"/>
              <a:gd name="connsiteX11" fmla="*/ 1476537 w 6886898"/>
              <a:gd name="connsiteY11" fmla="*/ 527032 h 3815836"/>
              <a:gd name="connsiteX12" fmla="*/ 5410363 w 6886898"/>
              <a:gd name="connsiteY12" fmla="*/ 527034 h 3815836"/>
              <a:gd name="connsiteX13" fmla="*/ 6850242 w 6886898"/>
              <a:gd name="connsiteY13" fmla="*/ 1966915 h 3815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886898" h="3815836">
                <a:moveTo>
                  <a:pt x="6886898" y="2035429"/>
                </a:moveTo>
                <a:lnTo>
                  <a:pt x="6886898" y="3815836"/>
                </a:lnTo>
                <a:lnTo>
                  <a:pt x="4635589" y="3815836"/>
                </a:lnTo>
                <a:lnTo>
                  <a:pt x="4632870" y="3774878"/>
                </a:lnTo>
                <a:cubicBezTo>
                  <a:pt x="4584017" y="3408920"/>
                  <a:pt x="4368301" y="3082178"/>
                  <a:pt x="4043437" y="2894617"/>
                </a:cubicBezTo>
                <a:cubicBezTo>
                  <a:pt x="3672164" y="2680262"/>
                  <a:pt x="3214736" y="2680262"/>
                  <a:pt x="2843463" y="2894616"/>
                </a:cubicBezTo>
                <a:cubicBezTo>
                  <a:pt x="2518599" y="3082177"/>
                  <a:pt x="2302882" y="3408919"/>
                  <a:pt x="2254029" y="3774876"/>
                </a:cubicBezTo>
                <a:lnTo>
                  <a:pt x="2251310" y="3815836"/>
                </a:lnTo>
                <a:lnTo>
                  <a:pt x="0" y="3815836"/>
                </a:lnTo>
                <a:lnTo>
                  <a:pt x="0" y="2035428"/>
                </a:lnTo>
                <a:lnTo>
                  <a:pt x="36657" y="1966912"/>
                </a:lnTo>
                <a:cubicBezTo>
                  <a:pt x="376244" y="1378730"/>
                  <a:pt x="867972" y="878387"/>
                  <a:pt x="1476537" y="527032"/>
                </a:cubicBezTo>
                <a:cubicBezTo>
                  <a:pt x="2693667" y="-175678"/>
                  <a:pt x="4193233" y="-175677"/>
                  <a:pt x="5410363" y="527034"/>
                </a:cubicBezTo>
                <a:cubicBezTo>
                  <a:pt x="6018928" y="878390"/>
                  <a:pt x="6510656" y="1378733"/>
                  <a:pt x="6850242" y="1966915"/>
                </a:cubicBezTo>
                <a:close/>
              </a:path>
            </a:pathLst>
          </a:custGeom>
          <a:solidFill>
            <a:srgbClr val="005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inpin heiti" charset="-122"/>
              <a:ea typeface="inpin heiti" charset="-122"/>
            </a:endParaRPr>
          </a:p>
        </p:txBody>
      </p:sp>
      <p:pic>
        <p:nvPicPr>
          <p:cNvPr id="8" name="图片 7" descr="Logo-横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2280" y="4749800"/>
            <a:ext cx="2529840" cy="10115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多边形 35"/>
          <p:cNvSpPr/>
          <p:nvPr userDrawn="1"/>
        </p:nvSpPr>
        <p:spPr>
          <a:xfrm rot="16200000">
            <a:off x="6840633" y="1535531"/>
            <a:ext cx="6886898" cy="3815836"/>
          </a:xfrm>
          <a:custGeom>
            <a:avLst/>
            <a:gdLst>
              <a:gd name="connsiteX0" fmla="*/ 6886898 w 6886898"/>
              <a:gd name="connsiteY0" fmla="*/ 2035429 h 3815836"/>
              <a:gd name="connsiteX1" fmla="*/ 6886898 w 6886898"/>
              <a:gd name="connsiteY1" fmla="*/ 3815836 h 3815836"/>
              <a:gd name="connsiteX2" fmla="*/ 4635589 w 6886898"/>
              <a:gd name="connsiteY2" fmla="*/ 3815836 h 3815836"/>
              <a:gd name="connsiteX3" fmla="*/ 4632870 w 6886898"/>
              <a:gd name="connsiteY3" fmla="*/ 3774878 h 3815836"/>
              <a:gd name="connsiteX4" fmla="*/ 4043437 w 6886898"/>
              <a:gd name="connsiteY4" fmla="*/ 2894617 h 3815836"/>
              <a:gd name="connsiteX5" fmla="*/ 2843463 w 6886898"/>
              <a:gd name="connsiteY5" fmla="*/ 2894616 h 3815836"/>
              <a:gd name="connsiteX6" fmla="*/ 2254029 w 6886898"/>
              <a:gd name="connsiteY6" fmla="*/ 3774876 h 3815836"/>
              <a:gd name="connsiteX7" fmla="*/ 2251310 w 6886898"/>
              <a:gd name="connsiteY7" fmla="*/ 3815836 h 3815836"/>
              <a:gd name="connsiteX8" fmla="*/ 0 w 6886898"/>
              <a:gd name="connsiteY8" fmla="*/ 3815836 h 3815836"/>
              <a:gd name="connsiteX9" fmla="*/ 0 w 6886898"/>
              <a:gd name="connsiteY9" fmla="*/ 2035428 h 3815836"/>
              <a:gd name="connsiteX10" fmla="*/ 36657 w 6886898"/>
              <a:gd name="connsiteY10" fmla="*/ 1966912 h 3815836"/>
              <a:gd name="connsiteX11" fmla="*/ 1476537 w 6886898"/>
              <a:gd name="connsiteY11" fmla="*/ 527032 h 3815836"/>
              <a:gd name="connsiteX12" fmla="*/ 5410363 w 6886898"/>
              <a:gd name="connsiteY12" fmla="*/ 527034 h 3815836"/>
              <a:gd name="connsiteX13" fmla="*/ 6850242 w 6886898"/>
              <a:gd name="connsiteY13" fmla="*/ 1966915 h 3815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886898" h="3815836">
                <a:moveTo>
                  <a:pt x="6886898" y="2035429"/>
                </a:moveTo>
                <a:lnTo>
                  <a:pt x="6886898" y="3815836"/>
                </a:lnTo>
                <a:lnTo>
                  <a:pt x="4635589" y="3815836"/>
                </a:lnTo>
                <a:lnTo>
                  <a:pt x="4632870" y="3774878"/>
                </a:lnTo>
                <a:cubicBezTo>
                  <a:pt x="4584017" y="3408920"/>
                  <a:pt x="4368301" y="3082178"/>
                  <a:pt x="4043437" y="2894617"/>
                </a:cubicBezTo>
                <a:cubicBezTo>
                  <a:pt x="3672164" y="2680262"/>
                  <a:pt x="3214736" y="2680262"/>
                  <a:pt x="2843463" y="2894616"/>
                </a:cubicBezTo>
                <a:cubicBezTo>
                  <a:pt x="2518599" y="3082177"/>
                  <a:pt x="2302882" y="3408919"/>
                  <a:pt x="2254029" y="3774876"/>
                </a:cubicBezTo>
                <a:lnTo>
                  <a:pt x="2251310" y="3815836"/>
                </a:lnTo>
                <a:lnTo>
                  <a:pt x="0" y="3815836"/>
                </a:lnTo>
                <a:lnTo>
                  <a:pt x="0" y="2035428"/>
                </a:lnTo>
                <a:lnTo>
                  <a:pt x="36657" y="1966912"/>
                </a:lnTo>
                <a:cubicBezTo>
                  <a:pt x="376244" y="1378730"/>
                  <a:pt x="867972" y="878387"/>
                  <a:pt x="1476537" y="527032"/>
                </a:cubicBezTo>
                <a:cubicBezTo>
                  <a:pt x="2693667" y="-175678"/>
                  <a:pt x="4193233" y="-175677"/>
                  <a:pt x="5410363" y="527034"/>
                </a:cubicBezTo>
                <a:cubicBezTo>
                  <a:pt x="6018928" y="878390"/>
                  <a:pt x="6510656" y="1378733"/>
                  <a:pt x="6850242" y="1966915"/>
                </a:cubicBezTo>
                <a:close/>
              </a:path>
            </a:pathLst>
          </a:custGeom>
          <a:solidFill>
            <a:srgbClr val="005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inpin heiti" charset="-122"/>
              <a:ea typeface="inpin heiti" charset="-122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 userDrawn="1"/>
        </p:nvSpPr>
        <p:spPr>
          <a:xfrm rot="5400000">
            <a:off x="0" y="3438000"/>
            <a:ext cx="5715002" cy="70351"/>
          </a:xfrm>
          <a:prstGeom prst="rect">
            <a:avLst/>
          </a:prstGeom>
          <a:gradFill flip="none" rotWithShape="1">
            <a:gsLst>
              <a:gs pos="0">
                <a:srgbClr val="00A8AE"/>
              </a:gs>
              <a:gs pos="69000">
                <a:srgbClr val="0083C8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/>
          <p:cNvSpPr txBox="1"/>
          <p:nvPr userDrawn="1"/>
        </p:nvSpPr>
        <p:spPr>
          <a:xfrm>
            <a:off x="1090137" y="2344462"/>
            <a:ext cx="738664" cy="22574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ctr"/>
            <a:r>
              <a:rPr kumimoji="1" lang="en-US" altLang="en-US" sz="3600" b="0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目    录</a:t>
            </a:r>
            <a:endParaRPr kumimoji="1" lang="zh-CN" altLang="en-US" sz="3600" b="0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3714750" y="615674"/>
            <a:ext cx="7443788" cy="5715003"/>
          </a:xfrm>
        </p:spPr>
        <p:txBody>
          <a:bodyPr vert="horz" lIns="91440" tIns="45720" rIns="91440" bIns="45720" numCol="2" rtlCol="0" anchor="ctr">
            <a:normAutofit/>
          </a:bodyPr>
          <a:lstStyle>
            <a:lvl1pPr marL="514350" marR="0" lvl="0" indent="-514350" algn="l" defTabSz="914400" rtl="0" eaLnBrk="1" fontAlgn="auto" latinLnBrk="0" hangingPunct="1">
              <a:lnSpc>
                <a:spcPct val="200000"/>
              </a:lnSpc>
              <a:spcBef>
                <a:spcPts val="1000"/>
              </a:spcBef>
              <a:buClr>
                <a:schemeClr val="accent1"/>
              </a:buClr>
              <a:buSzPct val="150000"/>
              <a:buFont typeface="+mj-lt"/>
              <a:buAutoNum type="arabicPeriod"/>
              <a:defRPr kumimoji="1" lang="zh-CN" altLang="en-US" sz="2400" b="0" i="0" u="none" strike="noStrike" kern="1200" cap="none" spc="0" normalizeH="0" baseline="0" noProof="1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  <a:sym typeface="+mn-ea"/>
              </a:defRPr>
            </a:lvl1pPr>
            <a:lvl2pPr marL="914400" indent="-457200">
              <a:lnSpc>
                <a:spcPct val="200000"/>
              </a:lnSpc>
              <a:buClr>
                <a:schemeClr val="accent1"/>
              </a:buClr>
              <a:buSzPct val="150000"/>
              <a:buFont typeface="+mj-lt"/>
              <a:buAutoNum type="arabicPeriod"/>
              <a:defRPr/>
            </a:lvl2pPr>
            <a:lvl3pPr marL="1371600" indent="-457200">
              <a:lnSpc>
                <a:spcPct val="200000"/>
              </a:lnSpc>
              <a:buClr>
                <a:schemeClr val="accent1"/>
              </a:buClr>
              <a:buSzPct val="150000"/>
              <a:buFont typeface="+mj-lt"/>
              <a:buAutoNum type="arabicPeriod"/>
              <a:defRPr/>
            </a:lvl3pPr>
            <a:lvl4pPr marL="1714500" indent="-342900">
              <a:lnSpc>
                <a:spcPct val="200000"/>
              </a:lnSpc>
              <a:buClr>
                <a:schemeClr val="accent1"/>
              </a:buClr>
              <a:buSzPct val="150000"/>
              <a:buFont typeface="+mj-lt"/>
              <a:buAutoNum type="arabicPeriod"/>
              <a:defRPr/>
            </a:lvl4pPr>
            <a:lvl5pPr marL="2171700" indent="-342900">
              <a:lnSpc>
                <a:spcPct val="200000"/>
              </a:lnSpc>
              <a:buClr>
                <a:schemeClr val="accent1"/>
              </a:buClr>
              <a:buSzPct val="150000"/>
              <a:buFont typeface="+mj-lt"/>
              <a:buAutoNum type="arabicPeriod"/>
              <a:defRPr/>
            </a:lvl5pPr>
          </a:lstStyle>
          <a:p>
            <a:pPr lvl="0" algn="l">
              <a:buAutoNum type="arabicPeriod"/>
            </a:pPr>
            <a:r>
              <a:rPr>
                <a:sym typeface="+mn-ea"/>
              </a:rPr>
              <a:t>编辑母版文本样式</a:t>
            </a:r>
            <a:endParaRPr>
              <a:sym typeface="+mn-ea"/>
            </a:endParaRPr>
          </a:p>
        </p:txBody>
      </p:sp>
      <p:pic>
        <p:nvPicPr>
          <p:cNvPr id="10" name="图片 9" descr="Logo-横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09250" y="0"/>
            <a:ext cx="1682750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PPT素材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993900"/>
            <a:ext cx="2954655" cy="4864100"/>
          </a:xfrm>
          <a:prstGeom prst="rect">
            <a:avLst/>
          </a:prstGeom>
        </p:spPr>
      </p:pic>
      <p:sp>
        <p:nvSpPr>
          <p:cNvPr id="14" name="文本占位符 2"/>
          <p:cNvSpPr>
            <a:spLocks noGrp="1"/>
          </p:cNvSpPr>
          <p:nvPr>
            <p:ph type="body" sz="quarter" idx="10"/>
          </p:nvPr>
        </p:nvSpPr>
        <p:spPr>
          <a:xfrm>
            <a:off x="3364478" y="3919079"/>
            <a:ext cx="8070983" cy="914400"/>
          </a:xfrm>
        </p:spPr>
        <p:txBody>
          <a:bodyPr anchor="ctr">
            <a:noAutofit/>
          </a:bodyPr>
          <a:lstStyle>
            <a:lvl1pPr marL="0" indent="0">
              <a:buNone/>
              <a:defRPr sz="4800">
                <a:solidFill>
                  <a:srgbClr val="0056D1"/>
                </a:solidFill>
              </a:defRPr>
            </a:lvl1pPr>
            <a:lvl2pPr marL="457200" indent="0">
              <a:buNone/>
              <a:defRPr sz="4000">
                <a:solidFill>
                  <a:schemeClr val="bg1"/>
                </a:solidFill>
              </a:defRPr>
            </a:lvl2pPr>
            <a:lvl3pPr marL="914400" indent="0">
              <a:buNone/>
              <a:defRPr sz="4000">
                <a:solidFill>
                  <a:schemeClr val="bg1"/>
                </a:solidFill>
              </a:defRPr>
            </a:lvl3pPr>
            <a:lvl4pPr marL="1371600" indent="0">
              <a:buNone/>
              <a:defRPr sz="4000">
                <a:solidFill>
                  <a:schemeClr val="bg1"/>
                </a:solidFill>
              </a:defRPr>
            </a:lvl4pPr>
            <a:lvl5pPr marL="1828800" indent="0">
              <a:buNone/>
              <a:defRPr sz="40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15" name="文本占位符 2"/>
          <p:cNvSpPr>
            <a:spLocks noGrp="1"/>
          </p:cNvSpPr>
          <p:nvPr>
            <p:ph type="body" sz="quarter" idx="11" hasCustomPrompt="1"/>
          </p:nvPr>
        </p:nvSpPr>
        <p:spPr>
          <a:xfrm>
            <a:off x="1399540" y="3491865"/>
            <a:ext cx="1644015" cy="1769110"/>
          </a:xfrm>
        </p:spPr>
        <p:txBody>
          <a:bodyPr anchor="ctr">
            <a:noAutofit/>
          </a:bodyPr>
          <a:lstStyle>
            <a:lvl1pPr marL="0" indent="0" algn="ctr">
              <a:buNone/>
              <a:defRPr sz="4800" b="0" i="0">
                <a:solidFill>
                  <a:schemeClr val="bg1"/>
                </a:solidFill>
                <a:latin typeface="微软雅黑" panose="020B0604030504040204" pitchFamily="34" charset="-122"/>
                <a:ea typeface="微软雅黑" panose="020B0604030504040204" pitchFamily="34" charset="-122"/>
              </a:defRPr>
            </a:lvl1pPr>
            <a:lvl2pPr marL="457200" indent="0">
              <a:buNone/>
              <a:defRPr sz="4000">
                <a:solidFill>
                  <a:schemeClr val="bg1"/>
                </a:solidFill>
              </a:defRPr>
            </a:lvl2pPr>
            <a:lvl3pPr marL="914400" indent="0">
              <a:buNone/>
              <a:defRPr sz="4000">
                <a:solidFill>
                  <a:schemeClr val="bg1"/>
                </a:solidFill>
              </a:defRPr>
            </a:lvl3pPr>
            <a:lvl4pPr marL="1371600" indent="0">
              <a:buNone/>
              <a:defRPr sz="4000">
                <a:solidFill>
                  <a:schemeClr val="bg1"/>
                </a:solidFill>
              </a:defRPr>
            </a:lvl4pPr>
            <a:lvl5pPr marL="1828800" indent="0">
              <a:buNone/>
              <a:defRPr sz="4000">
                <a:solidFill>
                  <a:schemeClr val="bg1"/>
                </a:solidFill>
              </a:defRPr>
            </a:lvl5pPr>
          </a:lstStyle>
          <a:p>
            <a:pPr lvl="0"/>
            <a:r>
              <a:rPr kumimoji="1" lang="zh-CN" altLang="en-US" dirty="0"/>
              <a:t>序号</a:t>
            </a:r>
            <a:endParaRPr kumimoji="1" lang="zh-CN" altLang="en-US" dirty="0"/>
          </a:p>
        </p:txBody>
      </p:sp>
      <p:cxnSp>
        <p:nvCxnSpPr>
          <p:cNvPr id="7" name="直接连接符 10"/>
          <p:cNvCxnSpPr/>
          <p:nvPr userDrawn="1"/>
        </p:nvCxnSpPr>
        <p:spPr>
          <a:xfrm>
            <a:off x="1998190" y="4801094"/>
            <a:ext cx="446307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Logo-横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09250" y="0"/>
            <a:ext cx="1682750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单圆角矩形 5"/>
          <p:cNvSpPr/>
          <p:nvPr userDrawn="1"/>
        </p:nvSpPr>
        <p:spPr>
          <a:xfrm rot="10800000" flipH="1">
            <a:off x="0" y="0"/>
            <a:ext cx="10194925" cy="688975"/>
          </a:xfrm>
          <a:prstGeom prst="round1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 descr="PPT素材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410210" cy="675005"/>
          </a:xfrm>
          <a:prstGeom prst="rect">
            <a:avLst/>
          </a:prstGeom>
        </p:spPr>
      </p:pic>
      <p:pic>
        <p:nvPicPr>
          <p:cNvPr id="11" name="图片 10" descr="鹿头_画板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85245" y="0"/>
            <a:ext cx="706755" cy="70675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普通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/>
          </p:nvPr>
        </p:nvSpPr>
        <p:spPr>
          <a:xfrm>
            <a:off x="518270" y="195811"/>
            <a:ext cx="8721234" cy="571500"/>
          </a:xfrm>
        </p:spPr>
        <p:txBody>
          <a:bodyPr anchor="ctr">
            <a:noAutofit/>
          </a:bodyPr>
          <a:lstStyle>
            <a:lvl1pPr marL="0" indent="0">
              <a:buNone/>
              <a:defRPr sz="2400" b="0" i="0">
                <a:solidFill>
                  <a:schemeClr val="bg2">
                    <a:lumMod val="10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defRPr>
            </a:lvl1pPr>
            <a:lvl2pPr>
              <a:defRPr sz="2800">
                <a:solidFill>
                  <a:srgbClr val="1940B1"/>
                </a:solidFill>
              </a:defRPr>
            </a:lvl2pPr>
            <a:lvl3pPr>
              <a:defRPr sz="2800">
                <a:solidFill>
                  <a:srgbClr val="1940B1"/>
                </a:solidFill>
              </a:defRPr>
            </a:lvl3pPr>
            <a:lvl4pPr>
              <a:defRPr sz="2800">
                <a:solidFill>
                  <a:srgbClr val="1940B1"/>
                </a:solidFill>
              </a:defRPr>
            </a:lvl4pPr>
            <a:lvl5pPr>
              <a:defRPr sz="2800">
                <a:solidFill>
                  <a:srgbClr val="1940B1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1"/>
          </p:nvPr>
        </p:nvSpPr>
        <p:spPr>
          <a:xfrm>
            <a:off x="518139" y="1282004"/>
            <a:ext cx="10290852" cy="4914900"/>
          </a:xfr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pic>
        <p:nvPicPr>
          <p:cNvPr id="9" name="图片 8" descr="Logo-横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09250" y="0"/>
            <a:ext cx="1682750" cy="673100"/>
          </a:xfrm>
          <a:prstGeom prst="rect">
            <a:avLst/>
          </a:prstGeom>
        </p:spPr>
      </p:pic>
      <p:sp>
        <p:nvSpPr>
          <p:cNvPr id="2" name="单圆角矩形 1"/>
          <p:cNvSpPr/>
          <p:nvPr userDrawn="1"/>
        </p:nvSpPr>
        <p:spPr>
          <a:xfrm rot="10800000" flipH="1">
            <a:off x="0" y="0"/>
            <a:ext cx="10194925" cy="688975"/>
          </a:xfrm>
          <a:prstGeom prst="round1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kumimoji="1" lang="zh-CN" altLang="en-US"/>
          </a:p>
        </p:txBody>
      </p:sp>
      <p:pic>
        <p:nvPicPr>
          <p:cNvPr id="7" name="图片 6" descr="PPT素材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410210" cy="6750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普通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1"/>
          </p:nvPr>
        </p:nvSpPr>
        <p:spPr>
          <a:xfrm>
            <a:off x="518139" y="1282004"/>
            <a:ext cx="10290852" cy="4914900"/>
          </a:xfrm>
        </p:spPr>
        <p:txBody>
          <a:bodyPr/>
          <a:lstStyle>
            <a:lvl1pPr>
              <a:defRPr>
                <a:solidFill>
                  <a:schemeClr val="bg2">
                    <a:lumMod val="10000"/>
                  </a:schemeClr>
                </a:solidFill>
              </a:defRPr>
            </a:lvl1pPr>
            <a:lvl2pPr>
              <a:defRPr>
                <a:solidFill>
                  <a:schemeClr val="bg2">
                    <a:lumMod val="10000"/>
                  </a:schemeClr>
                </a:solidFill>
              </a:defRPr>
            </a:lvl2pPr>
            <a:lvl3pPr>
              <a:defRPr>
                <a:solidFill>
                  <a:schemeClr val="bg2">
                    <a:lumMod val="10000"/>
                  </a:schemeClr>
                </a:solidFill>
              </a:defRPr>
            </a:lvl3pPr>
            <a:lvl4pPr>
              <a:defRPr>
                <a:solidFill>
                  <a:schemeClr val="bg2">
                    <a:lumMod val="10000"/>
                  </a:schemeClr>
                </a:solidFill>
              </a:defRPr>
            </a:lvl4pPr>
            <a:lvl5pPr>
              <a:defRPr>
                <a:solidFill>
                  <a:schemeClr val="bg2">
                    <a:lumMod val="10000"/>
                  </a:schemeClr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518270" y="195811"/>
            <a:ext cx="8721234" cy="571500"/>
          </a:xfrm>
        </p:spPr>
        <p:txBody>
          <a:bodyPr anchor="ctr">
            <a:noAutofit/>
          </a:bodyPr>
          <a:lstStyle>
            <a:lvl1pPr marL="0" indent="0">
              <a:buNone/>
              <a:defRPr sz="2400" b="0" i="0">
                <a:solidFill>
                  <a:schemeClr val="bg2">
                    <a:lumMod val="10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defRPr>
            </a:lvl1pPr>
            <a:lvl2pPr>
              <a:defRPr sz="2800">
                <a:solidFill>
                  <a:srgbClr val="1940B1"/>
                </a:solidFill>
              </a:defRPr>
            </a:lvl2pPr>
            <a:lvl3pPr>
              <a:defRPr sz="2800">
                <a:solidFill>
                  <a:srgbClr val="1940B1"/>
                </a:solidFill>
              </a:defRPr>
            </a:lvl3pPr>
            <a:lvl4pPr>
              <a:defRPr sz="2800">
                <a:solidFill>
                  <a:srgbClr val="1940B1"/>
                </a:solidFill>
              </a:defRPr>
            </a:lvl4pPr>
            <a:lvl5pPr>
              <a:defRPr sz="2800">
                <a:solidFill>
                  <a:srgbClr val="1940B1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pic>
        <p:nvPicPr>
          <p:cNvPr id="2" name="图片 1" descr="PPT素材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1300000">
            <a:off x="9359900" y="4398645"/>
            <a:ext cx="3188335" cy="2908935"/>
          </a:xfrm>
          <a:prstGeom prst="rect">
            <a:avLst/>
          </a:prstGeom>
        </p:spPr>
      </p:pic>
      <p:pic>
        <p:nvPicPr>
          <p:cNvPr id="9" name="图片 8" descr="Logo-横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509250" y="0"/>
            <a:ext cx="1682750" cy="673100"/>
          </a:xfrm>
          <a:prstGeom prst="rect">
            <a:avLst/>
          </a:prstGeom>
        </p:spPr>
      </p:pic>
      <p:sp>
        <p:nvSpPr>
          <p:cNvPr id="3" name="单圆角矩形 2"/>
          <p:cNvSpPr/>
          <p:nvPr userDrawn="1"/>
        </p:nvSpPr>
        <p:spPr>
          <a:xfrm rot="10800000" flipH="1">
            <a:off x="0" y="0"/>
            <a:ext cx="10194925" cy="688975"/>
          </a:xfrm>
          <a:prstGeom prst="round1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 descr="PPT素材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0"/>
            <a:ext cx="410210" cy="6750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普通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占位符 5"/>
          <p:cNvSpPr>
            <a:spLocks noGrp="1"/>
          </p:cNvSpPr>
          <p:nvPr>
            <p:ph type="body" sz="quarter" idx="10"/>
          </p:nvPr>
        </p:nvSpPr>
        <p:spPr>
          <a:xfrm>
            <a:off x="518270" y="195811"/>
            <a:ext cx="8721234" cy="571500"/>
          </a:xfrm>
        </p:spPr>
        <p:txBody>
          <a:bodyPr anchor="ctr">
            <a:noAutofit/>
          </a:bodyPr>
          <a:lstStyle>
            <a:lvl1pPr marL="0" indent="0">
              <a:buNone/>
              <a:defRPr sz="2400" b="0" i="0">
                <a:solidFill>
                  <a:schemeClr val="bg2">
                    <a:lumMod val="10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defRPr>
            </a:lvl1pPr>
            <a:lvl2pPr>
              <a:defRPr sz="2800">
                <a:solidFill>
                  <a:srgbClr val="1940B1"/>
                </a:solidFill>
              </a:defRPr>
            </a:lvl2pPr>
            <a:lvl3pPr>
              <a:defRPr sz="2800">
                <a:solidFill>
                  <a:srgbClr val="1940B1"/>
                </a:solidFill>
              </a:defRPr>
            </a:lvl3pPr>
            <a:lvl4pPr>
              <a:defRPr sz="2800">
                <a:solidFill>
                  <a:srgbClr val="1940B1"/>
                </a:solidFill>
              </a:defRPr>
            </a:lvl4pPr>
            <a:lvl5pPr>
              <a:defRPr sz="2800">
                <a:solidFill>
                  <a:srgbClr val="1940B1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pic>
        <p:nvPicPr>
          <p:cNvPr id="9" name="图片 8" descr="Logo-横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09250" y="0"/>
            <a:ext cx="1682750" cy="673100"/>
          </a:xfrm>
          <a:prstGeom prst="rect">
            <a:avLst/>
          </a:prstGeom>
        </p:spPr>
      </p:pic>
      <p:sp>
        <p:nvSpPr>
          <p:cNvPr id="2" name="单圆角矩形 1"/>
          <p:cNvSpPr/>
          <p:nvPr userDrawn="1"/>
        </p:nvSpPr>
        <p:spPr>
          <a:xfrm rot="10800000" flipH="1">
            <a:off x="0" y="0"/>
            <a:ext cx="10194925" cy="688975"/>
          </a:xfrm>
          <a:prstGeom prst="round1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 descr="PPT素材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410210" cy="6750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普通内容页-深色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92175" y="-15240"/>
            <a:ext cx="11291570" cy="6888480"/>
          </a:xfrm>
          <a:prstGeom prst="rect">
            <a:avLst/>
          </a:prstGeom>
          <a:solidFill>
            <a:srgbClr val="005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鹿头_画板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520" y="6094730"/>
            <a:ext cx="706755" cy="706755"/>
          </a:xfrm>
          <a:prstGeom prst="rect">
            <a:avLst/>
          </a:prstGeom>
        </p:spPr>
      </p:pic>
      <p:sp>
        <p:nvSpPr>
          <p:cNvPr id="13" name="内容占位符 12"/>
          <p:cNvSpPr>
            <a:spLocks noGrp="1"/>
          </p:cNvSpPr>
          <p:nvPr>
            <p:ph sz="quarter" idx="11"/>
          </p:nvPr>
        </p:nvSpPr>
        <p:spPr>
          <a:xfrm>
            <a:off x="1229974" y="1282004"/>
            <a:ext cx="10290852" cy="49149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3"/>
          </p:nvPr>
        </p:nvSpPr>
        <p:spPr>
          <a:xfrm>
            <a:off x="1230105" y="190731"/>
            <a:ext cx="8721234" cy="571500"/>
          </a:xfrm>
        </p:spPr>
        <p:txBody>
          <a:bodyPr anchor="ctr">
            <a:noAutofit/>
          </a:bodyPr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微软雅黑" panose="020B0604030504040204" pitchFamily="34" charset="-122"/>
                <a:ea typeface="微软雅黑" panose="020B0604030504040204" pitchFamily="34" charset="-122"/>
              </a:defRPr>
            </a:lvl1pPr>
            <a:lvl2pPr>
              <a:defRPr sz="2800">
                <a:solidFill>
                  <a:srgbClr val="1940B1"/>
                </a:solidFill>
              </a:defRPr>
            </a:lvl2pPr>
            <a:lvl3pPr>
              <a:defRPr sz="2800">
                <a:solidFill>
                  <a:srgbClr val="1940B1"/>
                </a:solidFill>
              </a:defRPr>
            </a:lvl3pPr>
            <a:lvl4pPr>
              <a:defRPr sz="2800">
                <a:solidFill>
                  <a:srgbClr val="1940B1"/>
                </a:solidFill>
              </a:defRPr>
            </a:lvl4pPr>
            <a:lvl5pPr>
              <a:defRPr sz="2800">
                <a:solidFill>
                  <a:srgbClr val="1940B1"/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zh-CN" altLang="en-US" dirty="0"/>
          </a:p>
        </p:txBody>
      </p:sp>
      <p:pic>
        <p:nvPicPr>
          <p:cNvPr id="5" name="图片 4" descr="PPT素材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86055"/>
            <a:ext cx="363855" cy="59880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普通内容页-深色">
    <p:bg>
      <p:bgPr>
        <a:solidFill>
          <a:srgbClr val="0056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PPT素材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09430" y="4354195"/>
            <a:ext cx="3188335" cy="2908935"/>
          </a:xfrm>
          <a:prstGeom prst="rect">
            <a:avLst/>
          </a:prstGeom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结束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任意多边形 35"/>
          <p:cNvSpPr/>
          <p:nvPr userDrawn="1"/>
        </p:nvSpPr>
        <p:spPr>
          <a:xfrm rot="5400000" flipH="1">
            <a:off x="-1535652" y="1535531"/>
            <a:ext cx="6886898" cy="3815836"/>
          </a:xfrm>
          <a:custGeom>
            <a:avLst/>
            <a:gdLst>
              <a:gd name="connsiteX0" fmla="*/ 6886898 w 6886898"/>
              <a:gd name="connsiteY0" fmla="*/ 2035429 h 3815836"/>
              <a:gd name="connsiteX1" fmla="*/ 6886898 w 6886898"/>
              <a:gd name="connsiteY1" fmla="*/ 3815836 h 3815836"/>
              <a:gd name="connsiteX2" fmla="*/ 4635589 w 6886898"/>
              <a:gd name="connsiteY2" fmla="*/ 3815836 h 3815836"/>
              <a:gd name="connsiteX3" fmla="*/ 4632870 w 6886898"/>
              <a:gd name="connsiteY3" fmla="*/ 3774878 h 3815836"/>
              <a:gd name="connsiteX4" fmla="*/ 4043437 w 6886898"/>
              <a:gd name="connsiteY4" fmla="*/ 2894617 h 3815836"/>
              <a:gd name="connsiteX5" fmla="*/ 2843463 w 6886898"/>
              <a:gd name="connsiteY5" fmla="*/ 2894616 h 3815836"/>
              <a:gd name="connsiteX6" fmla="*/ 2254029 w 6886898"/>
              <a:gd name="connsiteY6" fmla="*/ 3774876 h 3815836"/>
              <a:gd name="connsiteX7" fmla="*/ 2251310 w 6886898"/>
              <a:gd name="connsiteY7" fmla="*/ 3815836 h 3815836"/>
              <a:gd name="connsiteX8" fmla="*/ 0 w 6886898"/>
              <a:gd name="connsiteY8" fmla="*/ 3815836 h 3815836"/>
              <a:gd name="connsiteX9" fmla="*/ 0 w 6886898"/>
              <a:gd name="connsiteY9" fmla="*/ 2035428 h 3815836"/>
              <a:gd name="connsiteX10" fmla="*/ 36657 w 6886898"/>
              <a:gd name="connsiteY10" fmla="*/ 1966912 h 3815836"/>
              <a:gd name="connsiteX11" fmla="*/ 1476537 w 6886898"/>
              <a:gd name="connsiteY11" fmla="*/ 527032 h 3815836"/>
              <a:gd name="connsiteX12" fmla="*/ 5410363 w 6886898"/>
              <a:gd name="connsiteY12" fmla="*/ 527034 h 3815836"/>
              <a:gd name="connsiteX13" fmla="*/ 6850242 w 6886898"/>
              <a:gd name="connsiteY13" fmla="*/ 1966915 h 3815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886898" h="3815836">
                <a:moveTo>
                  <a:pt x="6886898" y="2035429"/>
                </a:moveTo>
                <a:lnTo>
                  <a:pt x="6886898" y="3815836"/>
                </a:lnTo>
                <a:lnTo>
                  <a:pt x="4635589" y="3815836"/>
                </a:lnTo>
                <a:lnTo>
                  <a:pt x="4632870" y="3774878"/>
                </a:lnTo>
                <a:cubicBezTo>
                  <a:pt x="4584017" y="3408920"/>
                  <a:pt x="4368301" y="3082178"/>
                  <a:pt x="4043437" y="2894617"/>
                </a:cubicBezTo>
                <a:cubicBezTo>
                  <a:pt x="3672164" y="2680262"/>
                  <a:pt x="3214736" y="2680262"/>
                  <a:pt x="2843463" y="2894616"/>
                </a:cubicBezTo>
                <a:cubicBezTo>
                  <a:pt x="2518599" y="3082177"/>
                  <a:pt x="2302882" y="3408919"/>
                  <a:pt x="2254029" y="3774876"/>
                </a:cubicBezTo>
                <a:lnTo>
                  <a:pt x="2251310" y="3815836"/>
                </a:lnTo>
                <a:lnTo>
                  <a:pt x="0" y="3815836"/>
                </a:lnTo>
                <a:lnTo>
                  <a:pt x="0" y="2035428"/>
                </a:lnTo>
                <a:lnTo>
                  <a:pt x="36657" y="1966912"/>
                </a:lnTo>
                <a:cubicBezTo>
                  <a:pt x="376244" y="1378730"/>
                  <a:pt x="867972" y="878387"/>
                  <a:pt x="1476537" y="527032"/>
                </a:cubicBezTo>
                <a:cubicBezTo>
                  <a:pt x="2693667" y="-175678"/>
                  <a:pt x="4193233" y="-175677"/>
                  <a:pt x="5410363" y="527034"/>
                </a:cubicBezTo>
                <a:cubicBezTo>
                  <a:pt x="6018928" y="878390"/>
                  <a:pt x="6510656" y="1378733"/>
                  <a:pt x="6850242" y="1966915"/>
                </a:cubicBezTo>
                <a:close/>
              </a:path>
            </a:pathLst>
          </a:custGeom>
          <a:solidFill>
            <a:srgbClr val="005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inpin heiti" charset="-122"/>
              <a:ea typeface="inpin heiti" charset="-122"/>
            </a:endParaRPr>
          </a:p>
        </p:txBody>
      </p:sp>
      <p:grpSp>
        <p:nvGrpSpPr>
          <p:cNvPr id="3" name="组合 2"/>
          <p:cNvGrpSpPr/>
          <p:nvPr userDrawn="1"/>
        </p:nvGrpSpPr>
        <p:grpSpPr>
          <a:xfrm>
            <a:off x="6267713" y="5615839"/>
            <a:ext cx="5403274" cy="865474"/>
            <a:chOff x="4296369" y="5519175"/>
            <a:chExt cx="5403274" cy="865474"/>
          </a:xfrm>
        </p:grpSpPr>
        <p:sp>
          <p:nvSpPr>
            <p:cNvPr id="4" name="矩形 3"/>
            <p:cNvSpPr/>
            <p:nvPr/>
          </p:nvSpPr>
          <p:spPr>
            <a:xfrm>
              <a:off x="4296369" y="5636029"/>
              <a:ext cx="2320562" cy="631767"/>
            </a:xfrm>
            <a:prstGeom prst="rect">
              <a:avLst/>
            </a:prstGeom>
            <a:noFill/>
            <a:ln>
              <a:solidFill>
                <a:srgbClr val="0955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5" name="图片 4" descr="Logo-横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79494" y="5519175"/>
              <a:ext cx="2163930" cy="865474"/>
            </a:xfrm>
            <a:prstGeom prst="rect">
              <a:avLst/>
            </a:prstGeom>
          </p:spPr>
        </p:pic>
        <p:sp>
          <p:nvSpPr>
            <p:cNvPr id="6" name="矩形 5"/>
            <p:cNvSpPr/>
            <p:nvPr/>
          </p:nvSpPr>
          <p:spPr>
            <a:xfrm>
              <a:off x="6600306" y="5636029"/>
              <a:ext cx="2942705" cy="631767"/>
            </a:xfrm>
            <a:prstGeom prst="rect">
              <a:avLst/>
            </a:prstGeom>
            <a:solidFill>
              <a:srgbClr val="0955D1"/>
            </a:solidFill>
            <a:ln>
              <a:solidFill>
                <a:srgbClr val="0955D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713847" y="5765271"/>
              <a:ext cx="298579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CN" altLang="en-US" b="0" i="0" spc="-150" dirty="0">
                  <a:solidFill>
                    <a:schemeClr val="bg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优维科技（深圳）有限公司</a:t>
              </a:r>
              <a:endParaRPr kumimoji="1" lang="zh-CN" altLang="en-US" b="0" i="0" spc="-15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635" y="0"/>
            <a:ext cx="12183110" cy="6888480"/>
          </a:xfrm>
          <a:prstGeom prst="rect">
            <a:avLst/>
          </a:prstGeom>
          <a:solidFill>
            <a:srgbClr val="0056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 userDrawn="1"/>
        </p:nvSpPr>
        <p:spPr>
          <a:xfrm>
            <a:off x="751896" y="1082086"/>
            <a:ext cx="601841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1" lang="en-US" altLang="zh-CN" sz="8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j-cs"/>
              </a:rPr>
              <a:t>THANK</a:t>
            </a:r>
            <a:r>
              <a:rPr kumimoji="1" lang="zh-CN" altLang="en-US" sz="8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j-cs"/>
              </a:rPr>
              <a:t> </a:t>
            </a:r>
            <a:r>
              <a:rPr kumimoji="1" lang="en-US" altLang="zh-CN" sz="80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j-cs"/>
              </a:rPr>
              <a:t>YOU</a:t>
            </a:r>
            <a:endParaRPr kumimoji="1" lang="en-US" altLang="zh-CN" sz="800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微软雅黑" panose="020B0604030504040204" pitchFamily="34" charset="-122"/>
              <a:ea typeface="微软雅黑" panose="020B0604030504040204" pitchFamily="34" charset="-122"/>
              <a:cs typeface="+mj-cs"/>
            </a:endParaRPr>
          </a:p>
        </p:txBody>
      </p:sp>
      <p:pic>
        <p:nvPicPr>
          <p:cNvPr id="6" name="图片 5" descr="PPT素材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09430" y="4354195"/>
            <a:ext cx="3188335" cy="2908935"/>
          </a:xfrm>
          <a:prstGeom prst="rect">
            <a:avLst/>
          </a:prstGeom>
        </p:spPr>
      </p:pic>
      <p:pic>
        <p:nvPicPr>
          <p:cNvPr id="4" name="图片 3" descr="PPT素材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6015" y="4975860"/>
            <a:ext cx="2566035" cy="596900"/>
          </a:xfrm>
          <a:prstGeom prst="rect">
            <a:avLst/>
          </a:prstGeom>
        </p:spPr>
      </p:pic>
      <p:sp>
        <p:nvSpPr>
          <p:cNvPr id="15" name="文本框 14"/>
          <p:cNvSpPr txBox="1"/>
          <p:nvPr userDrawn="1"/>
        </p:nvSpPr>
        <p:spPr>
          <a:xfrm>
            <a:off x="1136189" y="5860405"/>
            <a:ext cx="29857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1600" b="0" i="0" dirty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优维科技（深圳）有限公司</a:t>
            </a:r>
            <a:endParaRPr kumimoji="1" lang="zh-CN" altLang="en-US" sz="1600" b="0" i="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Logo-横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09250" y="0"/>
            <a:ext cx="1682750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gradFill rotWithShape="0">
          <a:gsLst>
            <a:gs pos="0">
              <a:schemeClr val="bg1"/>
            </a:gs>
            <a:gs pos="100000">
              <a:schemeClr val="bg1"/>
            </a:gs>
          </a:gsLst>
          <a:lin ang="1080000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6754813"/>
            <a:ext cx="12192000" cy="103188"/>
          </a:xfrm>
          <a:prstGeom prst="rect">
            <a:avLst/>
          </a:prstGeom>
          <a:gradFill flip="none" rotWithShape="1">
            <a:gsLst>
              <a:gs pos="0">
                <a:srgbClr val="00A8AE"/>
              </a:gs>
              <a:gs pos="69000">
                <a:srgbClr val="0083C8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z="1350" strike="noStrike" noProof="1"/>
          </a:p>
        </p:txBody>
      </p:sp>
      <p:pic>
        <p:nvPicPr>
          <p:cNvPr id="4099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06150" y="225425"/>
            <a:ext cx="776288" cy="2619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10"/>
          <p:cNvSpPr/>
          <p:nvPr userDrawn="1"/>
        </p:nvSpPr>
        <p:spPr>
          <a:xfrm>
            <a:off x="838200" y="619125"/>
            <a:ext cx="3733800" cy="28575"/>
          </a:xfrm>
          <a:prstGeom prst="rect">
            <a:avLst/>
          </a:prstGeom>
          <a:gradFill flip="none" rotWithShape="1">
            <a:gsLst>
              <a:gs pos="100000">
                <a:srgbClr val="00A8AE"/>
              </a:gs>
              <a:gs pos="0">
                <a:srgbClr val="0083C8"/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kumimoji="1" lang="zh-CN" altLang="en-US" sz="1350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  <a:lvl2pPr>
              <a:defRPr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>
              <a:defRPr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>
              <a:defRPr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>
              <a:defRPr b="0" i="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 fontAlgn="auto"/>
            <a:r>
              <a:rPr kumimoji="1" lang="zh-CN" altLang="en-US" strike="noStrike" noProof="1"/>
              <a:t>编辑母版文本样式</a:t>
            </a:r>
            <a:endParaRPr kumimoji="1" lang="zh-CN" altLang="en-US" strike="noStrike" noProof="1"/>
          </a:p>
        </p:txBody>
      </p:sp>
      <p:sp>
        <p:nvSpPr>
          <p:cNvPr id="7" name="标题占位符 1"/>
          <p:cNvSpPr>
            <a:spLocks noGrp="1"/>
          </p:cNvSpPr>
          <p:nvPr>
            <p:ph type="title"/>
          </p:nvPr>
        </p:nvSpPr>
        <p:spPr>
          <a:xfrm>
            <a:off x="838200" y="95001"/>
            <a:ext cx="10515600" cy="523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/>
            </a:lvl1pPr>
          </a:lstStyle>
          <a:p>
            <a:pPr fontAlgn="auto"/>
            <a:r>
              <a:rPr kumimoji="1" lang="zh-CN" altLang="en-US" strike="noStrike" noProof="1"/>
              <a:t>单击此处编辑母版标题样式</a:t>
            </a:r>
            <a:endParaRPr kumimoji="1" lang="zh-CN" altLang="en-US" strike="noStrike" noProof="1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420350" y="192314"/>
            <a:ext cx="1524000" cy="278356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470670"/>
            <a:ext cx="107031" cy="8735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73" y="6705600"/>
            <a:ext cx="12189854" cy="152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Microsoft JhengHei" panose="020B0604030504040204" charset="-120"/>
                <a:cs typeface="Microsoft JhengHei" panose="020B0604030504040204" charset="-120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79" y="1577340"/>
            <a:ext cx="5303520" cy="338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>
          <a:xfrm>
            <a:off x="4038600" y="6356352"/>
            <a:ext cx="4114800" cy="365125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>
          <a:xfrm>
            <a:off x="838200" y="6356352"/>
            <a:ext cx="2743200" cy="365125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8610600" y="6356352"/>
            <a:ext cx="2743200" cy="365125"/>
          </a:xfrm>
        </p:spPr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Arial" panose="020B0604020202090204"/>
                <a:cs typeface="Arial" panose="020B0604020202090204"/>
              </a:defRPr>
            </a:lvl1pPr>
          </a:lstStyle>
          <a:p>
            <a:pPr marL="220345"/>
            <a:fld id="{81D60167-4931-47E6-BA6A-407CBD079E47}" type="slidenum">
              <a:rPr lang="en-US" altLang="zh-CN" spc="-5" smtClean="0"/>
            </a:fld>
            <a:endParaRPr lang="en-US" altLang="zh-CN" spc="-5" dirty="0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9" Type="http://schemas.openxmlformats.org/officeDocument/2006/relationships/theme" Target="../theme/theme3.xml"/><Relationship Id="rId18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1.xml"/><Relationship Id="rId16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/>
            </a:gs>
            <a:gs pos="100000">
              <a:schemeClr val="bg1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159981"/>
            <a:ext cx="10515600" cy="523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第二级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第三级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第四级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第五级</a:t>
            </a:r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400" b="0" i="0" kern="1200">
          <a:solidFill>
            <a:srgbClr val="21212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b="0" i="0" kern="1200">
          <a:solidFill>
            <a:srgbClr val="21212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b="0" i="0" kern="1200">
          <a:solidFill>
            <a:srgbClr val="21212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b="0" i="0" kern="1200">
          <a:solidFill>
            <a:srgbClr val="21212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rgbClr val="21212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rgbClr val="21212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/>
            </a:gs>
            <a:gs pos="100000">
              <a:schemeClr val="bg1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159981"/>
            <a:ext cx="10515600" cy="523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第二级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第三级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第四级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第五级</a:t>
            </a:r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400" b="0" i="0" kern="1200">
          <a:solidFill>
            <a:srgbClr val="21212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b="0" i="0" kern="1200">
          <a:solidFill>
            <a:srgbClr val="21212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b="0" i="0" kern="1200">
          <a:solidFill>
            <a:srgbClr val="21212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b="0" i="0" kern="1200">
          <a:solidFill>
            <a:srgbClr val="21212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rgbClr val="21212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rgbClr val="21212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chemeClr val="bg1"/>
            </a:gs>
            <a:gs pos="100000">
              <a:schemeClr val="bg1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159981"/>
            <a:ext cx="10515600" cy="5238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编辑母版文本样式</a:t>
            </a:r>
            <a:endParaRPr kumimoji="1" lang="zh-CN" altLang="en-US" dirty="0"/>
          </a:p>
          <a:p>
            <a:pPr lvl="1"/>
            <a:r>
              <a:rPr kumimoji="1" lang="zh-CN" altLang="en-US" dirty="0"/>
              <a:t>第二级</a:t>
            </a:r>
            <a:endParaRPr kumimoji="1" lang="zh-CN" altLang="en-US" dirty="0"/>
          </a:p>
          <a:p>
            <a:pPr lvl="2"/>
            <a:r>
              <a:rPr kumimoji="1" lang="zh-CN" altLang="en-US" dirty="0"/>
              <a:t>第三级</a:t>
            </a:r>
            <a:endParaRPr kumimoji="1" lang="zh-CN" altLang="en-US" dirty="0"/>
          </a:p>
          <a:p>
            <a:pPr lvl="3"/>
            <a:r>
              <a:rPr kumimoji="1" lang="zh-CN" altLang="en-US" dirty="0"/>
              <a:t>第四级</a:t>
            </a:r>
            <a:endParaRPr kumimoji="1" lang="zh-CN" altLang="en-US" dirty="0"/>
          </a:p>
          <a:p>
            <a:pPr lvl="4"/>
            <a:r>
              <a:rPr kumimoji="1" lang="zh-CN" altLang="en-US" dirty="0"/>
              <a:t>第五级</a:t>
            </a:r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400" b="0" i="0" kern="1200">
          <a:solidFill>
            <a:srgbClr val="21212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b="0" i="0" kern="1200">
          <a:solidFill>
            <a:srgbClr val="21212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b="0" i="0" kern="1200">
          <a:solidFill>
            <a:srgbClr val="21212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b="0" i="0" kern="1200">
          <a:solidFill>
            <a:srgbClr val="21212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rgbClr val="21212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rgbClr val="212121"/>
          </a:solidFill>
          <a:latin typeface="微软雅黑 Light" panose="020B0502040204020203" pitchFamily="34" charset="-122"/>
          <a:ea typeface="微软雅黑 Light" panose="020B0502040204020203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3" Type="http://schemas.openxmlformats.org/officeDocument/2006/relationships/notesSlide" Target="../notesSlides/notesSlide1.xml"/><Relationship Id="rId32" Type="http://schemas.openxmlformats.org/officeDocument/2006/relationships/slideLayout" Target="../slideLayouts/slideLayout5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1" Type="http://schemas.openxmlformats.org/officeDocument/2006/relationships/notesSlide" Target="../notesSlides/notesSlide2.xml"/><Relationship Id="rId80" Type="http://schemas.openxmlformats.org/officeDocument/2006/relationships/slideLayout" Target="../slideLayouts/slideLayout5.xml"/><Relationship Id="rId8" Type="http://schemas.openxmlformats.org/officeDocument/2006/relationships/tags" Target="../tags/tag39.xml"/><Relationship Id="rId79" Type="http://schemas.openxmlformats.org/officeDocument/2006/relationships/tags" Target="../tags/tag104.xml"/><Relationship Id="rId78" Type="http://schemas.openxmlformats.org/officeDocument/2006/relationships/tags" Target="../tags/tag103.xml"/><Relationship Id="rId77" Type="http://schemas.openxmlformats.org/officeDocument/2006/relationships/tags" Target="../tags/tag102.xml"/><Relationship Id="rId76" Type="http://schemas.openxmlformats.org/officeDocument/2006/relationships/tags" Target="../tags/tag101.xml"/><Relationship Id="rId75" Type="http://schemas.openxmlformats.org/officeDocument/2006/relationships/tags" Target="../tags/tag100.xml"/><Relationship Id="rId74" Type="http://schemas.openxmlformats.org/officeDocument/2006/relationships/tags" Target="../tags/tag99.xml"/><Relationship Id="rId73" Type="http://schemas.openxmlformats.org/officeDocument/2006/relationships/tags" Target="../tags/tag98.xml"/><Relationship Id="rId72" Type="http://schemas.openxmlformats.org/officeDocument/2006/relationships/tags" Target="../tags/tag97.xml"/><Relationship Id="rId71" Type="http://schemas.openxmlformats.org/officeDocument/2006/relationships/tags" Target="../tags/tag96.xml"/><Relationship Id="rId70" Type="http://schemas.openxmlformats.org/officeDocument/2006/relationships/tags" Target="../tags/tag95.xml"/><Relationship Id="rId7" Type="http://schemas.openxmlformats.org/officeDocument/2006/relationships/tags" Target="../tags/tag38.xml"/><Relationship Id="rId69" Type="http://schemas.openxmlformats.org/officeDocument/2006/relationships/tags" Target="../tags/tag94.xml"/><Relationship Id="rId68" Type="http://schemas.openxmlformats.org/officeDocument/2006/relationships/tags" Target="../tags/tag93.xml"/><Relationship Id="rId67" Type="http://schemas.openxmlformats.org/officeDocument/2006/relationships/tags" Target="../tags/tag92.xml"/><Relationship Id="rId66" Type="http://schemas.openxmlformats.org/officeDocument/2006/relationships/tags" Target="../tags/tag91.xml"/><Relationship Id="rId65" Type="http://schemas.openxmlformats.org/officeDocument/2006/relationships/tags" Target="../tags/tag90.xml"/><Relationship Id="rId64" Type="http://schemas.openxmlformats.org/officeDocument/2006/relationships/tags" Target="../tags/tag89.xml"/><Relationship Id="rId63" Type="http://schemas.openxmlformats.org/officeDocument/2006/relationships/tags" Target="../tags/tag88.xml"/><Relationship Id="rId62" Type="http://schemas.openxmlformats.org/officeDocument/2006/relationships/tags" Target="../tags/tag87.xml"/><Relationship Id="rId61" Type="http://schemas.openxmlformats.org/officeDocument/2006/relationships/tags" Target="../tags/tag86.xml"/><Relationship Id="rId60" Type="http://schemas.openxmlformats.org/officeDocument/2006/relationships/tags" Target="../tags/tag85.xml"/><Relationship Id="rId6" Type="http://schemas.openxmlformats.org/officeDocument/2006/relationships/tags" Target="../tags/tag37.xml"/><Relationship Id="rId59" Type="http://schemas.openxmlformats.org/officeDocument/2006/relationships/tags" Target="../tags/tag84.xml"/><Relationship Id="rId58" Type="http://schemas.openxmlformats.org/officeDocument/2006/relationships/tags" Target="../tags/tag83.xml"/><Relationship Id="rId57" Type="http://schemas.openxmlformats.org/officeDocument/2006/relationships/tags" Target="../tags/tag82.xml"/><Relationship Id="rId56" Type="http://schemas.openxmlformats.org/officeDocument/2006/relationships/tags" Target="../tags/tag81.xml"/><Relationship Id="rId55" Type="http://schemas.openxmlformats.org/officeDocument/2006/relationships/tags" Target="../tags/tag80.xml"/><Relationship Id="rId54" Type="http://schemas.openxmlformats.org/officeDocument/2006/relationships/tags" Target="../tags/tag79.xml"/><Relationship Id="rId53" Type="http://schemas.openxmlformats.org/officeDocument/2006/relationships/tags" Target="../tags/tag78.xml"/><Relationship Id="rId52" Type="http://schemas.openxmlformats.org/officeDocument/2006/relationships/tags" Target="../tags/tag77.xml"/><Relationship Id="rId51" Type="http://schemas.openxmlformats.org/officeDocument/2006/relationships/tags" Target="../tags/tag76.xml"/><Relationship Id="rId50" Type="http://schemas.openxmlformats.org/officeDocument/2006/relationships/tags" Target="../tags/tag75.xml"/><Relationship Id="rId5" Type="http://schemas.openxmlformats.org/officeDocument/2006/relationships/tags" Target="../tags/tag36.xml"/><Relationship Id="rId49" Type="http://schemas.openxmlformats.org/officeDocument/2006/relationships/tags" Target="../tags/tag74.xml"/><Relationship Id="rId48" Type="http://schemas.openxmlformats.org/officeDocument/2006/relationships/tags" Target="../tags/tag73.xml"/><Relationship Id="rId47" Type="http://schemas.openxmlformats.org/officeDocument/2006/relationships/tags" Target="../tags/tag72.xml"/><Relationship Id="rId46" Type="http://schemas.openxmlformats.org/officeDocument/2006/relationships/tags" Target="../tags/tag71.xml"/><Relationship Id="rId45" Type="http://schemas.openxmlformats.org/officeDocument/2006/relationships/tags" Target="../tags/tag70.xml"/><Relationship Id="rId44" Type="http://schemas.openxmlformats.org/officeDocument/2006/relationships/tags" Target="../tags/tag69.xml"/><Relationship Id="rId43" Type="http://schemas.openxmlformats.org/officeDocument/2006/relationships/tags" Target="../tags/tag68.xml"/><Relationship Id="rId42" Type="http://schemas.openxmlformats.org/officeDocument/2006/relationships/tags" Target="../tags/tag67.xml"/><Relationship Id="rId41" Type="http://schemas.openxmlformats.org/officeDocument/2006/relationships/tags" Target="../tags/tag66.xml"/><Relationship Id="rId40" Type="http://schemas.openxmlformats.org/officeDocument/2006/relationships/tags" Target="../tags/tag65.xml"/><Relationship Id="rId4" Type="http://schemas.openxmlformats.org/officeDocument/2006/relationships/tags" Target="../tags/tag35.xml"/><Relationship Id="rId39" Type="http://schemas.openxmlformats.org/officeDocument/2006/relationships/tags" Target="../tags/tag64.xml"/><Relationship Id="rId38" Type="http://schemas.openxmlformats.org/officeDocument/2006/relationships/tags" Target="../tags/tag63.xml"/><Relationship Id="rId37" Type="http://schemas.openxmlformats.org/officeDocument/2006/relationships/tags" Target="../tags/tag62.xml"/><Relationship Id="rId36" Type="http://schemas.openxmlformats.org/officeDocument/2006/relationships/tags" Target="../tags/tag61.xml"/><Relationship Id="rId35" Type="http://schemas.openxmlformats.org/officeDocument/2006/relationships/tags" Target="../tags/tag60.xml"/><Relationship Id="rId34" Type="http://schemas.openxmlformats.org/officeDocument/2006/relationships/tags" Target="../tags/tag59.xml"/><Relationship Id="rId33" Type="http://schemas.openxmlformats.org/officeDocument/2006/relationships/tags" Target="../tags/tag58.xml"/><Relationship Id="rId32" Type="http://schemas.openxmlformats.org/officeDocument/2006/relationships/tags" Target="../tags/tag57.xml"/><Relationship Id="rId31" Type="http://schemas.openxmlformats.org/officeDocument/2006/relationships/tags" Target="../tags/tag56.xml"/><Relationship Id="rId30" Type="http://schemas.openxmlformats.org/officeDocument/2006/relationships/tags" Target="../tags/tag55.xml"/><Relationship Id="rId3" Type="http://schemas.openxmlformats.org/officeDocument/2006/relationships/tags" Target="../tags/tag34.xml"/><Relationship Id="rId29" Type="http://schemas.openxmlformats.org/officeDocument/2006/relationships/tags" Target="../tags/tag54.xml"/><Relationship Id="rId28" Type="http://schemas.openxmlformats.org/officeDocument/2006/relationships/tags" Target="../tags/tag53.xml"/><Relationship Id="rId27" Type="http://schemas.openxmlformats.org/officeDocument/2006/relationships/tags" Target="../tags/tag52.xml"/><Relationship Id="rId26" Type="http://schemas.openxmlformats.org/officeDocument/2006/relationships/tags" Target="../tags/tag51.xml"/><Relationship Id="rId25" Type="http://schemas.openxmlformats.org/officeDocument/2006/relationships/tags" Target="../tags/tag50.xml"/><Relationship Id="rId24" Type="http://schemas.openxmlformats.org/officeDocument/2006/relationships/tags" Target="../tags/tag49.xml"/><Relationship Id="rId23" Type="http://schemas.openxmlformats.org/officeDocument/2006/relationships/tags" Target="../tags/tag48.xml"/><Relationship Id="rId22" Type="http://schemas.openxmlformats.org/officeDocument/2006/relationships/tags" Target="../tags/tag47.xml"/><Relationship Id="rId21" Type="http://schemas.openxmlformats.org/officeDocument/2006/relationships/tags" Target="../tags/tag46.xml"/><Relationship Id="rId20" Type="http://schemas.openxmlformats.org/officeDocument/2006/relationships/image" Target="../media/image18.png"/><Relationship Id="rId2" Type="http://schemas.openxmlformats.org/officeDocument/2006/relationships/tags" Target="../tags/tag33.xml"/><Relationship Id="rId19" Type="http://schemas.openxmlformats.org/officeDocument/2006/relationships/tags" Target="../tags/tag45.xml"/><Relationship Id="rId18" Type="http://schemas.openxmlformats.org/officeDocument/2006/relationships/image" Target="../media/image17.png"/><Relationship Id="rId17" Type="http://schemas.openxmlformats.org/officeDocument/2006/relationships/tags" Target="../tags/tag44.xml"/><Relationship Id="rId16" Type="http://schemas.openxmlformats.org/officeDocument/2006/relationships/image" Target="../media/image16.png"/><Relationship Id="rId15" Type="http://schemas.openxmlformats.org/officeDocument/2006/relationships/tags" Target="../tags/tag43.xml"/><Relationship Id="rId14" Type="http://schemas.openxmlformats.org/officeDocument/2006/relationships/image" Target="../media/image15.png"/><Relationship Id="rId13" Type="http://schemas.openxmlformats.org/officeDocument/2006/relationships/tags" Target="../tags/tag42.xml"/><Relationship Id="rId12" Type="http://schemas.openxmlformats.org/officeDocument/2006/relationships/image" Target="../media/image14.png"/><Relationship Id="rId11" Type="http://schemas.openxmlformats.org/officeDocument/2006/relationships/tags" Target="../tags/tag41.xml"/><Relationship Id="rId10" Type="http://schemas.openxmlformats.org/officeDocument/2006/relationships/image" Target="../media/image13.png"/><Relationship Id="rId1" Type="http://schemas.openxmlformats.org/officeDocument/2006/relationships/tags" Target="../tags/tag3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5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image" Target="../media/image19.png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7" Type="http://schemas.openxmlformats.org/officeDocument/2006/relationships/notesSlide" Target="../notesSlides/notesSlide4.xml"/><Relationship Id="rId36" Type="http://schemas.openxmlformats.org/officeDocument/2006/relationships/slideLayout" Target="../slideLayouts/slideLayout5.xml"/><Relationship Id="rId35" Type="http://schemas.openxmlformats.org/officeDocument/2006/relationships/tags" Target="../tags/tag145.xml"/><Relationship Id="rId34" Type="http://schemas.openxmlformats.org/officeDocument/2006/relationships/tags" Target="../tags/tag144.xml"/><Relationship Id="rId33" Type="http://schemas.openxmlformats.org/officeDocument/2006/relationships/tags" Target="../tags/tag143.xml"/><Relationship Id="rId32" Type="http://schemas.openxmlformats.org/officeDocument/2006/relationships/tags" Target="../tags/tag142.xml"/><Relationship Id="rId31" Type="http://schemas.openxmlformats.org/officeDocument/2006/relationships/tags" Target="../tags/tag141.xml"/><Relationship Id="rId30" Type="http://schemas.openxmlformats.org/officeDocument/2006/relationships/tags" Target="../tags/tag140.xml"/><Relationship Id="rId3" Type="http://schemas.openxmlformats.org/officeDocument/2006/relationships/tags" Target="../tags/tag113.xml"/><Relationship Id="rId29" Type="http://schemas.openxmlformats.org/officeDocument/2006/relationships/tags" Target="../tags/tag139.xml"/><Relationship Id="rId28" Type="http://schemas.openxmlformats.org/officeDocument/2006/relationships/tags" Target="../tags/tag138.xml"/><Relationship Id="rId27" Type="http://schemas.openxmlformats.org/officeDocument/2006/relationships/tags" Target="../tags/tag137.xml"/><Relationship Id="rId26" Type="http://schemas.openxmlformats.org/officeDocument/2006/relationships/tags" Target="../tags/tag136.xml"/><Relationship Id="rId25" Type="http://schemas.openxmlformats.org/officeDocument/2006/relationships/tags" Target="../tags/tag135.xml"/><Relationship Id="rId24" Type="http://schemas.openxmlformats.org/officeDocument/2006/relationships/tags" Target="../tags/tag134.xml"/><Relationship Id="rId23" Type="http://schemas.openxmlformats.org/officeDocument/2006/relationships/tags" Target="../tags/tag133.xml"/><Relationship Id="rId22" Type="http://schemas.openxmlformats.org/officeDocument/2006/relationships/tags" Target="../tags/tag132.xml"/><Relationship Id="rId21" Type="http://schemas.openxmlformats.org/officeDocument/2006/relationships/tags" Target="../tags/tag131.xml"/><Relationship Id="rId20" Type="http://schemas.openxmlformats.org/officeDocument/2006/relationships/tags" Target="../tags/tag130.xml"/><Relationship Id="rId2" Type="http://schemas.openxmlformats.org/officeDocument/2006/relationships/tags" Target="../tags/tag112.xml"/><Relationship Id="rId19" Type="http://schemas.openxmlformats.org/officeDocument/2006/relationships/tags" Target="../tags/tag129.xml"/><Relationship Id="rId18" Type="http://schemas.openxmlformats.org/officeDocument/2006/relationships/tags" Target="../tags/tag128.xml"/><Relationship Id="rId17" Type="http://schemas.openxmlformats.org/officeDocument/2006/relationships/tags" Target="../tags/tag127.xml"/><Relationship Id="rId16" Type="http://schemas.openxmlformats.org/officeDocument/2006/relationships/tags" Target="../tags/tag126.xml"/><Relationship Id="rId15" Type="http://schemas.openxmlformats.org/officeDocument/2006/relationships/tags" Target="../tags/tag125.xml"/><Relationship Id="rId14" Type="http://schemas.openxmlformats.org/officeDocument/2006/relationships/tags" Target="../tags/tag124.xml"/><Relationship Id="rId13" Type="http://schemas.openxmlformats.org/officeDocument/2006/relationships/tags" Target="../tags/tag123.xml"/><Relationship Id="rId12" Type="http://schemas.openxmlformats.org/officeDocument/2006/relationships/tags" Target="../tags/tag122.xml"/><Relationship Id="rId11" Type="http://schemas.openxmlformats.org/officeDocument/2006/relationships/tags" Target="../tags/tag121.xml"/><Relationship Id="rId10" Type="http://schemas.openxmlformats.org/officeDocument/2006/relationships/tags" Target="../tags/tag120.xml"/><Relationship Id="rId1" Type="http://schemas.openxmlformats.org/officeDocument/2006/relationships/tags" Target="../tags/tag111.xml"/></Relationships>
</file>

<file path=ppt/slides/_rels/slide5.xml.rels><?xml version="1.0" encoding="UTF-8" standalone="yes"?>
<Relationships xmlns="http://schemas.openxmlformats.org/package/2006/relationships"><Relationship Id="rId90" Type="http://schemas.openxmlformats.org/officeDocument/2006/relationships/notesSlide" Target="../notesSlides/notesSlide5.xml"/><Relationship Id="rId9" Type="http://schemas.openxmlformats.org/officeDocument/2006/relationships/tags" Target="../tags/tag150.xml"/><Relationship Id="rId89" Type="http://schemas.openxmlformats.org/officeDocument/2006/relationships/slideLayout" Target="../slideLayouts/slideLayout5.xml"/><Relationship Id="rId88" Type="http://schemas.openxmlformats.org/officeDocument/2006/relationships/tags" Target="../tags/tag223.xml"/><Relationship Id="rId87" Type="http://schemas.openxmlformats.org/officeDocument/2006/relationships/tags" Target="../tags/tag222.xml"/><Relationship Id="rId86" Type="http://schemas.openxmlformats.org/officeDocument/2006/relationships/tags" Target="../tags/tag221.xml"/><Relationship Id="rId85" Type="http://schemas.openxmlformats.org/officeDocument/2006/relationships/tags" Target="../tags/tag220.xml"/><Relationship Id="rId84" Type="http://schemas.openxmlformats.org/officeDocument/2006/relationships/tags" Target="../tags/tag219.xml"/><Relationship Id="rId83" Type="http://schemas.openxmlformats.org/officeDocument/2006/relationships/tags" Target="../tags/tag218.xml"/><Relationship Id="rId82" Type="http://schemas.openxmlformats.org/officeDocument/2006/relationships/tags" Target="../tags/tag217.xml"/><Relationship Id="rId81" Type="http://schemas.openxmlformats.org/officeDocument/2006/relationships/tags" Target="../tags/tag216.xml"/><Relationship Id="rId80" Type="http://schemas.openxmlformats.org/officeDocument/2006/relationships/image" Target="../media/image29.jpeg"/><Relationship Id="rId8" Type="http://schemas.openxmlformats.org/officeDocument/2006/relationships/image" Target="../media/image23.svg"/><Relationship Id="rId79" Type="http://schemas.openxmlformats.org/officeDocument/2006/relationships/tags" Target="../tags/tag215.xml"/><Relationship Id="rId78" Type="http://schemas.openxmlformats.org/officeDocument/2006/relationships/tags" Target="../tags/tag214.xml"/><Relationship Id="rId77" Type="http://schemas.openxmlformats.org/officeDocument/2006/relationships/tags" Target="../tags/tag213.xml"/><Relationship Id="rId76" Type="http://schemas.openxmlformats.org/officeDocument/2006/relationships/tags" Target="../tags/tag212.xml"/><Relationship Id="rId75" Type="http://schemas.openxmlformats.org/officeDocument/2006/relationships/tags" Target="../tags/tag211.xml"/><Relationship Id="rId74" Type="http://schemas.openxmlformats.org/officeDocument/2006/relationships/tags" Target="../tags/tag210.xml"/><Relationship Id="rId73" Type="http://schemas.openxmlformats.org/officeDocument/2006/relationships/tags" Target="../tags/tag209.xml"/><Relationship Id="rId72" Type="http://schemas.openxmlformats.org/officeDocument/2006/relationships/tags" Target="../tags/tag208.xml"/><Relationship Id="rId71" Type="http://schemas.openxmlformats.org/officeDocument/2006/relationships/tags" Target="../tags/tag207.xml"/><Relationship Id="rId70" Type="http://schemas.openxmlformats.org/officeDocument/2006/relationships/tags" Target="../tags/tag206.xml"/><Relationship Id="rId7" Type="http://schemas.openxmlformats.org/officeDocument/2006/relationships/image" Target="../media/image22.png"/><Relationship Id="rId69" Type="http://schemas.openxmlformats.org/officeDocument/2006/relationships/tags" Target="../tags/tag205.xml"/><Relationship Id="rId68" Type="http://schemas.openxmlformats.org/officeDocument/2006/relationships/tags" Target="../tags/tag204.xml"/><Relationship Id="rId67" Type="http://schemas.openxmlformats.org/officeDocument/2006/relationships/tags" Target="../tags/tag203.xml"/><Relationship Id="rId66" Type="http://schemas.openxmlformats.org/officeDocument/2006/relationships/tags" Target="../tags/tag202.xml"/><Relationship Id="rId65" Type="http://schemas.openxmlformats.org/officeDocument/2006/relationships/tags" Target="../tags/tag201.xml"/><Relationship Id="rId64" Type="http://schemas.openxmlformats.org/officeDocument/2006/relationships/tags" Target="../tags/tag200.xml"/><Relationship Id="rId63" Type="http://schemas.openxmlformats.org/officeDocument/2006/relationships/tags" Target="../tags/tag199.xml"/><Relationship Id="rId62" Type="http://schemas.openxmlformats.org/officeDocument/2006/relationships/tags" Target="../tags/tag198.xml"/><Relationship Id="rId61" Type="http://schemas.openxmlformats.org/officeDocument/2006/relationships/tags" Target="../tags/tag197.xml"/><Relationship Id="rId60" Type="http://schemas.openxmlformats.org/officeDocument/2006/relationships/image" Target="../media/image28.jpeg"/><Relationship Id="rId6" Type="http://schemas.openxmlformats.org/officeDocument/2006/relationships/tags" Target="../tags/tag149.xml"/><Relationship Id="rId59" Type="http://schemas.openxmlformats.org/officeDocument/2006/relationships/tags" Target="../tags/tag196.xml"/><Relationship Id="rId58" Type="http://schemas.openxmlformats.org/officeDocument/2006/relationships/tags" Target="../tags/tag195.xml"/><Relationship Id="rId57" Type="http://schemas.openxmlformats.org/officeDocument/2006/relationships/image" Target="../media/image27.jpeg"/><Relationship Id="rId56" Type="http://schemas.openxmlformats.org/officeDocument/2006/relationships/tags" Target="../tags/tag194.xml"/><Relationship Id="rId55" Type="http://schemas.openxmlformats.org/officeDocument/2006/relationships/tags" Target="../tags/tag193.xml"/><Relationship Id="rId54" Type="http://schemas.openxmlformats.org/officeDocument/2006/relationships/image" Target="../media/image26.png"/><Relationship Id="rId53" Type="http://schemas.openxmlformats.org/officeDocument/2006/relationships/tags" Target="../tags/tag192.xml"/><Relationship Id="rId52" Type="http://schemas.openxmlformats.org/officeDocument/2006/relationships/tags" Target="../tags/tag191.xml"/><Relationship Id="rId51" Type="http://schemas.openxmlformats.org/officeDocument/2006/relationships/tags" Target="../tags/tag190.xml"/><Relationship Id="rId50" Type="http://schemas.openxmlformats.org/officeDocument/2006/relationships/tags" Target="../tags/tag189.xml"/><Relationship Id="rId5" Type="http://schemas.openxmlformats.org/officeDocument/2006/relationships/tags" Target="../tags/tag148.xml"/><Relationship Id="rId49" Type="http://schemas.openxmlformats.org/officeDocument/2006/relationships/tags" Target="../tags/tag188.xml"/><Relationship Id="rId48" Type="http://schemas.openxmlformats.org/officeDocument/2006/relationships/tags" Target="../tags/tag187.xml"/><Relationship Id="rId47" Type="http://schemas.openxmlformats.org/officeDocument/2006/relationships/tags" Target="../tags/tag186.xml"/><Relationship Id="rId46" Type="http://schemas.openxmlformats.org/officeDocument/2006/relationships/tags" Target="../tags/tag185.xml"/><Relationship Id="rId45" Type="http://schemas.openxmlformats.org/officeDocument/2006/relationships/tags" Target="../tags/tag184.xml"/><Relationship Id="rId44" Type="http://schemas.openxmlformats.org/officeDocument/2006/relationships/tags" Target="../tags/tag183.xml"/><Relationship Id="rId43" Type="http://schemas.openxmlformats.org/officeDocument/2006/relationships/tags" Target="../tags/tag182.xml"/><Relationship Id="rId42" Type="http://schemas.openxmlformats.org/officeDocument/2006/relationships/tags" Target="../tags/tag181.xml"/><Relationship Id="rId41" Type="http://schemas.openxmlformats.org/officeDocument/2006/relationships/tags" Target="../tags/tag180.xml"/><Relationship Id="rId40" Type="http://schemas.openxmlformats.org/officeDocument/2006/relationships/tags" Target="../tags/tag179.xml"/><Relationship Id="rId4" Type="http://schemas.openxmlformats.org/officeDocument/2006/relationships/image" Target="../media/image21.svg"/><Relationship Id="rId39" Type="http://schemas.openxmlformats.org/officeDocument/2006/relationships/tags" Target="../tags/tag178.xml"/><Relationship Id="rId38" Type="http://schemas.openxmlformats.org/officeDocument/2006/relationships/tags" Target="../tags/tag177.xml"/><Relationship Id="rId37" Type="http://schemas.openxmlformats.org/officeDocument/2006/relationships/tags" Target="../tags/tag176.xml"/><Relationship Id="rId36" Type="http://schemas.openxmlformats.org/officeDocument/2006/relationships/tags" Target="../tags/tag175.xml"/><Relationship Id="rId35" Type="http://schemas.openxmlformats.org/officeDocument/2006/relationships/tags" Target="../tags/tag174.xml"/><Relationship Id="rId34" Type="http://schemas.openxmlformats.org/officeDocument/2006/relationships/tags" Target="../tags/tag173.xml"/><Relationship Id="rId33" Type="http://schemas.openxmlformats.org/officeDocument/2006/relationships/tags" Target="../tags/tag172.xml"/><Relationship Id="rId32" Type="http://schemas.openxmlformats.org/officeDocument/2006/relationships/tags" Target="../tags/tag171.xml"/><Relationship Id="rId31" Type="http://schemas.openxmlformats.org/officeDocument/2006/relationships/tags" Target="../tags/tag170.xml"/><Relationship Id="rId30" Type="http://schemas.openxmlformats.org/officeDocument/2006/relationships/tags" Target="../tags/tag169.xml"/><Relationship Id="rId3" Type="http://schemas.openxmlformats.org/officeDocument/2006/relationships/image" Target="../media/image20.png"/><Relationship Id="rId29" Type="http://schemas.openxmlformats.org/officeDocument/2006/relationships/tags" Target="../tags/tag168.xml"/><Relationship Id="rId28" Type="http://schemas.openxmlformats.org/officeDocument/2006/relationships/tags" Target="../tags/tag167.xml"/><Relationship Id="rId27" Type="http://schemas.openxmlformats.org/officeDocument/2006/relationships/tags" Target="../tags/tag166.xml"/><Relationship Id="rId26" Type="http://schemas.openxmlformats.org/officeDocument/2006/relationships/tags" Target="../tags/tag165.xml"/><Relationship Id="rId25" Type="http://schemas.openxmlformats.org/officeDocument/2006/relationships/tags" Target="../tags/tag164.xml"/><Relationship Id="rId24" Type="http://schemas.openxmlformats.org/officeDocument/2006/relationships/tags" Target="../tags/tag163.xml"/><Relationship Id="rId23" Type="http://schemas.openxmlformats.org/officeDocument/2006/relationships/tags" Target="../tags/tag162.xml"/><Relationship Id="rId22" Type="http://schemas.openxmlformats.org/officeDocument/2006/relationships/tags" Target="../tags/tag161.xml"/><Relationship Id="rId21" Type="http://schemas.openxmlformats.org/officeDocument/2006/relationships/image" Target="../media/image25.png"/><Relationship Id="rId20" Type="http://schemas.openxmlformats.org/officeDocument/2006/relationships/tags" Target="../tags/tag160.xml"/><Relationship Id="rId2" Type="http://schemas.openxmlformats.org/officeDocument/2006/relationships/tags" Target="../tags/tag147.xml"/><Relationship Id="rId19" Type="http://schemas.openxmlformats.org/officeDocument/2006/relationships/image" Target="../media/image24.png"/><Relationship Id="rId18" Type="http://schemas.openxmlformats.org/officeDocument/2006/relationships/tags" Target="../tags/tag159.xml"/><Relationship Id="rId17" Type="http://schemas.openxmlformats.org/officeDocument/2006/relationships/tags" Target="../tags/tag158.xml"/><Relationship Id="rId16" Type="http://schemas.openxmlformats.org/officeDocument/2006/relationships/tags" Target="../tags/tag157.xml"/><Relationship Id="rId15" Type="http://schemas.openxmlformats.org/officeDocument/2006/relationships/tags" Target="../tags/tag156.xml"/><Relationship Id="rId14" Type="http://schemas.openxmlformats.org/officeDocument/2006/relationships/tags" Target="../tags/tag155.xml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tags" Target="../tags/tag146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32.xml"/><Relationship Id="rId8" Type="http://schemas.openxmlformats.org/officeDocument/2006/relationships/tags" Target="../tags/tag231.xml"/><Relationship Id="rId7" Type="http://schemas.openxmlformats.org/officeDocument/2006/relationships/tags" Target="../tags/tag230.xml"/><Relationship Id="rId64" Type="http://schemas.openxmlformats.org/officeDocument/2006/relationships/notesSlide" Target="../notesSlides/notesSlide6.xml"/><Relationship Id="rId63" Type="http://schemas.openxmlformats.org/officeDocument/2006/relationships/slideLayout" Target="../slideLayouts/slideLayout5.xml"/><Relationship Id="rId62" Type="http://schemas.openxmlformats.org/officeDocument/2006/relationships/image" Target="../media/image32.png"/><Relationship Id="rId61" Type="http://schemas.openxmlformats.org/officeDocument/2006/relationships/tags" Target="../tags/tag282.xml"/><Relationship Id="rId60" Type="http://schemas.openxmlformats.org/officeDocument/2006/relationships/image" Target="../media/image31.png"/><Relationship Id="rId6" Type="http://schemas.openxmlformats.org/officeDocument/2006/relationships/tags" Target="../tags/tag229.xml"/><Relationship Id="rId59" Type="http://schemas.openxmlformats.org/officeDocument/2006/relationships/tags" Target="../tags/tag281.xml"/><Relationship Id="rId58" Type="http://schemas.openxmlformats.org/officeDocument/2006/relationships/image" Target="../media/image30.png"/><Relationship Id="rId57" Type="http://schemas.openxmlformats.org/officeDocument/2006/relationships/tags" Target="../tags/tag280.xml"/><Relationship Id="rId56" Type="http://schemas.openxmlformats.org/officeDocument/2006/relationships/tags" Target="../tags/tag279.xml"/><Relationship Id="rId55" Type="http://schemas.openxmlformats.org/officeDocument/2006/relationships/tags" Target="../tags/tag278.xml"/><Relationship Id="rId54" Type="http://schemas.openxmlformats.org/officeDocument/2006/relationships/tags" Target="../tags/tag277.xml"/><Relationship Id="rId53" Type="http://schemas.openxmlformats.org/officeDocument/2006/relationships/tags" Target="../tags/tag276.xml"/><Relationship Id="rId52" Type="http://schemas.openxmlformats.org/officeDocument/2006/relationships/tags" Target="../tags/tag275.xml"/><Relationship Id="rId51" Type="http://schemas.openxmlformats.org/officeDocument/2006/relationships/tags" Target="../tags/tag274.xml"/><Relationship Id="rId50" Type="http://schemas.openxmlformats.org/officeDocument/2006/relationships/tags" Target="../tags/tag273.xml"/><Relationship Id="rId5" Type="http://schemas.openxmlformats.org/officeDocument/2006/relationships/tags" Target="../tags/tag228.xml"/><Relationship Id="rId49" Type="http://schemas.openxmlformats.org/officeDocument/2006/relationships/tags" Target="../tags/tag272.xml"/><Relationship Id="rId48" Type="http://schemas.openxmlformats.org/officeDocument/2006/relationships/tags" Target="../tags/tag271.xml"/><Relationship Id="rId47" Type="http://schemas.openxmlformats.org/officeDocument/2006/relationships/tags" Target="../tags/tag270.xml"/><Relationship Id="rId46" Type="http://schemas.openxmlformats.org/officeDocument/2006/relationships/tags" Target="../tags/tag269.xml"/><Relationship Id="rId45" Type="http://schemas.openxmlformats.org/officeDocument/2006/relationships/tags" Target="../tags/tag268.xml"/><Relationship Id="rId44" Type="http://schemas.openxmlformats.org/officeDocument/2006/relationships/tags" Target="../tags/tag267.xml"/><Relationship Id="rId43" Type="http://schemas.openxmlformats.org/officeDocument/2006/relationships/tags" Target="../tags/tag266.xml"/><Relationship Id="rId42" Type="http://schemas.openxmlformats.org/officeDocument/2006/relationships/tags" Target="../tags/tag265.xml"/><Relationship Id="rId41" Type="http://schemas.openxmlformats.org/officeDocument/2006/relationships/tags" Target="../tags/tag264.xml"/><Relationship Id="rId40" Type="http://schemas.openxmlformats.org/officeDocument/2006/relationships/tags" Target="../tags/tag263.xml"/><Relationship Id="rId4" Type="http://schemas.openxmlformats.org/officeDocument/2006/relationships/tags" Target="../tags/tag227.xml"/><Relationship Id="rId39" Type="http://schemas.openxmlformats.org/officeDocument/2006/relationships/tags" Target="../tags/tag262.xml"/><Relationship Id="rId38" Type="http://schemas.openxmlformats.org/officeDocument/2006/relationships/tags" Target="../tags/tag261.xml"/><Relationship Id="rId37" Type="http://schemas.openxmlformats.org/officeDocument/2006/relationships/tags" Target="../tags/tag260.xml"/><Relationship Id="rId36" Type="http://schemas.openxmlformats.org/officeDocument/2006/relationships/tags" Target="../tags/tag259.xml"/><Relationship Id="rId35" Type="http://schemas.openxmlformats.org/officeDocument/2006/relationships/tags" Target="../tags/tag258.xml"/><Relationship Id="rId34" Type="http://schemas.openxmlformats.org/officeDocument/2006/relationships/tags" Target="../tags/tag257.xml"/><Relationship Id="rId33" Type="http://schemas.openxmlformats.org/officeDocument/2006/relationships/tags" Target="../tags/tag256.xml"/><Relationship Id="rId32" Type="http://schemas.openxmlformats.org/officeDocument/2006/relationships/tags" Target="../tags/tag255.xml"/><Relationship Id="rId31" Type="http://schemas.openxmlformats.org/officeDocument/2006/relationships/tags" Target="../tags/tag254.xml"/><Relationship Id="rId30" Type="http://schemas.openxmlformats.org/officeDocument/2006/relationships/tags" Target="../tags/tag253.xml"/><Relationship Id="rId3" Type="http://schemas.openxmlformats.org/officeDocument/2006/relationships/tags" Target="../tags/tag226.xml"/><Relationship Id="rId29" Type="http://schemas.openxmlformats.org/officeDocument/2006/relationships/tags" Target="../tags/tag252.xml"/><Relationship Id="rId28" Type="http://schemas.openxmlformats.org/officeDocument/2006/relationships/tags" Target="../tags/tag251.xml"/><Relationship Id="rId27" Type="http://schemas.openxmlformats.org/officeDocument/2006/relationships/tags" Target="../tags/tag250.xml"/><Relationship Id="rId26" Type="http://schemas.openxmlformats.org/officeDocument/2006/relationships/tags" Target="../tags/tag249.xml"/><Relationship Id="rId25" Type="http://schemas.openxmlformats.org/officeDocument/2006/relationships/tags" Target="../tags/tag248.xml"/><Relationship Id="rId24" Type="http://schemas.openxmlformats.org/officeDocument/2006/relationships/tags" Target="../tags/tag247.xml"/><Relationship Id="rId23" Type="http://schemas.openxmlformats.org/officeDocument/2006/relationships/tags" Target="../tags/tag246.xml"/><Relationship Id="rId22" Type="http://schemas.openxmlformats.org/officeDocument/2006/relationships/tags" Target="../tags/tag245.xml"/><Relationship Id="rId21" Type="http://schemas.openxmlformats.org/officeDocument/2006/relationships/tags" Target="../tags/tag244.xml"/><Relationship Id="rId20" Type="http://schemas.openxmlformats.org/officeDocument/2006/relationships/tags" Target="../tags/tag243.xml"/><Relationship Id="rId2" Type="http://schemas.openxmlformats.org/officeDocument/2006/relationships/tags" Target="../tags/tag225.xml"/><Relationship Id="rId19" Type="http://schemas.openxmlformats.org/officeDocument/2006/relationships/tags" Target="../tags/tag242.xml"/><Relationship Id="rId18" Type="http://schemas.openxmlformats.org/officeDocument/2006/relationships/tags" Target="../tags/tag241.xml"/><Relationship Id="rId17" Type="http://schemas.openxmlformats.org/officeDocument/2006/relationships/tags" Target="../tags/tag240.xml"/><Relationship Id="rId16" Type="http://schemas.openxmlformats.org/officeDocument/2006/relationships/tags" Target="../tags/tag239.xml"/><Relationship Id="rId15" Type="http://schemas.openxmlformats.org/officeDocument/2006/relationships/tags" Target="../tags/tag238.xml"/><Relationship Id="rId14" Type="http://schemas.openxmlformats.org/officeDocument/2006/relationships/tags" Target="../tags/tag237.xml"/><Relationship Id="rId13" Type="http://schemas.openxmlformats.org/officeDocument/2006/relationships/tags" Target="../tags/tag236.xml"/><Relationship Id="rId12" Type="http://schemas.openxmlformats.org/officeDocument/2006/relationships/tags" Target="../tags/tag235.xml"/><Relationship Id="rId11" Type="http://schemas.openxmlformats.org/officeDocument/2006/relationships/tags" Target="../tags/tag234.xml"/><Relationship Id="rId10" Type="http://schemas.openxmlformats.org/officeDocument/2006/relationships/tags" Target="../tags/tag233.xml"/><Relationship Id="rId1" Type="http://schemas.openxmlformats.org/officeDocument/2006/relationships/tags" Target="../tags/tag2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文本占位符 2"/>
          <p:cNvSpPr>
            <a:spLocks noGrp="1"/>
          </p:cNvSpPr>
          <p:nvPr/>
        </p:nvSpPr>
        <p:spPr>
          <a:xfrm>
            <a:off x="575310" y="156210"/>
            <a:ext cx="7657465" cy="571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zh-CN" altLang="en-US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优维科技</a:t>
            </a:r>
            <a:r>
              <a:rPr lang="en-US" altLang="zh-CN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EasyOps</a:t>
            </a:r>
            <a:r>
              <a:rPr lang="zh-CN" altLang="en-US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平台产品架构</a:t>
            </a:r>
            <a:endParaRPr lang="en-US" altLang="zh-CN" sz="2400" dirty="0">
              <a:latin typeface="微软雅黑" panose="020B0604030504040204" pitchFamily="34" charset="-122"/>
              <a:ea typeface="微软雅黑" panose="020B0604030504040204" pitchFamily="34" charset="-122"/>
              <a:sym typeface="+mn-ea"/>
            </a:endParaRPr>
          </a:p>
        </p:txBody>
      </p:sp>
      <p:graphicFrame>
        <p:nvGraphicFramePr>
          <p:cNvPr id="213" name="表格 212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381760" y="1129030"/>
          <a:ext cx="3201035" cy="838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3115"/>
                <a:gridCol w="1072615"/>
                <a:gridCol w="801370"/>
                <a:gridCol w="533935"/>
              </a:tblGrid>
              <a:tr h="395605">
                <a:tc gridSpan="4">
                  <a:txBody>
                    <a:bodyPr/>
                    <a:p>
                      <a:pPr algn="ctr"/>
                      <a:r>
                        <a:rPr lang="zh-CN" altLang="en-US" dirty="0"/>
                        <a:t>业务数字化</a:t>
                      </a:r>
                      <a:r>
                        <a:rPr lang="zh-CN" altLang="en-US" dirty="0"/>
                        <a:t>场景</a:t>
                      </a:r>
                      <a:endParaRPr lang="zh-CN" altLang="en-US" dirty="0"/>
                    </a:p>
                  </a:txBody>
                  <a:tcPr anchor="ctr" anchorCtr="0">
                    <a:solidFill>
                      <a:srgbClr val="00B0F0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>
                    <a:solidFill>
                      <a:srgbClr val="00B0F0"/>
                    </a:solidFill>
                  </a:tcPr>
                </a:tc>
              </a:tr>
              <a:tr h="443230">
                <a:tc>
                  <a:txBody>
                    <a:bodyPr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业务全景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视图</a:t>
                      </a:r>
                      <a:endParaRPr lang="zh-CN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架构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可视化</a:t>
                      </a:r>
                      <a:endParaRPr lang="zh-CN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可观测</a:t>
                      </a:r>
                      <a:endParaRPr lang="zh-CN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00" dirty="0">
                          <a:solidFill>
                            <a:schemeClr val="bg1"/>
                          </a:solidFill>
                        </a:rPr>
                        <a:t>...</a:t>
                      </a:r>
                      <a:endParaRPr lang="en-US" altLang="zh-CN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4" name="表格 213"/>
          <p:cNvGraphicFramePr>
            <a:graphicFrameLocks noGrp="1"/>
          </p:cNvGraphicFramePr>
          <p:nvPr>
            <p:custDataLst>
              <p:tags r:id="rId2"/>
            </p:custDataLst>
          </p:nvPr>
        </p:nvGraphicFramePr>
        <p:xfrm>
          <a:off x="4614545" y="1129030"/>
          <a:ext cx="3369310" cy="913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5520"/>
                <a:gridCol w="1074420"/>
                <a:gridCol w="981710"/>
                <a:gridCol w="327660"/>
              </a:tblGrid>
              <a:tr h="456565">
                <a:tc gridSpan="4">
                  <a:txBody>
                    <a:bodyPr/>
                    <a:p>
                      <a:pPr algn="ctr"/>
                      <a:r>
                        <a:rPr lang="en-US" altLang="zh-CN" dirty="0"/>
                        <a:t>IT</a:t>
                      </a:r>
                      <a:r>
                        <a:rPr lang="zh-CN" altLang="en-US" dirty="0"/>
                        <a:t>资源运营</a:t>
                      </a:r>
                      <a:r>
                        <a:rPr lang="zh-CN" altLang="en-US" dirty="0"/>
                        <a:t>场景</a:t>
                      </a:r>
                      <a:endParaRPr lang="zh-CN" altLang="en-US" dirty="0"/>
                    </a:p>
                  </a:txBody>
                  <a:tcPr anchor="ctr" anchorCtr="0">
                    <a:solidFill>
                      <a:srgbClr val="00B0F0"/>
                    </a:solidFill>
                  </a:tcPr>
                </a:tc>
                <a:tc hMerge="1">
                  <a:tcPr>
                    <a:solidFill>
                      <a:srgbClr val="00B0F0"/>
                    </a:solidFill>
                  </a:tcPr>
                </a:tc>
                <a:tc hMerge="1">
                  <a:tcPr>
                    <a:solidFill>
                      <a:srgbClr val="00B0F0"/>
                    </a:solidFill>
                  </a:tcPr>
                </a:tc>
                <a:tc hMerge="1">
                  <a:tcPr>
                    <a:solidFill>
                      <a:srgbClr val="00B0F0"/>
                    </a:solidFill>
                  </a:tcPr>
                </a:tc>
              </a:tr>
              <a:tr h="456565">
                <a:tc>
                  <a:txBody>
                    <a:bodyPr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容量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管理</a:t>
                      </a:r>
                      <a:endParaRPr lang="zh-CN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报表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可视化</a:t>
                      </a:r>
                      <a:endParaRPr lang="zh-CN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数据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治理</a:t>
                      </a:r>
                      <a:endParaRPr lang="zh-CN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…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5" name="表格 21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8004810" y="1129030"/>
          <a:ext cx="4083685" cy="913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1440"/>
                <a:gridCol w="1360805"/>
                <a:gridCol w="1361440"/>
              </a:tblGrid>
              <a:tr h="452755">
                <a:tc gridSpan="3">
                  <a:txBody>
                    <a:bodyPr/>
                    <a:p>
                      <a:pPr algn="ctr">
                        <a:buClrTx/>
                        <a:buSzTx/>
                        <a:buFontTx/>
                      </a:pPr>
                      <a:r>
                        <a:rPr lang="zh-CN" altLang="en-US" dirty="0"/>
                        <a:t>业务连续性管理</a:t>
                      </a:r>
                      <a:r>
                        <a:rPr lang="zh-CN" altLang="en-US" dirty="0"/>
                        <a:t>场景</a:t>
                      </a:r>
                      <a:endParaRPr lang="zh-CN" altLang="en-US" dirty="0"/>
                    </a:p>
                  </a:txBody>
                  <a:tcPr anchor="ctr" anchorCtr="0">
                    <a:solidFill>
                      <a:srgbClr val="00B0F0"/>
                    </a:solidFill>
                  </a:tcPr>
                </a:tc>
                <a:tc hMerge="1">
                  <a:tcPr>
                    <a:solidFill>
                      <a:srgbClr val="00B0F0"/>
                    </a:solidFill>
                  </a:tcPr>
                </a:tc>
                <a:tc hMerge="1">
                  <a:tcPr>
                    <a:solidFill>
                      <a:srgbClr val="00B0F0"/>
                    </a:solidFill>
                  </a:tcPr>
                </a:tc>
              </a:tr>
              <a:tr h="460375">
                <a:tc>
                  <a:txBody>
                    <a:bodyPr/>
                    <a:p>
                      <a:pPr algn="ctr"/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变更管理</a:t>
                      </a:r>
                      <a:endParaRPr lang="zh-CN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sym typeface="+mn-ea"/>
                        </a:rPr>
                        <a:t>应急管理</a:t>
                      </a:r>
                      <a:endParaRPr lang="zh-CN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rgbClr val="00B0F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 dirty="0">
                          <a:solidFill>
                            <a:schemeClr val="bg1"/>
                          </a:solidFill>
                          <a:sym typeface="+mn-ea"/>
                        </a:rPr>
                        <a:t>故障处置</a:t>
                      </a:r>
                      <a:endParaRPr lang="zh-CN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6" name="表格 215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375993" y="2111836"/>
          <a:ext cx="1157226" cy="88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7226"/>
              </a:tblGrid>
              <a:tr h="889000">
                <a:tc>
                  <a:txBody>
                    <a:bodyPr/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zh-CN" altLang="en-US" sz="1600" dirty="0"/>
                        <a:t>服务层</a:t>
                      </a:r>
                      <a:endParaRPr lang="zh-CN" altLang="en-US" sz="1600" dirty="0"/>
                    </a:p>
                  </a:txBody>
                  <a:tcPr>
                    <a:solidFill>
                      <a:srgbClr val="EC7A2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7" name="表格 216"/>
          <p:cNvGraphicFramePr>
            <a:graphicFrameLocks noGrp="1"/>
          </p:cNvGraphicFramePr>
          <p:nvPr>
            <p:custDataLst>
              <p:tags r:id="rId5"/>
            </p:custDataLst>
          </p:nvPr>
        </p:nvGraphicFramePr>
        <p:xfrm>
          <a:off x="1379664" y="3088944"/>
          <a:ext cx="9126776" cy="1693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3800"/>
                <a:gridCol w="7932976"/>
              </a:tblGrid>
              <a:tr h="728345">
                <a:tc rowSpan="2">
                  <a:txBody>
                    <a:bodyPr/>
                    <a:p>
                      <a:pPr algn="ctr"/>
                      <a:endParaRPr lang="en-US" altLang="zh-CN" dirty="0"/>
                    </a:p>
                    <a:p>
                      <a:pPr algn="ctr"/>
                      <a:endParaRPr lang="en-US" altLang="zh-CN" dirty="0"/>
                    </a:p>
                    <a:p>
                      <a:pPr algn="ctr"/>
                      <a:r>
                        <a:rPr lang="zh-CN" altLang="en-US" sz="1600" dirty="0"/>
                        <a:t>数据层</a:t>
                      </a:r>
                      <a:endParaRPr lang="zh-CN" altLang="en-US" sz="1600" dirty="0"/>
                    </a:p>
                  </a:txBody>
                  <a:tcPr>
                    <a:solidFill>
                      <a:srgbClr val="FF9302"/>
                    </a:solidFill>
                  </a:tcPr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9302"/>
                    </a:solidFill>
                  </a:tcPr>
                </a:tc>
              </a:tr>
              <a:tr h="965543">
                <a:tc vMerge="1">
                  <a:tcPr/>
                </a:tc>
                <a:tc>
                  <a:txBody>
                    <a:bodyPr/>
                    <a:p>
                      <a:endParaRPr lang="zh-CN" altLang="en-US" dirty="0"/>
                    </a:p>
                  </a:txBody>
                  <a:tcPr>
                    <a:solidFill>
                      <a:srgbClr val="FF930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8" name="表格 217"/>
          <p:cNvGraphicFramePr>
            <a:graphicFrameLocks noGrp="1"/>
          </p:cNvGraphicFramePr>
          <p:nvPr>
            <p:custDataLst>
              <p:tags r:id="rId6"/>
            </p:custDataLst>
          </p:nvPr>
        </p:nvGraphicFramePr>
        <p:xfrm>
          <a:off x="2582308" y="2128715"/>
          <a:ext cx="7924132" cy="8381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1200"/>
                <a:gridCol w="1980866"/>
                <a:gridCol w="1981033"/>
                <a:gridCol w="1981033"/>
              </a:tblGrid>
              <a:tr h="419100">
                <a:tc gridSpan="4">
                  <a:txBody>
                    <a:bodyPr/>
                    <a:p>
                      <a:pPr algn="ctr"/>
                      <a:r>
                        <a:rPr lang="en-US" altLang="zh-CN" dirty="0"/>
                        <a:t>APIGateway</a:t>
                      </a:r>
                      <a:endParaRPr lang="en-US" altLang="zh-CN" dirty="0"/>
                    </a:p>
                  </a:txBody>
                  <a:tcPr anchor="ctr" anchorCtr="0">
                    <a:solidFill>
                      <a:srgbClr val="EC7A2C"/>
                    </a:solidFill>
                  </a:tcPr>
                </a:tc>
                <a:tc hMerge="1">
                  <a:tcPr>
                    <a:solidFill>
                      <a:srgbClr val="EC7A2C"/>
                    </a:solidFill>
                  </a:tcPr>
                </a:tc>
                <a:tc hMerge="1">
                  <a:tcPr>
                    <a:solidFill>
                      <a:srgbClr val="EC7A2C"/>
                    </a:solidFill>
                  </a:tcPr>
                </a:tc>
                <a:tc hMerge="1">
                  <a:tcPr>
                    <a:solidFill>
                      <a:srgbClr val="EC7A2C"/>
                    </a:solidFill>
                  </a:tcPr>
                </a:tc>
              </a:tr>
              <a:tr h="419031">
                <a:tc>
                  <a:txBody>
                    <a:bodyPr/>
                    <a:p>
                      <a:pPr algn="ctr"/>
                      <a:r>
                        <a:rPr lang="en-US" altLang="zh-CN" sz="1600" dirty="0">
                          <a:solidFill>
                            <a:schemeClr val="bg1"/>
                          </a:solidFill>
                          <a:latin typeface="Arial Regular" panose="020B0604020202090204" charset="0"/>
                          <a:cs typeface="Arial Regular" panose="020B0604020202090204" charset="0"/>
                        </a:rPr>
                        <a:t>CMDB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</a:rPr>
                        <a:t>配置服务</a:t>
                      </a:r>
                      <a:endParaRPr lang="zh-CN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rgbClr val="EC7A2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</a:rPr>
                        <a:t>超融合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</a:rPr>
                        <a:t>监控服务</a:t>
                      </a:r>
                      <a:endParaRPr lang="zh-CN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rgbClr val="EC7A2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</a:rPr>
                        <a:t>自动化服务</a:t>
                      </a:r>
                      <a:endParaRPr lang="zh-CN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rgbClr val="EC7A2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dirty="0">
                          <a:solidFill>
                            <a:schemeClr val="bg1"/>
                          </a:solidFill>
                        </a:rPr>
                        <a:t>流程工单</a:t>
                      </a:r>
                      <a:r>
                        <a:rPr lang="zh-CN" altLang="en-US" sz="1600" dirty="0">
                          <a:solidFill>
                            <a:schemeClr val="bg1"/>
                          </a:solidFill>
                        </a:rPr>
                        <a:t>服务</a:t>
                      </a:r>
                      <a:endParaRPr lang="zh-CN" altLang="en-US" sz="16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rgbClr val="EC7A2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9" name="表格 218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2590165" y="5029200"/>
          <a:ext cx="7956550" cy="1004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1310"/>
                <a:gridCol w="1591310"/>
                <a:gridCol w="1591310"/>
                <a:gridCol w="1591310"/>
                <a:gridCol w="1591310"/>
              </a:tblGrid>
              <a:tr h="1004570">
                <a:tc>
                  <a:txBody>
                    <a:bodyPr/>
                    <a:p>
                      <a:pPr algn="ctr"/>
                      <a:r>
                        <a:rPr lang="zh-CN" altLang="en-US" sz="1600" dirty="0"/>
                        <a:t>命令</a:t>
                      </a:r>
                      <a:r>
                        <a:rPr lang="zh-CN" altLang="en-US" sz="1600" dirty="0"/>
                        <a:t>通道</a:t>
                      </a:r>
                      <a:endParaRPr lang="zh-CN" altLang="en-US" sz="1600" dirty="0"/>
                    </a:p>
                  </a:txBody>
                  <a:tcPr anchor="ctr" anchorCtr="0">
                    <a:solidFill>
                      <a:srgbClr val="807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dirty="0"/>
                        <a:t>图存储、</a:t>
                      </a:r>
                      <a:endParaRPr lang="zh-CN" altLang="en-US" sz="1600" dirty="0"/>
                    </a:p>
                    <a:p>
                      <a:pPr algn="ctr"/>
                      <a:r>
                        <a:rPr lang="zh-CN" altLang="en-US" sz="1600" dirty="0"/>
                        <a:t>时序</a:t>
                      </a:r>
                      <a:r>
                        <a:rPr lang="zh-CN" altLang="en-US" sz="1600" dirty="0"/>
                        <a:t>存储</a:t>
                      </a:r>
                      <a:endParaRPr lang="zh-CN" altLang="en-US" sz="1600" dirty="0"/>
                    </a:p>
                  </a:txBody>
                  <a:tcPr anchor="ctr" anchorCtr="0">
                    <a:solidFill>
                      <a:srgbClr val="807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zh-CN" altLang="en-US" sz="1600" dirty="0"/>
                        <a:t>文件</a:t>
                      </a:r>
                      <a:r>
                        <a:rPr lang="zh-CN" altLang="en-US" sz="1600" dirty="0"/>
                        <a:t>分发</a:t>
                      </a:r>
                      <a:endParaRPr lang="zh-CN" altLang="en-US" sz="1600" dirty="0"/>
                    </a:p>
                  </a:txBody>
                  <a:tcPr anchor="ctr" anchorCtr="0">
                    <a:solidFill>
                      <a:srgbClr val="807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dirty="0"/>
                        <a:t>权限</a:t>
                      </a:r>
                      <a:r>
                        <a:rPr lang="zh-CN" altLang="en-US" sz="1600" dirty="0"/>
                        <a:t>管理</a:t>
                      </a:r>
                      <a:endParaRPr lang="zh-CN" altLang="en-US" sz="1600" dirty="0"/>
                    </a:p>
                  </a:txBody>
                  <a:tcPr anchor="ctr" anchorCtr="0">
                    <a:solidFill>
                      <a:srgbClr val="807FFF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600" dirty="0"/>
                        <a:t>安全</a:t>
                      </a:r>
                      <a:r>
                        <a:rPr lang="zh-CN" altLang="en-US" sz="1600" dirty="0"/>
                        <a:t>审计</a:t>
                      </a:r>
                      <a:endParaRPr lang="zh-CN" altLang="en-US" sz="1600" dirty="0"/>
                    </a:p>
                  </a:txBody>
                  <a:tcPr anchor="ctr" anchorCtr="0">
                    <a:solidFill>
                      <a:srgbClr val="807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1" name="表格 220"/>
          <p:cNvGraphicFramePr>
            <a:graphicFrameLocks noGrp="1"/>
          </p:cNvGraphicFramePr>
          <p:nvPr>
            <p:custDataLst>
              <p:tags r:id="rId8"/>
            </p:custDataLst>
          </p:nvPr>
        </p:nvGraphicFramePr>
        <p:xfrm>
          <a:off x="10543540" y="2145665"/>
          <a:ext cx="1567180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260"/>
                <a:gridCol w="629920"/>
              </a:tblGrid>
              <a:tr h="436880">
                <a:tc gridSpan="2">
                  <a:txBody>
                    <a:bodyPr/>
                    <a:p>
                      <a:pPr algn="ctr"/>
                      <a:r>
                        <a:rPr lang="zh-CN" altLang="en-US" dirty="0"/>
                        <a:t>低代码</a:t>
                      </a:r>
                      <a:r>
                        <a:rPr lang="zh-CN" altLang="en-US" dirty="0"/>
                        <a:t>开发</a:t>
                      </a:r>
                      <a:endParaRPr lang="zh-CN" altLang="en-US" dirty="0"/>
                    </a:p>
                  </a:txBody>
                  <a:tcPr>
                    <a:solidFill>
                      <a:srgbClr val="00B050"/>
                    </a:solidFill>
                  </a:tcPr>
                </a:tc>
                <a:tc hMerge="1">
                  <a:tcPr/>
                </a:tc>
              </a:tr>
              <a:tr h="436880">
                <a:tc>
                  <a:txBody>
                    <a:bodyPr/>
                    <a:p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服务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编排</a:t>
                      </a:r>
                      <a:endParaRPr lang="zh-CN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rgbClr val="00B050"/>
                    </a:solidFill>
                  </a:tcPr>
                </a:tc>
                <a:tc rowSpan="5">
                  <a:txBody>
                    <a:bodyPr/>
                    <a:p>
                      <a:pPr algn="ctr">
                        <a:lnSpc>
                          <a:spcPct val="100000"/>
                        </a:lnSpc>
                      </a:pPr>
                      <a:endParaRPr lang="en-US" altLang="zh-CN" dirty="0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zh-CN" altLang="en-US" b="1" dirty="0">
                          <a:solidFill>
                            <a:schemeClr val="bg1"/>
                          </a:solidFill>
                        </a:rPr>
                        <a:t>场景</a:t>
                      </a:r>
                      <a:r>
                        <a:rPr lang="zh-CN" altLang="en-US" b="1" dirty="0">
                          <a:solidFill>
                            <a:schemeClr val="bg1"/>
                          </a:solidFill>
                        </a:rPr>
                        <a:t>中心</a:t>
                      </a:r>
                      <a:endParaRPr lang="zh-CN" altLang="en-US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50"/>
                    </a:solidFill>
                  </a:tcPr>
                </a:tc>
              </a:tr>
              <a:tr h="436880">
                <a:tc>
                  <a:txBody>
                    <a:bodyPr/>
                    <a:p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构件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编排</a:t>
                      </a:r>
                      <a:endParaRPr lang="zh-CN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rgbClr val="00B050"/>
                    </a:solidFill>
                  </a:tcPr>
                </a:tc>
                <a:tc vMerge="1">
                  <a:tcPr>
                    <a:solidFill>
                      <a:srgbClr val="00B050"/>
                    </a:solidFill>
                  </a:tcPr>
                </a:tc>
              </a:tr>
              <a:tr h="436880">
                <a:tc>
                  <a:txBody>
                    <a:bodyPr/>
                    <a:p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契约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中心</a:t>
                      </a:r>
                      <a:endParaRPr lang="zh-CN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rgbClr val="00B050"/>
                    </a:solidFill>
                  </a:tcPr>
                </a:tc>
                <a:tc vMerge="1">
                  <a:tcPr>
                    <a:solidFill>
                      <a:srgbClr val="00B050"/>
                    </a:solidFill>
                  </a:tcPr>
                </a:tc>
              </a:tr>
              <a:tr h="436880">
                <a:tc>
                  <a:txBody>
                    <a:bodyPr/>
                    <a:p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构件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调试</a:t>
                      </a:r>
                      <a:endParaRPr lang="zh-CN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rgbClr val="00B050"/>
                    </a:solidFill>
                  </a:tcPr>
                </a:tc>
                <a:tc vMerge="1">
                  <a:tcPr>
                    <a:solidFill>
                      <a:srgbClr val="00B050"/>
                    </a:solidFill>
                  </a:tcPr>
                </a:tc>
              </a:tr>
              <a:tr h="436880">
                <a:tc>
                  <a:txBody>
                    <a:bodyPr/>
                    <a:p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数据</a:t>
                      </a:r>
                      <a:r>
                        <a:rPr lang="zh-CN" altLang="en-US" sz="1400" dirty="0">
                          <a:solidFill>
                            <a:schemeClr val="bg1"/>
                          </a:solidFill>
                        </a:rPr>
                        <a:t>模型</a:t>
                      </a:r>
                      <a:endParaRPr lang="zh-CN" alt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anchor="ctr" anchorCtr="0">
                    <a:solidFill>
                      <a:srgbClr val="00B050"/>
                    </a:solidFill>
                  </a:tcPr>
                </a:tc>
                <a:tc vMerge="1">
                  <a:tcPr>
                    <a:solidFill>
                      <a:srgbClr val="00B050"/>
                    </a:solidFill>
                  </a:tcPr>
                </a:tc>
              </a:tr>
            </a:tbl>
          </a:graphicData>
        </a:graphic>
      </p:graphicFrame>
      <p:sp>
        <p:nvSpPr>
          <p:cNvPr id="222" name="矩形 221"/>
          <p:cNvSpPr/>
          <p:nvPr>
            <p:custDataLst>
              <p:tags r:id="rId9"/>
            </p:custDataLst>
          </p:nvPr>
        </p:nvSpPr>
        <p:spPr>
          <a:xfrm>
            <a:off x="3010262" y="3413473"/>
            <a:ext cx="905692" cy="261135"/>
          </a:xfrm>
          <a:prstGeom prst="rect">
            <a:avLst/>
          </a:prstGeom>
          <a:solidFill>
            <a:srgbClr val="FF930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dirty="0"/>
              <a:t>业务</a:t>
            </a:r>
            <a:r>
              <a:rPr lang="zh-CN" altLang="en-US" sz="1400" dirty="0"/>
              <a:t>系统</a:t>
            </a:r>
            <a:endParaRPr lang="zh-CN" altLang="en-US" sz="1400" dirty="0"/>
          </a:p>
        </p:txBody>
      </p:sp>
      <p:sp>
        <p:nvSpPr>
          <p:cNvPr id="223" name="矩形 222"/>
          <p:cNvSpPr/>
          <p:nvPr>
            <p:custDataLst>
              <p:tags r:id="rId10"/>
            </p:custDataLst>
          </p:nvPr>
        </p:nvSpPr>
        <p:spPr>
          <a:xfrm>
            <a:off x="4207692" y="3423373"/>
            <a:ext cx="905692" cy="261135"/>
          </a:xfrm>
          <a:prstGeom prst="rect">
            <a:avLst/>
          </a:prstGeom>
          <a:solidFill>
            <a:srgbClr val="FF930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dirty="0"/>
              <a:t>系统</a:t>
            </a:r>
            <a:r>
              <a:rPr lang="zh-CN" altLang="en-US" sz="1400" dirty="0"/>
              <a:t>模块</a:t>
            </a:r>
            <a:endParaRPr lang="zh-CN" altLang="en-US" sz="1400" dirty="0"/>
          </a:p>
        </p:txBody>
      </p:sp>
      <p:sp>
        <p:nvSpPr>
          <p:cNvPr id="224" name="矩形 223"/>
          <p:cNvSpPr/>
          <p:nvPr>
            <p:custDataLst>
              <p:tags r:id="rId11"/>
            </p:custDataLst>
          </p:nvPr>
        </p:nvSpPr>
        <p:spPr>
          <a:xfrm>
            <a:off x="5405122" y="3423309"/>
            <a:ext cx="905692" cy="261135"/>
          </a:xfrm>
          <a:prstGeom prst="rect">
            <a:avLst/>
          </a:prstGeom>
          <a:solidFill>
            <a:srgbClr val="FF930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dirty="0"/>
              <a:t>应用</a:t>
            </a:r>
            <a:endParaRPr lang="zh-CN" altLang="en-US" sz="1400" dirty="0"/>
          </a:p>
        </p:txBody>
      </p:sp>
      <p:sp>
        <p:nvSpPr>
          <p:cNvPr id="225" name="矩形 224"/>
          <p:cNvSpPr/>
          <p:nvPr>
            <p:custDataLst>
              <p:tags r:id="rId12"/>
            </p:custDataLst>
          </p:nvPr>
        </p:nvSpPr>
        <p:spPr>
          <a:xfrm>
            <a:off x="6629673" y="3419620"/>
            <a:ext cx="905692" cy="261135"/>
          </a:xfrm>
          <a:prstGeom prst="rect">
            <a:avLst/>
          </a:prstGeom>
          <a:solidFill>
            <a:srgbClr val="FF930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dirty="0"/>
              <a:t>服务</a:t>
            </a:r>
            <a:endParaRPr lang="zh-CN" altLang="en-US" sz="1400" dirty="0"/>
          </a:p>
        </p:txBody>
      </p:sp>
      <p:sp>
        <p:nvSpPr>
          <p:cNvPr id="229" name="矩形 228"/>
          <p:cNvSpPr/>
          <p:nvPr>
            <p:custDataLst>
              <p:tags r:id="rId13"/>
            </p:custDataLst>
          </p:nvPr>
        </p:nvSpPr>
        <p:spPr>
          <a:xfrm>
            <a:off x="7828546" y="3413409"/>
            <a:ext cx="905692" cy="261135"/>
          </a:xfrm>
          <a:prstGeom prst="rect">
            <a:avLst/>
          </a:prstGeom>
          <a:solidFill>
            <a:srgbClr val="FF930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dirty="0"/>
              <a:t>人员</a:t>
            </a:r>
            <a:r>
              <a:rPr lang="zh-CN" altLang="en-US" sz="1400" dirty="0"/>
              <a:t>组织</a:t>
            </a:r>
            <a:endParaRPr lang="zh-CN" altLang="en-US" sz="1400" dirty="0"/>
          </a:p>
        </p:txBody>
      </p:sp>
      <p:sp>
        <p:nvSpPr>
          <p:cNvPr id="230" name="矩形 229"/>
          <p:cNvSpPr/>
          <p:nvPr>
            <p:custDataLst>
              <p:tags r:id="rId14"/>
            </p:custDataLst>
          </p:nvPr>
        </p:nvSpPr>
        <p:spPr>
          <a:xfrm>
            <a:off x="9025976" y="3423309"/>
            <a:ext cx="905692" cy="261135"/>
          </a:xfrm>
          <a:prstGeom prst="rect">
            <a:avLst/>
          </a:prstGeom>
          <a:solidFill>
            <a:srgbClr val="FF930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31" name="文本框 230"/>
          <p:cNvSpPr txBox="1"/>
          <p:nvPr>
            <p:custDataLst>
              <p:tags r:id="rId15"/>
            </p:custDataLst>
          </p:nvPr>
        </p:nvSpPr>
        <p:spPr>
          <a:xfrm>
            <a:off x="5441315" y="3086100"/>
            <a:ext cx="19431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1"/>
                </a:solidFill>
              </a:rPr>
              <a:t>业务全景</a:t>
            </a:r>
            <a:r>
              <a:rPr lang="zh-CN" altLang="en-US" dirty="0">
                <a:solidFill>
                  <a:schemeClr val="bg1"/>
                </a:solidFill>
              </a:rPr>
              <a:t>图谱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32" name="矩形 231"/>
          <p:cNvSpPr/>
          <p:nvPr>
            <p:custDataLst>
              <p:tags r:id="rId16"/>
            </p:custDataLst>
          </p:nvPr>
        </p:nvSpPr>
        <p:spPr>
          <a:xfrm>
            <a:off x="3010262" y="4136151"/>
            <a:ext cx="905692" cy="261135"/>
          </a:xfrm>
          <a:prstGeom prst="rect">
            <a:avLst/>
          </a:prstGeom>
          <a:solidFill>
            <a:srgbClr val="FF930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dirty="0"/>
              <a:t>中间件</a:t>
            </a:r>
            <a:endParaRPr lang="zh-CN" altLang="en-US" sz="1400" dirty="0"/>
          </a:p>
        </p:txBody>
      </p:sp>
      <p:sp>
        <p:nvSpPr>
          <p:cNvPr id="233" name="矩形 232"/>
          <p:cNvSpPr/>
          <p:nvPr>
            <p:custDataLst>
              <p:tags r:id="rId17"/>
            </p:custDataLst>
          </p:nvPr>
        </p:nvSpPr>
        <p:spPr>
          <a:xfrm>
            <a:off x="4207692" y="4146051"/>
            <a:ext cx="905692" cy="261135"/>
          </a:xfrm>
          <a:prstGeom prst="rect">
            <a:avLst/>
          </a:prstGeom>
          <a:solidFill>
            <a:srgbClr val="FF930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dirty="0"/>
              <a:t>数据库</a:t>
            </a:r>
            <a:endParaRPr lang="zh-CN" altLang="en-US" sz="1400" dirty="0"/>
          </a:p>
        </p:txBody>
      </p:sp>
      <p:sp>
        <p:nvSpPr>
          <p:cNvPr id="234" name="矩形 233"/>
          <p:cNvSpPr/>
          <p:nvPr>
            <p:custDataLst>
              <p:tags r:id="rId18"/>
            </p:custDataLst>
          </p:nvPr>
        </p:nvSpPr>
        <p:spPr>
          <a:xfrm>
            <a:off x="5405120" y="4145915"/>
            <a:ext cx="1106805" cy="260985"/>
          </a:xfrm>
          <a:prstGeom prst="rect">
            <a:avLst/>
          </a:prstGeom>
          <a:solidFill>
            <a:srgbClr val="FF930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dirty="0"/>
              <a:t>网络设备</a:t>
            </a:r>
            <a:endParaRPr lang="zh-CN" altLang="en-US" sz="1400" dirty="0"/>
          </a:p>
        </p:txBody>
      </p:sp>
      <p:sp>
        <p:nvSpPr>
          <p:cNvPr id="235" name="矩形 234"/>
          <p:cNvSpPr/>
          <p:nvPr>
            <p:custDataLst>
              <p:tags r:id="rId19"/>
            </p:custDataLst>
          </p:nvPr>
        </p:nvSpPr>
        <p:spPr>
          <a:xfrm>
            <a:off x="6629673" y="4142298"/>
            <a:ext cx="905692" cy="261135"/>
          </a:xfrm>
          <a:prstGeom prst="rect">
            <a:avLst/>
          </a:prstGeom>
          <a:solidFill>
            <a:srgbClr val="FF930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dirty="0"/>
              <a:t>安全</a:t>
            </a:r>
            <a:r>
              <a:rPr lang="zh-CN" altLang="en-US" sz="1400" dirty="0"/>
              <a:t>设备</a:t>
            </a:r>
            <a:endParaRPr lang="zh-CN" altLang="en-US" sz="1400" dirty="0"/>
          </a:p>
        </p:txBody>
      </p:sp>
      <p:sp>
        <p:nvSpPr>
          <p:cNvPr id="236" name="矩形 235"/>
          <p:cNvSpPr/>
          <p:nvPr>
            <p:custDataLst>
              <p:tags r:id="rId20"/>
            </p:custDataLst>
          </p:nvPr>
        </p:nvSpPr>
        <p:spPr>
          <a:xfrm>
            <a:off x="7828546" y="4136087"/>
            <a:ext cx="905692" cy="261135"/>
          </a:xfrm>
          <a:prstGeom prst="rect">
            <a:avLst/>
          </a:prstGeom>
          <a:solidFill>
            <a:srgbClr val="FF930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400" dirty="0"/>
              <a:t>存储</a:t>
            </a:r>
            <a:r>
              <a:rPr lang="zh-CN" altLang="en-US" sz="1400" dirty="0"/>
              <a:t>设备</a:t>
            </a:r>
            <a:endParaRPr lang="zh-CN" altLang="en-US" sz="1400" dirty="0"/>
          </a:p>
        </p:txBody>
      </p:sp>
      <p:sp>
        <p:nvSpPr>
          <p:cNvPr id="237" name="矩形 236"/>
          <p:cNvSpPr/>
          <p:nvPr>
            <p:custDataLst>
              <p:tags r:id="rId21"/>
            </p:custDataLst>
          </p:nvPr>
        </p:nvSpPr>
        <p:spPr>
          <a:xfrm>
            <a:off x="9025976" y="4145987"/>
            <a:ext cx="905692" cy="261135"/>
          </a:xfrm>
          <a:prstGeom prst="rect">
            <a:avLst/>
          </a:prstGeom>
          <a:solidFill>
            <a:srgbClr val="FF930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238" name="文本框 237"/>
          <p:cNvSpPr txBox="1"/>
          <p:nvPr>
            <p:custDataLst>
              <p:tags r:id="rId22"/>
            </p:custDataLst>
          </p:nvPr>
        </p:nvSpPr>
        <p:spPr>
          <a:xfrm>
            <a:off x="5491480" y="3809365"/>
            <a:ext cx="18427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dirty="0">
                <a:solidFill>
                  <a:schemeClr val="bg1"/>
                </a:solidFill>
              </a:rPr>
              <a:t>资源</a:t>
            </a:r>
            <a:r>
              <a:rPr lang="zh-CN" altLang="en-US" dirty="0">
                <a:solidFill>
                  <a:schemeClr val="bg1"/>
                </a:solidFill>
              </a:rPr>
              <a:t>指标数据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239" name="矩形 238"/>
          <p:cNvSpPr/>
          <p:nvPr>
            <p:custDataLst>
              <p:tags r:id="rId23"/>
            </p:custDataLst>
          </p:nvPr>
        </p:nvSpPr>
        <p:spPr>
          <a:xfrm>
            <a:off x="3010262" y="4462641"/>
            <a:ext cx="6958227" cy="261134"/>
          </a:xfrm>
          <a:prstGeom prst="rect">
            <a:avLst/>
          </a:prstGeom>
          <a:solidFill>
            <a:srgbClr val="FF930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p>
            <a:pPr algn="ctr"/>
            <a:r>
              <a:rPr lang="zh-CN" altLang="en-US" sz="1600" dirty="0"/>
              <a:t>统一资源模型（</a:t>
            </a:r>
            <a:r>
              <a:rPr lang="en-US" altLang="zh-CN" sz="1600" dirty="0"/>
              <a:t>OneModel</a:t>
            </a:r>
            <a:r>
              <a:rPr lang="zh-CN" altLang="en-US" sz="1600" dirty="0"/>
              <a:t>）</a:t>
            </a:r>
            <a:endParaRPr lang="zh-CN" altLang="en-US" sz="1600" dirty="0"/>
          </a:p>
        </p:txBody>
      </p:sp>
      <p:sp>
        <p:nvSpPr>
          <p:cNvPr id="240" name="左中括号 239"/>
          <p:cNvSpPr/>
          <p:nvPr>
            <p:custDataLst>
              <p:tags r:id="rId24"/>
            </p:custDataLst>
          </p:nvPr>
        </p:nvSpPr>
        <p:spPr>
          <a:xfrm>
            <a:off x="940005" y="1222358"/>
            <a:ext cx="335801" cy="551288"/>
          </a:xfrm>
          <a:prstGeom prst="leftBracket">
            <a:avLst/>
          </a:prstGeom>
          <a:ln w="38100" cmpd="sng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1" name="左中括号 240"/>
          <p:cNvSpPr/>
          <p:nvPr>
            <p:custDataLst>
              <p:tags r:id="rId25"/>
            </p:custDataLst>
          </p:nvPr>
        </p:nvSpPr>
        <p:spPr>
          <a:xfrm flipV="1">
            <a:off x="949960" y="2129155"/>
            <a:ext cx="389255" cy="2594610"/>
          </a:xfrm>
          <a:prstGeom prst="leftBracket">
            <a:avLst/>
          </a:prstGeom>
          <a:ln w="38100">
            <a:solidFill>
              <a:srgbClr val="FF930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2" name="左中括号 241"/>
          <p:cNvSpPr/>
          <p:nvPr>
            <p:custDataLst>
              <p:tags r:id="rId26"/>
            </p:custDataLst>
          </p:nvPr>
        </p:nvSpPr>
        <p:spPr>
          <a:xfrm>
            <a:off x="950164" y="4869963"/>
            <a:ext cx="335801" cy="1168143"/>
          </a:xfrm>
          <a:prstGeom prst="leftBracket">
            <a:avLst/>
          </a:prstGeom>
          <a:ln w="38100" cmpd="sng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3" name="文本框 242"/>
          <p:cNvSpPr txBox="1"/>
          <p:nvPr>
            <p:custDataLst>
              <p:tags r:id="rId27"/>
            </p:custDataLst>
          </p:nvPr>
        </p:nvSpPr>
        <p:spPr>
          <a:xfrm>
            <a:off x="171750" y="1193625"/>
            <a:ext cx="690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/>
              <a:t>前台业务</a:t>
            </a:r>
            <a:endParaRPr lang="zh-CN" altLang="en-US" dirty="0"/>
          </a:p>
        </p:txBody>
      </p:sp>
      <p:sp>
        <p:nvSpPr>
          <p:cNvPr id="244" name="文本框 243"/>
          <p:cNvSpPr txBox="1"/>
          <p:nvPr>
            <p:custDataLst>
              <p:tags r:id="rId28"/>
            </p:custDataLst>
          </p:nvPr>
        </p:nvSpPr>
        <p:spPr>
          <a:xfrm>
            <a:off x="186389" y="2625887"/>
            <a:ext cx="690526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/>
              <a:t>开放</a:t>
            </a:r>
            <a:r>
              <a:rPr lang="zh-CN" altLang="en-US" dirty="0"/>
              <a:t>平台</a:t>
            </a:r>
            <a:endParaRPr lang="zh-CN" altLang="en-US" dirty="0"/>
          </a:p>
        </p:txBody>
      </p:sp>
      <p:sp>
        <p:nvSpPr>
          <p:cNvPr id="245" name="文本框 244"/>
          <p:cNvSpPr txBox="1"/>
          <p:nvPr>
            <p:custDataLst>
              <p:tags r:id="rId29"/>
            </p:custDataLst>
          </p:nvPr>
        </p:nvSpPr>
        <p:spPr>
          <a:xfrm>
            <a:off x="181910" y="5130868"/>
            <a:ext cx="6905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/>
              <a:t>基础平台</a:t>
            </a:r>
            <a:endParaRPr lang="zh-CN" altLang="en-US" dirty="0"/>
          </a:p>
        </p:txBody>
      </p:sp>
      <p:graphicFrame>
        <p:nvGraphicFramePr>
          <p:cNvPr id="246" name="表格 245"/>
          <p:cNvGraphicFramePr>
            <a:graphicFrameLocks noGrp="1"/>
          </p:cNvGraphicFramePr>
          <p:nvPr>
            <p:custDataLst>
              <p:tags r:id="rId30"/>
            </p:custDataLst>
          </p:nvPr>
        </p:nvGraphicFramePr>
        <p:xfrm>
          <a:off x="1345565" y="5028565"/>
          <a:ext cx="1251585" cy="1005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1585"/>
              </a:tblGrid>
              <a:tr h="1005205">
                <a:tc>
                  <a:txBody>
                    <a:bodyPr/>
                    <a:p>
                      <a:pPr algn="ctr"/>
                      <a:r>
                        <a:rPr lang="zh-CN" altLang="en-US" sz="1600" dirty="0"/>
                        <a:t>基础</a:t>
                      </a:r>
                      <a:r>
                        <a:rPr lang="zh-CN" altLang="en-US" sz="1600" dirty="0"/>
                        <a:t>能力</a:t>
                      </a:r>
                      <a:endParaRPr lang="zh-CN" altLang="en-US" sz="1600" dirty="0"/>
                    </a:p>
                  </a:txBody>
                  <a:tcPr anchor="ctr" anchorCtr="0">
                    <a:solidFill>
                      <a:srgbClr val="807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7" name="表格 246"/>
          <p:cNvGraphicFramePr>
            <a:graphicFrameLocks noGrp="1"/>
          </p:cNvGraphicFramePr>
          <p:nvPr>
            <p:custDataLst>
              <p:tags r:id="rId31"/>
            </p:custDataLst>
          </p:nvPr>
        </p:nvGraphicFramePr>
        <p:xfrm>
          <a:off x="10543540" y="5029200"/>
          <a:ext cx="1583690" cy="1004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690"/>
              </a:tblGrid>
              <a:tr h="1004570">
                <a:tc>
                  <a:txBody>
                    <a:bodyPr/>
                    <a:p>
                      <a:pPr algn="ctr"/>
                      <a:r>
                        <a:rPr lang="zh-CN" altLang="en-US" sz="1600" b="1" dirty="0"/>
                        <a:t>采控平台</a:t>
                      </a:r>
                      <a:endParaRPr lang="zh-CN" altLang="en-US" sz="1600" b="1" dirty="0"/>
                    </a:p>
                    <a:p>
                      <a:pPr algn="ctr"/>
                      <a:r>
                        <a:rPr lang="zh-CN" altLang="en-US" sz="1600" b="0" dirty="0"/>
                        <a:t>统一</a:t>
                      </a:r>
                      <a:r>
                        <a:rPr lang="en-US" altLang="zh-CN" sz="1600" b="0" dirty="0"/>
                        <a:t>Agent</a:t>
                      </a:r>
                      <a:endParaRPr lang="en-US" altLang="zh-CN" sz="1600" b="0" dirty="0"/>
                    </a:p>
                    <a:p>
                      <a:pPr algn="ctr"/>
                      <a:r>
                        <a:rPr lang="zh-CN" altLang="en-US" sz="1600" b="0" dirty="0"/>
                        <a:t>指标</a:t>
                      </a:r>
                      <a:r>
                        <a:rPr lang="zh-CN" altLang="en-US" sz="1600" b="0" dirty="0"/>
                        <a:t>中心</a:t>
                      </a:r>
                      <a:endParaRPr lang="zh-CN" altLang="en-US" sz="1600" b="0" dirty="0"/>
                    </a:p>
                  </a:txBody>
                  <a:tcPr anchor="ctr" anchorCtr="0">
                    <a:solidFill>
                      <a:srgbClr val="6D95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508000" y="127635"/>
            <a:ext cx="7657465" cy="571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altLang="zh-CN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4.1 CMDB </a:t>
            </a:r>
            <a:r>
              <a:rPr lang="zh-CN" altLang="en-US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功能架构说明</a:t>
            </a:r>
            <a:endParaRPr lang="zh-CN" altLang="en-US" sz="2400" dirty="0">
              <a:latin typeface="微软雅黑" panose="020B0604030504040204" pitchFamily="34" charset="-122"/>
              <a:ea typeface="微软雅黑" panose="020B0604030504040204" pitchFamily="34" charset="-122"/>
              <a:sym typeface="+mn-ea"/>
            </a:endParaRPr>
          </a:p>
        </p:txBody>
      </p:sp>
      <p:sp>
        <p:nvSpPr>
          <p:cNvPr id="5" name="圆角矩形 4"/>
          <p:cNvSpPr/>
          <p:nvPr>
            <p:custDataLst>
              <p:tags r:id="rId1"/>
            </p:custDataLst>
          </p:nvPr>
        </p:nvSpPr>
        <p:spPr>
          <a:xfrm>
            <a:off x="398780" y="795020"/>
            <a:ext cx="9726295" cy="842010"/>
          </a:xfrm>
          <a:prstGeom prst="roundRect">
            <a:avLst/>
          </a:prstGeom>
          <a:ln w="3175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520065" y="817880"/>
            <a:ext cx="18053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  <a:sym typeface="+mn-ea"/>
              </a:rPr>
              <a:t>CMDB门户管理</a:t>
            </a:r>
            <a:endParaRPr lang="zh-CN" altLang="en-US" sz="1400" b="1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  <a:sym typeface="+mn-ea"/>
            </a:endParaRPr>
          </a:p>
        </p:txBody>
      </p:sp>
      <p:sp>
        <p:nvSpPr>
          <p:cNvPr id="9" name="圆角矩形 8"/>
          <p:cNvSpPr/>
          <p:nvPr>
            <p:custDataLst>
              <p:tags r:id="rId3"/>
            </p:custDataLst>
          </p:nvPr>
        </p:nvSpPr>
        <p:spPr>
          <a:xfrm>
            <a:off x="524510" y="1922780"/>
            <a:ext cx="1598930" cy="2297430"/>
          </a:xfrm>
          <a:prstGeom prst="roundRect">
            <a:avLst/>
          </a:prstGeom>
          <a:ln w="3175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  <a:sym typeface="+mn-ea"/>
            </a:endParaRPr>
          </a:p>
        </p:txBody>
      </p:sp>
      <p:sp>
        <p:nvSpPr>
          <p:cNvPr id="88" name="文本框 87"/>
          <p:cNvSpPr txBox="1"/>
          <p:nvPr>
            <p:custDataLst>
              <p:tags r:id="rId4"/>
            </p:custDataLst>
          </p:nvPr>
        </p:nvSpPr>
        <p:spPr>
          <a:xfrm>
            <a:off x="808990" y="2011045"/>
            <a:ext cx="12477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资源模型</a:t>
            </a:r>
            <a:endParaRPr kumimoji="0" lang="zh-CN" altLang="en-US" sz="1400" b="1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0" name="圆角矩形 9"/>
          <p:cNvSpPr/>
          <p:nvPr>
            <p:custDataLst>
              <p:tags r:id="rId5"/>
            </p:custDataLst>
          </p:nvPr>
        </p:nvSpPr>
        <p:spPr>
          <a:xfrm>
            <a:off x="398780" y="4431030"/>
            <a:ext cx="9791700" cy="842010"/>
          </a:xfrm>
          <a:prstGeom prst="roundRect">
            <a:avLst/>
          </a:prstGeom>
          <a:ln w="3175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6"/>
            </p:custDataLst>
          </p:nvPr>
        </p:nvSpPr>
        <p:spPr>
          <a:xfrm>
            <a:off x="537845" y="4489450"/>
            <a:ext cx="157289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  <a:sym typeface="+mn-ea"/>
              </a:rPr>
              <a:t>CMDB技术层</a:t>
            </a:r>
            <a:endParaRPr lang="zh-CN" altLang="en-US" sz="1400" b="1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  <a:sym typeface="+mn-ea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398780" y="5798185"/>
            <a:ext cx="9837420" cy="777240"/>
          </a:xfrm>
          <a:prstGeom prst="roundRect">
            <a:avLst/>
          </a:prstGeom>
          <a:ln w="3175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537845" y="5958840"/>
            <a:ext cx="124841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  <a:sym typeface="+mn-ea"/>
              </a:rPr>
              <a:t>资源对象层</a:t>
            </a:r>
            <a:endParaRPr lang="zh-CN" altLang="en-US" sz="1400" b="1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  <a:sym typeface="+mn-ea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1997710" y="5813425"/>
            <a:ext cx="433070" cy="41656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3333750" y="5835650"/>
            <a:ext cx="418465" cy="37274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4655185" y="5842000"/>
            <a:ext cx="394335" cy="35941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7275830" y="5888990"/>
            <a:ext cx="417830" cy="26543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5952490" y="5803900"/>
            <a:ext cx="420370" cy="435610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/>
          <a:stretch>
            <a:fillRect/>
          </a:stretch>
        </p:blipFill>
        <p:spPr>
          <a:xfrm>
            <a:off x="8595995" y="5819140"/>
            <a:ext cx="393700" cy="446405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1"/>
            </p:custDataLst>
          </p:nvPr>
        </p:nvSpPr>
        <p:spPr>
          <a:xfrm>
            <a:off x="3152140" y="6217285"/>
            <a:ext cx="9493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中间件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2"/>
            </p:custDataLst>
          </p:nvPr>
        </p:nvSpPr>
        <p:spPr>
          <a:xfrm>
            <a:off x="4505325" y="6223000"/>
            <a:ext cx="70167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应用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3"/>
            </p:custDataLst>
          </p:nvPr>
        </p:nvSpPr>
        <p:spPr>
          <a:xfrm>
            <a:off x="7023100" y="6236335"/>
            <a:ext cx="11887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云资源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4"/>
            </p:custDataLst>
          </p:nvPr>
        </p:nvSpPr>
        <p:spPr>
          <a:xfrm>
            <a:off x="5856605" y="6236335"/>
            <a:ext cx="9486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数据库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25"/>
            </p:custDataLst>
          </p:nvPr>
        </p:nvSpPr>
        <p:spPr>
          <a:xfrm>
            <a:off x="8359140" y="6236335"/>
            <a:ext cx="10871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VMware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26"/>
            </p:custDataLst>
          </p:nvPr>
        </p:nvSpPr>
        <p:spPr>
          <a:xfrm>
            <a:off x="1932305" y="6217285"/>
            <a:ext cx="5759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业务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42" name="圆角矩形 41"/>
          <p:cNvSpPr/>
          <p:nvPr>
            <p:custDataLst>
              <p:tags r:id="rId27"/>
            </p:custDataLst>
          </p:nvPr>
        </p:nvSpPr>
        <p:spPr>
          <a:xfrm>
            <a:off x="467995" y="4825365"/>
            <a:ext cx="1803400" cy="337820"/>
          </a:xfrm>
          <a:prstGeom prst="roundRect">
            <a:avLst/>
          </a:prstGeom>
          <a:solidFill>
            <a:srgbClr val="0955D1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EasyCore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图数据库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43" name="圆角矩形 42"/>
          <p:cNvSpPr/>
          <p:nvPr>
            <p:custDataLst>
              <p:tags r:id="rId28"/>
            </p:custDataLst>
          </p:nvPr>
        </p:nvSpPr>
        <p:spPr>
          <a:xfrm>
            <a:off x="2840355" y="4825365"/>
            <a:ext cx="1350645" cy="337820"/>
          </a:xfrm>
          <a:prstGeom prst="roundRect">
            <a:avLst/>
          </a:prstGeom>
          <a:solidFill>
            <a:srgbClr val="0955D1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自动采集通道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44" name="圆角矩形 43"/>
          <p:cNvSpPr/>
          <p:nvPr>
            <p:custDataLst>
              <p:tags r:id="rId29"/>
            </p:custDataLst>
          </p:nvPr>
        </p:nvSpPr>
        <p:spPr>
          <a:xfrm>
            <a:off x="6834505" y="4825365"/>
            <a:ext cx="1350645" cy="337820"/>
          </a:xfrm>
          <a:prstGeom prst="roundRect">
            <a:avLst/>
          </a:prstGeom>
          <a:solidFill>
            <a:srgbClr val="0955D1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  <a:sym typeface="+mn-ea"/>
              </a:rPr>
              <a:t>全文搜索能力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  <a:sym typeface="+mn-ea"/>
            </a:endParaRPr>
          </a:p>
        </p:txBody>
      </p:sp>
      <p:sp>
        <p:nvSpPr>
          <p:cNvPr id="45" name="上箭头 44"/>
          <p:cNvSpPr/>
          <p:nvPr>
            <p:custDataLst>
              <p:tags r:id="rId30"/>
            </p:custDataLst>
          </p:nvPr>
        </p:nvSpPr>
        <p:spPr>
          <a:xfrm>
            <a:off x="2658110" y="5328920"/>
            <a:ext cx="406400" cy="365760"/>
          </a:xfrm>
          <a:prstGeom prst="upArrow">
            <a:avLst/>
          </a:prstGeom>
          <a:solidFill>
            <a:srgbClr val="08266E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46" name="上箭头 45"/>
          <p:cNvSpPr/>
          <p:nvPr>
            <p:custDataLst>
              <p:tags r:id="rId31"/>
            </p:custDataLst>
          </p:nvPr>
        </p:nvSpPr>
        <p:spPr>
          <a:xfrm>
            <a:off x="7145655" y="5334000"/>
            <a:ext cx="407035" cy="365760"/>
          </a:xfrm>
          <a:prstGeom prst="upArrow">
            <a:avLst/>
          </a:prstGeom>
          <a:solidFill>
            <a:srgbClr val="08266E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47" name="圆角矩形 46"/>
          <p:cNvSpPr/>
          <p:nvPr>
            <p:custDataLst>
              <p:tags r:id="rId32"/>
            </p:custDataLst>
          </p:nvPr>
        </p:nvSpPr>
        <p:spPr>
          <a:xfrm>
            <a:off x="4858385" y="4825365"/>
            <a:ext cx="1351280" cy="337820"/>
          </a:xfrm>
          <a:prstGeom prst="roundRect">
            <a:avLst/>
          </a:prstGeom>
          <a:solidFill>
            <a:srgbClr val="0955D1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拓扑引擎支持</a:t>
            </a:r>
            <a:endParaRPr kumimoji="0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48" name="圆角矩形 47"/>
          <p:cNvSpPr/>
          <p:nvPr>
            <p:custDataLst>
              <p:tags r:id="rId33"/>
            </p:custDataLst>
          </p:nvPr>
        </p:nvSpPr>
        <p:spPr>
          <a:xfrm>
            <a:off x="1098550" y="1175385"/>
            <a:ext cx="1805940" cy="334010"/>
          </a:xfrm>
          <a:prstGeom prst="roundRect">
            <a:avLst/>
          </a:prstGeom>
          <a:solidFill>
            <a:schemeClr val="accent2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数据角色管理</a:t>
            </a:r>
            <a:endParaRPr kumimoji="0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12" name="圆角矩形 111"/>
          <p:cNvSpPr/>
          <p:nvPr>
            <p:custDataLst>
              <p:tags r:id="rId34"/>
            </p:custDataLst>
          </p:nvPr>
        </p:nvSpPr>
        <p:spPr>
          <a:xfrm>
            <a:off x="631825" y="2331085"/>
            <a:ext cx="1383030" cy="3009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行业标准模型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13" name="圆角矩形 3"/>
          <p:cNvSpPr/>
          <p:nvPr>
            <p:custDataLst>
              <p:tags r:id="rId35"/>
            </p:custDataLst>
          </p:nvPr>
        </p:nvSpPr>
        <p:spPr>
          <a:xfrm>
            <a:off x="631825" y="2701925"/>
            <a:ext cx="1383030" cy="300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模型关系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14" name="圆角矩形 3"/>
          <p:cNvSpPr/>
          <p:nvPr>
            <p:custDataLst>
              <p:tags r:id="rId36"/>
            </p:custDataLst>
          </p:nvPr>
        </p:nvSpPr>
        <p:spPr>
          <a:xfrm>
            <a:off x="631825" y="3076575"/>
            <a:ext cx="1383030" cy="300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模型属性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15" name="圆角矩形 3"/>
          <p:cNvSpPr/>
          <p:nvPr>
            <p:custDataLst>
              <p:tags r:id="rId37"/>
            </p:custDataLst>
          </p:nvPr>
        </p:nvSpPr>
        <p:spPr>
          <a:xfrm>
            <a:off x="631825" y="3450590"/>
            <a:ext cx="1383030" cy="300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模型分类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16" name="圆角矩形 3"/>
          <p:cNvSpPr/>
          <p:nvPr>
            <p:custDataLst>
              <p:tags r:id="rId38"/>
            </p:custDataLst>
          </p:nvPr>
        </p:nvSpPr>
        <p:spPr>
          <a:xfrm>
            <a:off x="631190" y="3801745"/>
            <a:ext cx="1383030" cy="300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模型可视化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17" name="圆角矩形 7"/>
          <p:cNvSpPr/>
          <p:nvPr>
            <p:custDataLst>
              <p:tags r:id="rId39"/>
            </p:custDataLst>
          </p:nvPr>
        </p:nvSpPr>
        <p:spPr>
          <a:xfrm>
            <a:off x="2299970" y="1936115"/>
            <a:ext cx="1598930" cy="2296795"/>
          </a:xfrm>
          <a:prstGeom prst="roundRect">
            <a:avLst/>
          </a:prstGeom>
          <a:ln w="3175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  <a:sym typeface="+mn-ea"/>
            </a:endParaRPr>
          </a:p>
        </p:txBody>
      </p:sp>
      <p:sp>
        <p:nvSpPr>
          <p:cNvPr id="118" name="文本框 117"/>
          <p:cNvSpPr txBox="1"/>
          <p:nvPr>
            <p:custDataLst>
              <p:tags r:id="rId40"/>
            </p:custDataLst>
          </p:nvPr>
        </p:nvSpPr>
        <p:spPr>
          <a:xfrm>
            <a:off x="2663190" y="2011045"/>
            <a:ext cx="10915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资源实例</a:t>
            </a:r>
            <a:endParaRPr kumimoji="0" lang="zh-CN" altLang="en-US" sz="1400" b="1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19" name="圆角矩形 3"/>
          <p:cNvSpPr/>
          <p:nvPr>
            <p:custDataLst>
              <p:tags r:id="rId41"/>
            </p:custDataLst>
          </p:nvPr>
        </p:nvSpPr>
        <p:spPr>
          <a:xfrm>
            <a:off x="2418080" y="2344420"/>
            <a:ext cx="1383030" cy="300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实例维护能力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20" name="圆角矩形 3"/>
          <p:cNvSpPr/>
          <p:nvPr>
            <p:custDataLst>
              <p:tags r:id="rId42"/>
            </p:custDataLst>
          </p:nvPr>
        </p:nvSpPr>
        <p:spPr>
          <a:xfrm>
            <a:off x="2418080" y="2714625"/>
            <a:ext cx="1383030" cy="300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实例导入导出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21" name="圆角矩形 3"/>
          <p:cNvSpPr/>
          <p:nvPr>
            <p:custDataLst>
              <p:tags r:id="rId43"/>
            </p:custDataLst>
          </p:nvPr>
        </p:nvSpPr>
        <p:spPr>
          <a:xfrm>
            <a:off x="2418080" y="3089275"/>
            <a:ext cx="1383030" cy="300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实例批量操作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22" name="圆角矩形 3"/>
          <p:cNvSpPr/>
          <p:nvPr>
            <p:custDataLst>
              <p:tags r:id="rId44"/>
            </p:custDataLst>
          </p:nvPr>
        </p:nvSpPr>
        <p:spPr>
          <a:xfrm>
            <a:off x="2418080" y="3463290"/>
            <a:ext cx="1383030" cy="300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实例关系管理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23" name="圆角矩形 3"/>
          <p:cNvSpPr/>
          <p:nvPr>
            <p:custDataLst>
              <p:tags r:id="rId45"/>
            </p:custDataLst>
          </p:nvPr>
        </p:nvSpPr>
        <p:spPr>
          <a:xfrm>
            <a:off x="2417445" y="3813810"/>
            <a:ext cx="1383030" cy="300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</a:ln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实例校验操作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31" name="圆角矩形 7"/>
          <p:cNvSpPr/>
          <p:nvPr>
            <p:custDataLst>
              <p:tags r:id="rId46"/>
            </p:custDataLst>
          </p:nvPr>
        </p:nvSpPr>
        <p:spPr>
          <a:xfrm>
            <a:off x="5284470" y="1813560"/>
            <a:ext cx="4839970" cy="2514600"/>
          </a:xfrm>
          <a:prstGeom prst="roundRect">
            <a:avLst>
              <a:gd name="adj" fmla="val 12410"/>
            </a:avLst>
          </a:prstGeom>
          <a:ln w="12700" cmpd="sng">
            <a:solidFill>
              <a:schemeClr val="accent1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33" name="圆角矩形 3"/>
          <p:cNvSpPr/>
          <p:nvPr>
            <p:custDataLst>
              <p:tags r:id="rId47"/>
            </p:custDataLst>
          </p:nvPr>
        </p:nvSpPr>
        <p:spPr>
          <a:xfrm>
            <a:off x="7033895" y="2340610"/>
            <a:ext cx="1383030" cy="3009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集群管理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35" name="圆角矩形 3"/>
          <p:cNvSpPr/>
          <p:nvPr>
            <p:custDataLst>
              <p:tags r:id="rId48"/>
            </p:custDataLst>
          </p:nvPr>
        </p:nvSpPr>
        <p:spPr>
          <a:xfrm>
            <a:off x="7242810" y="3076575"/>
            <a:ext cx="922655" cy="276225"/>
          </a:xfrm>
          <a:prstGeom prst="roundRect">
            <a:avLst/>
          </a:prstGeom>
          <a:solidFill>
            <a:srgbClr val="0955D1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应用管理</a:t>
            </a:r>
            <a:endParaRPr kumimoji="0" lang="zh-CN" altLang="en-US" sz="12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37" name="圆角矩形 3"/>
          <p:cNvSpPr/>
          <p:nvPr>
            <p:custDataLst>
              <p:tags r:id="rId49"/>
            </p:custDataLst>
          </p:nvPr>
        </p:nvSpPr>
        <p:spPr>
          <a:xfrm>
            <a:off x="7033895" y="3813810"/>
            <a:ext cx="1383030" cy="300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服务器管理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49" name="圆角矩形 60"/>
          <p:cNvSpPr/>
          <p:nvPr>
            <p:custDataLst>
              <p:tags r:id="rId50"/>
            </p:custDataLst>
          </p:nvPr>
        </p:nvSpPr>
        <p:spPr>
          <a:xfrm>
            <a:off x="3391535" y="1189355"/>
            <a:ext cx="1805305" cy="334645"/>
          </a:xfrm>
          <a:prstGeom prst="roundRect">
            <a:avLst/>
          </a:prstGeom>
          <a:solidFill>
            <a:schemeClr val="accent2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资源可视化展示</a:t>
            </a:r>
            <a:endParaRPr kumimoji="0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50" name="圆角矩形 60"/>
          <p:cNvSpPr/>
          <p:nvPr>
            <p:custDataLst>
              <p:tags r:id="rId51"/>
            </p:custDataLst>
          </p:nvPr>
        </p:nvSpPr>
        <p:spPr>
          <a:xfrm>
            <a:off x="5746750" y="1188720"/>
            <a:ext cx="1805940" cy="334645"/>
          </a:xfrm>
          <a:prstGeom prst="roundRect">
            <a:avLst/>
          </a:prstGeom>
          <a:solidFill>
            <a:schemeClr val="accent2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统计大屏</a:t>
            </a:r>
            <a:endParaRPr kumimoji="0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51" name="圆角矩形 60"/>
          <p:cNvSpPr/>
          <p:nvPr>
            <p:custDataLst>
              <p:tags r:id="rId52"/>
            </p:custDataLst>
          </p:nvPr>
        </p:nvSpPr>
        <p:spPr>
          <a:xfrm>
            <a:off x="7996555" y="1200150"/>
            <a:ext cx="1805305" cy="334010"/>
          </a:xfrm>
          <a:prstGeom prst="roundRect">
            <a:avLst/>
          </a:prstGeom>
          <a:solidFill>
            <a:schemeClr val="accent2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报表可视化</a:t>
            </a:r>
            <a:endParaRPr kumimoji="0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52" name="圆角矩形 51"/>
          <p:cNvSpPr/>
          <p:nvPr>
            <p:custDataLst>
              <p:tags r:id="rId53"/>
            </p:custDataLst>
          </p:nvPr>
        </p:nvSpPr>
        <p:spPr>
          <a:xfrm>
            <a:off x="8679815" y="4849495"/>
            <a:ext cx="1350645" cy="337185"/>
          </a:xfrm>
          <a:prstGeom prst="roundRect">
            <a:avLst/>
          </a:prstGeom>
          <a:solidFill>
            <a:srgbClr val="0955D1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  <a:sym typeface="+mn-ea"/>
              </a:rPr>
              <a:t>权限系统</a:t>
            </a:r>
            <a:endParaRPr kumimoji="0" lang="zh-CN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  <a:sym typeface="+mn-ea"/>
            </a:endParaRPr>
          </a:p>
        </p:txBody>
      </p:sp>
      <p:sp>
        <p:nvSpPr>
          <p:cNvPr id="53" name="圆角矩形 20"/>
          <p:cNvSpPr/>
          <p:nvPr>
            <p:custDataLst>
              <p:tags r:id="rId54"/>
            </p:custDataLst>
          </p:nvPr>
        </p:nvSpPr>
        <p:spPr>
          <a:xfrm>
            <a:off x="11078210" y="789940"/>
            <a:ext cx="922655" cy="5778500"/>
          </a:xfrm>
          <a:prstGeom prst="roundRect">
            <a:avLst/>
          </a:prstGeom>
          <a:ln w="3175">
            <a:solidFill>
              <a:schemeClr val="accent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endParaRPr lang="zh-CN" altLang="en-US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  <a:sym typeface="+mn-ea"/>
            </a:endParaRPr>
          </a:p>
        </p:txBody>
      </p:sp>
      <p:sp>
        <p:nvSpPr>
          <p:cNvPr id="54" name="文本框 53"/>
          <p:cNvSpPr txBox="1"/>
          <p:nvPr>
            <p:custDataLst>
              <p:tags r:id="rId55"/>
            </p:custDataLst>
          </p:nvPr>
        </p:nvSpPr>
        <p:spPr>
          <a:xfrm>
            <a:off x="11078210" y="915035"/>
            <a:ext cx="9493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0" algn="l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zh-CN" altLang="en-US" sz="1400" b="1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宋体-简" panose="02010800040101010101" charset="-122"/>
                <a:sym typeface="+mn-ea"/>
              </a:rPr>
              <a:t>系统对接</a:t>
            </a:r>
            <a:endParaRPr lang="zh-CN" altLang="en-US" sz="1400" b="1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微软雅黑" panose="020B0604030504040204" pitchFamily="34" charset="-122"/>
              <a:ea typeface="微软雅黑" panose="020B0604030504040204" pitchFamily="34" charset="-122"/>
              <a:cs typeface="宋体-简" panose="02010800040101010101" charset="-122"/>
              <a:sym typeface="+mn-ea"/>
            </a:endParaRPr>
          </a:p>
        </p:txBody>
      </p:sp>
      <p:sp>
        <p:nvSpPr>
          <p:cNvPr id="55" name="右箭头 25"/>
          <p:cNvSpPr/>
          <p:nvPr>
            <p:custDataLst>
              <p:tags r:id="rId56"/>
            </p:custDataLst>
          </p:nvPr>
        </p:nvSpPr>
        <p:spPr>
          <a:xfrm>
            <a:off x="10243185" y="3491865"/>
            <a:ext cx="771525" cy="111760"/>
          </a:xfrm>
          <a:prstGeom prst="rightArrow">
            <a:avLst/>
          </a:prstGeom>
          <a:solidFill>
            <a:srgbClr val="08266E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56" name="圆角矩形 26"/>
          <p:cNvSpPr/>
          <p:nvPr>
            <p:custDataLst>
              <p:tags r:id="rId57"/>
            </p:custDataLst>
          </p:nvPr>
        </p:nvSpPr>
        <p:spPr>
          <a:xfrm>
            <a:off x="11177270" y="1874520"/>
            <a:ext cx="724535" cy="466090"/>
          </a:xfrm>
          <a:prstGeom prst="roundRect">
            <a:avLst/>
          </a:prstGeom>
          <a:solidFill>
            <a:srgbClr val="08266E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统一监控</a:t>
            </a:r>
            <a:endParaRPr kumimoji="0" lang="zh-CN" altLang="en-US" sz="14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57" name="右箭头 27"/>
          <p:cNvSpPr/>
          <p:nvPr>
            <p:custDataLst>
              <p:tags r:id="rId58"/>
            </p:custDataLst>
          </p:nvPr>
        </p:nvSpPr>
        <p:spPr>
          <a:xfrm rot="10800000">
            <a:off x="10243185" y="4431030"/>
            <a:ext cx="771525" cy="111760"/>
          </a:xfrm>
          <a:prstGeom prst="rightArrow">
            <a:avLst/>
          </a:prstGeom>
          <a:solidFill>
            <a:srgbClr val="08266E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58" name="右弧形箭头 28"/>
          <p:cNvSpPr/>
          <p:nvPr>
            <p:custDataLst>
              <p:tags r:id="rId59"/>
            </p:custDataLst>
          </p:nvPr>
        </p:nvSpPr>
        <p:spPr>
          <a:xfrm>
            <a:off x="10783570" y="3923030"/>
            <a:ext cx="248920" cy="323215"/>
          </a:xfrm>
          <a:prstGeom prst="curvedLeftArrow">
            <a:avLst/>
          </a:prstGeom>
          <a:solidFill>
            <a:srgbClr val="08266E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161" name="左弧形箭头 29"/>
          <p:cNvSpPr/>
          <p:nvPr>
            <p:custDataLst>
              <p:tags r:id="rId60"/>
            </p:custDataLst>
          </p:nvPr>
        </p:nvSpPr>
        <p:spPr>
          <a:xfrm>
            <a:off x="10243820" y="3923030"/>
            <a:ext cx="229235" cy="287020"/>
          </a:xfrm>
          <a:prstGeom prst="curvedRightArrow">
            <a:avLst/>
          </a:prstGeom>
          <a:solidFill>
            <a:srgbClr val="08266E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61"/>
            </p:custDataLst>
          </p:nvPr>
        </p:nvSpPr>
        <p:spPr>
          <a:xfrm>
            <a:off x="10255885" y="3603625"/>
            <a:ext cx="8223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系统对接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60" name="圆角矩形 26"/>
          <p:cNvSpPr/>
          <p:nvPr>
            <p:custDataLst>
              <p:tags r:id="rId62"/>
            </p:custDataLst>
          </p:nvPr>
        </p:nvSpPr>
        <p:spPr>
          <a:xfrm>
            <a:off x="11177270" y="3118485"/>
            <a:ext cx="724535" cy="466090"/>
          </a:xfrm>
          <a:prstGeom prst="roundRect">
            <a:avLst/>
          </a:prstGeom>
          <a:solidFill>
            <a:srgbClr val="08266E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hangingPunct="1">
              <a:defRPr/>
            </a:pPr>
            <a:r>
              <a:rPr lang="zh-CN" altLang="en-US" sz="1400" b="1" kern="1200" noProof="0" dirty="0" smtClean="0">
                <a:solidFill>
                  <a:prstClr val="white"/>
                </a:solidFill>
                <a:uLn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  <a:sym typeface="+mn-ea"/>
              </a:rPr>
              <a:t>ITSM</a:t>
            </a:r>
            <a:endParaRPr lang="zh-CN" altLang="en-US" sz="1400" b="1" kern="1200" noProof="0" dirty="0" smtClean="0">
              <a:solidFill>
                <a:prstClr val="white"/>
              </a:solidFill>
              <a:uLn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  <a:sym typeface="+mn-ea"/>
            </a:endParaRPr>
          </a:p>
        </p:txBody>
      </p:sp>
      <p:sp>
        <p:nvSpPr>
          <p:cNvPr id="61" name="圆角矩形 26"/>
          <p:cNvSpPr/>
          <p:nvPr>
            <p:custDataLst>
              <p:tags r:id="rId63"/>
            </p:custDataLst>
          </p:nvPr>
        </p:nvSpPr>
        <p:spPr>
          <a:xfrm>
            <a:off x="11177270" y="4362450"/>
            <a:ext cx="724535" cy="466090"/>
          </a:xfrm>
          <a:prstGeom prst="roundRect">
            <a:avLst/>
          </a:prstGeom>
          <a:solidFill>
            <a:srgbClr val="08266E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hangingPunct="1">
              <a:defRPr/>
            </a:pPr>
            <a:r>
              <a:rPr lang="zh-CN" altLang="en-US" sz="1400" b="1" kern="1200" noProof="0" dirty="0" smtClean="0">
                <a:solidFill>
                  <a:prstClr val="white"/>
                </a:solidFill>
                <a:uLn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  <a:sym typeface="+mn-ea"/>
              </a:rPr>
              <a:t>自动化</a:t>
            </a:r>
            <a:endParaRPr lang="zh-CN" altLang="en-US" sz="1400" b="1" kern="1200" noProof="0" dirty="0" smtClean="0">
              <a:solidFill>
                <a:prstClr val="white"/>
              </a:solidFill>
              <a:uLn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  <a:sym typeface="+mn-ea"/>
            </a:endParaRPr>
          </a:p>
        </p:txBody>
      </p:sp>
      <p:sp>
        <p:nvSpPr>
          <p:cNvPr id="62" name="圆角矩形 26"/>
          <p:cNvSpPr/>
          <p:nvPr>
            <p:custDataLst>
              <p:tags r:id="rId64"/>
            </p:custDataLst>
          </p:nvPr>
        </p:nvSpPr>
        <p:spPr>
          <a:xfrm>
            <a:off x="11177270" y="5606415"/>
            <a:ext cx="724535" cy="466725"/>
          </a:xfrm>
          <a:prstGeom prst="roundRect">
            <a:avLst/>
          </a:prstGeom>
          <a:solidFill>
            <a:srgbClr val="08266E"/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 hangingPunct="1">
              <a:defRPr/>
            </a:pPr>
            <a:r>
              <a:rPr lang="zh-CN" altLang="en-US" sz="1400" b="1" kern="1200" noProof="0" dirty="0" smtClean="0">
                <a:solidFill>
                  <a:prstClr val="white"/>
                </a:solidFill>
                <a:uLn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  <a:sym typeface="+mn-ea"/>
              </a:rPr>
              <a:t>其他系统</a:t>
            </a:r>
            <a:endParaRPr lang="zh-CN" altLang="en-US" sz="1400" b="1" kern="1200" noProof="0" dirty="0" smtClean="0">
              <a:solidFill>
                <a:prstClr val="white"/>
              </a:solidFill>
              <a:uLn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  <a:sym typeface="+mn-ea"/>
            </a:endParaRPr>
          </a:p>
        </p:txBody>
      </p:sp>
      <p:sp>
        <p:nvSpPr>
          <p:cNvPr id="63" name="圆角矩形 3"/>
          <p:cNvSpPr/>
          <p:nvPr>
            <p:custDataLst>
              <p:tags r:id="rId65"/>
            </p:custDataLst>
          </p:nvPr>
        </p:nvSpPr>
        <p:spPr>
          <a:xfrm>
            <a:off x="5471160" y="2340610"/>
            <a:ext cx="1383030" cy="3009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业务管理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64" name="圆角矩形 3"/>
          <p:cNvSpPr/>
          <p:nvPr>
            <p:custDataLst>
              <p:tags r:id="rId66"/>
            </p:custDataLst>
          </p:nvPr>
        </p:nvSpPr>
        <p:spPr>
          <a:xfrm>
            <a:off x="5471160" y="2701290"/>
            <a:ext cx="1383030" cy="3009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数据库管理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65" name="圆角矩形 3"/>
          <p:cNvSpPr/>
          <p:nvPr>
            <p:custDataLst>
              <p:tags r:id="rId67"/>
            </p:custDataLst>
          </p:nvPr>
        </p:nvSpPr>
        <p:spPr>
          <a:xfrm>
            <a:off x="5471160" y="3075940"/>
            <a:ext cx="1383030" cy="300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中间件管理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66" name="圆角矩形 3"/>
          <p:cNvSpPr/>
          <p:nvPr>
            <p:custDataLst>
              <p:tags r:id="rId68"/>
            </p:custDataLst>
          </p:nvPr>
        </p:nvSpPr>
        <p:spPr>
          <a:xfrm>
            <a:off x="5471160" y="3449955"/>
            <a:ext cx="1383030" cy="3009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缓存管理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67" name="圆角矩形 3"/>
          <p:cNvSpPr/>
          <p:nvPr>
            <p:custDataLst>
              <p:tags r:id="rId69"/>
            </p:custDataLst>
          </p:nvPr>
        </p:nvSpPr>
        <p:spPr>
          <a:xfrm>
            <a:off x="5470525" y="3801110"/>
            <a:ext cx="1383030" cy="300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交换机管理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68" name="圆角矩形 3"/>
          <p:cNvSpPr/>
          <p:nvPr>
            <p:custDataLst>
              <p:tags r:id="rId70"/>
            </p:custDataLst>
          </p:nvPr>
        </p:nvSpPr>
        <p:spPr>
          <a:xfrm>
            <a:off x="8596630" y="2340610"/>
            <a:ext cx="1383030" cy="3009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主机管理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69" name="圆角矩形 3"/>
          <p:cNvSpPr/>
          <p:nvPr>
            <p:custDataLst>
              <p:tags r:id="rId71"/>
            </p:custDataLst>
          </p:nvPr>
        </p:nvSpPr>
        <p:spPr>
          <a:xfrm>
            <a:off x="8595995" y="2710815"/>
            <a:ext cx="1383030" cy="3009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交换机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71" name="圆角矩形 3"/>
          <p:cNvSpPr/>
          <p:nvPr>
            <p:custDataLst>
              <p:tags r:id="rId72"/>
            </p:custDataLst>
          </p:nvPr>
        </p:nvSpPr>
        <p:spPr>
          <a:xfrm>
            <a:off x="8595995" y="3085465"/>
            <a:ext cx="1383030" cy="300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路由器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72" name="圆角矩形 3"/>
          <p:cNvSpPr/>
          <p:nvPr>
            <p:custDataLst>
              <p:tags r:id="rId73"/>
            </p:custDataLst>
          </p:nvPr>
        </p:nvSpPr>
        <p:spPr>
          <a:xfrm>
            <a:off x="8595995" y="3459480"/>
            <a:ext cx="1383030" cy="30099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防火墙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73" name="圆角矩形 3"/>
          <p:cNvSpPr/>
          <p:nvPr>
            <p:custDataLst>
              <p:tags r:id="rId74"/>
            </p:custDataLst>
          </p:nvPr>
        </p:nvSpPr>
        <p:spPr>
          <a:xfrm>
            <a:off x="8595360" y="3810635"/>
            <a:ext cx="1383030" cy="300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effectLst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存储管理</a:t>
            </a:r>
            <a:endParaRPr kumimoji="0" lang="zh-CN" altLang="en-US" sz="1200" b="0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75"/>
            </p:custDataLst>
          </p:nvPr>
        </p:nvSpPr>
        <p:spPr>
          <a:xfrm>
            <a:off x="6801485" y="1954530"/>
            <a:ext cx="1805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8266E"/>
                </a:solidFill>
                <a:effectLst/>
                <a:uLnTx/>
                <a:uFillTx/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资源分类管理管理</a:t>
            </a:r>
            <a:endParaRPr kumimoji="0" lang="zh-CN" altLang="en-US" sz="1400" b="1" i="0" u="none" strike="noStrike" kern="1200" cap="none" spc="0" normalizeH="0" baseline="0" noProof="0" dirty="0" smtClean="0">
              <a:ln>
                <a:noFill/>
              </a:ln>
              <a:solidFill>
                <a:srgbClr val="08266E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75" name="上弧形箭头 74"/>
          <p:cNvSpPr/>
          <p:nvPr>
            <p:custDataLst>
              <p:tags r:id="rId76"/>
            </p:custDataLst>
          </p:nvPr>
        </p:nvSpPr>
        <p:spPr>
          <a:xfrm rot="5400000">
            <a:off x="4602480" y="2927350"/>
            <a:ext cx="771525" cy="337820"/>
          </a:xfrm>
          <a:prstGeom prst="curvedDownArrow">
            <a:avLst/>
          </a:prstGeom>
          <a:solidFill>
            <a:srgbClr val="082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76" name="上弧形箭头 75"/>
          <p:cNvSpPr/>
          <p:nvPr>
            <p:custDataLst>
              <p:tags r:id="rId77"/>
            </p:custDataLst>
          </p:nvPr>
        </p:nvSpPr>
        <p:spPr>
          <a:xfrm rot="16200000">
            <a:off x="3851910" y="2877185"/>
            <a:ext cx="841375" cy="389255"/>
          </a:xfrm>
          <a:prstGeom prst="curvedDownArrow">
            <a:avLst/>
          </a:prstGeom>
          <a:solidFill>
            <a:srgbClr val="08266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78"/>
            </p:custDataLst>
          </p:nvPr>
        </p:nvSpPr>
        <p:spPr>
          <a:xfrm>
            <a:off x="4191000" y="2912110"/>
            <a:ext cx="894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lang="zh-CN" altLang="en-US" sz="1400" dirty="0" smtClean="0">
                <a:solidFill>
                  <a:srgbClr val="08266E"/>
                </a:solidFill>
                <a:latin typeface="宋体-简" panose="02010800040101010101" charset="-122"/>
                <a:ea typeface="宋体-简" panose="02010800040101010101" charset="-122"/>
                <a:cs typeface="宋体-简" panose="02010800040101010101" charset="-122"/>
              </a:rPr>
              <a:t>持续运营</a:t>
            </a:r>
            <a:endParaRPr kumimoji="1" lang="zh-CN" altLang="en-US" sz="1400" dirty="0" smtClean="0">
              <a:solidFill>
                <a:srgbClr val="08266E"/>
              </a:solidFill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  <p:sp>
        <p:nvSpPr>
          <p:cNvPr id="78" name="圆角矩形 77"/>
          <p:cNvSpPr/>
          <p:nvPr>
            <p:custDataLst>
              <p:tags r:id="rId79"/>
            </p:custDataLst>
          </p:nvPr>
        </p:nvSpPr>
        <p:spPr>
          <a:xfrm>
            <a:off x="407035" y="1810703"/>
            <a:ext cx="3626485" cy="2520315"/>
          </a:xfrm>
          <a:prstGeom prst="roundRect">
            <a:avLst>
              <a:gd name="adj" fmla="val 9853"/>
            </a:avLst>
          </a:prstGeom>
          <a:noFill/>
          <a:ln w="12700" cmpd="sng">
            <a:solidFill>
              <a:schemeClr val="accent1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宋体-简" panose="02010800040101010101" charset="-122"/>
              <a:ea typeface="宋体-简" panose="02010800040101010101" charset="-122"/>
              <a:cs typeface="宋体-简" panose="020108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508000" y="127635"/>
            <a:ext cx="7657465" cy="571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altLang="zh-CN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4.1 CMDB</a:t>
            </a:r>
            <a:r>
              <a:rPr lang="zh-CN" altLang="en-US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项目建设关键</a:t>
            </a:r>
            <a:r>
              <a:rPr lang="en-US" altLang="zh-CN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 - </a:t>
            </a:r>
            <a:r>
              <a:rPr lang="zh-CN" altLang="en-US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模型设计</a:t>
            </a:r>
            <a:endParaRPr lang="zh-CN" altLang="en-US" sz="2400" dirty="0">
              <a:latin typeface="微软雅黑" panose="020B0604030504040204" pitchFamily="34" charset="-122"/>
              <a:ea typeface="微软雅黑" panose="020B0604030504040204" pitchFamily="34" charset="-122"/>
              <a:sym typeface="+mn-ea"/>
            </a:endParaRPr>
          </a:p>
        </p:txBody>
      </p:sp>
      <p:sp>
        <p:nvSpPr>
          <p:cNvPr id="87" name="矩形 86"/>
          <p:cNvSpPr/>
          <p:nvPr>
            <p:custDataLst>
              <p:tags r:id="rId1"/>
            </p:custDataLst>
          </p:nvPr>
        </p:nvSpPr>
        <p:spPr>
          <a:xfrm>
            <a:off x="1363345" y="6409055"/>
            <a:ext cx="10196195" cy="3219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50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rPr>
              <a:t>提供行业标准化模型，支持基于标准模型进行调整，以适配企业内部的资源管理要求，解决数据的标准化、覆盖面问题</a:t>
            </a:r>
            <a:endParaRPr lang="zh-CN" altLang="en-US" sz="15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</a:endParaRPr>
          </a:p>
        </p:txBody>
      </p:sp>
      <p:sp>
        <p:nvSpPr>
          <p:cNvPr id="6" name="矩形 5"/>
          <p:cNvSpPr/>
          <p:nvPr>
            <p:custDataLst>
              <p:tags r:id="rId2"/>
            </p:custDataLst>
          </p:nvPr>
        </p:nvSpPr>
        <p:spPr>
          <a:xfrm>
            <a:off x="7446010" y="1651000"/>
            <a:ext cx="4306570" cy="4438650"/>
          </a:xfrm>
          <a:prstGeom prst="rect">
            <a:avLst/>
          </a:prstGeom>
        </p:spPr>
        <p:txBody>
          <a:bodyPr wrap="square">
            <a:noAutofit/>
          </a:bodyPr>
          <a:p>
            <a:pPr marL="337820" indent="-337820" defTabSz="899160">
              <a:lnSpc>
                <a:spcPct val="120000"/>
              </a:lnSpc>
              <a:buFont typeface="Wingdings" panose="05000000000000000000" charset="0"/>
              <a:buChar char=""/>
            </a:pP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sym typeface="+mn-lt"/>
            </a:endParaRPr>
          </a:p>
          <a:p>
            <a:pPr marL="285750" indent="-285750" defTabSz="899160" fontAlgn="auto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sym typeface="+mn-lt"/>
              </a:rPr>
              <a:t>核心模型：业务、应用、集群、主机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sym typeface="+mn-lt"/>
            </a:endParaRPr>
          </a:p>
          <a:p>
            <a:pPr marL="285750" indent="-285750" defTabSz="899160" fontAlgn="auto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sym typeface="+mn-lt"/>
              </a:rPr>
              <a:t>云原生资源模型及多云管理能力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sym typeface="+mn-lt"/>
            </a:endParaRPr>
          </a:p>
          <a:p>
            <a:pPr marL="285750" indent="-285750" defTabSz="899160" fontAlgn="auto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sym typeface="+mn-lt"/>
              </a:rPr>
              <a:t>自定义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sym typeface="+mn-lt"/>
              </a:rPr>
              <a:t>模型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sym typeface="+mn-lt"/>
              </a:rPr>
              <a:t>扩展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sym typeface="+mn-lt"/>
              </a:rPr>
              <a:t>：基于核心模型的关联对象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sym typeface="+mn-lt"/>
            </a:endParaRPr>
          </a:p>
          <a:p>
            <a:pPr marL="285750" indent="-285750" defTabSz="899160" fontAlgn="auto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sym typeface="+mn-lt"/>
              </a:rPr>
              <a:t>IAAS、PAAS提供面向应用的资源支撑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sym typeface="+mn-lt"/>
            </a:endParaRPr>
          </a:p>
          <a:p>
            <a:pPr marL="285750" indent="-285750" defTabSz="899160" fontAlgn="auto">
              <a:lnSpc>
                <a:spcPct val="150000"/>
              </a:lnSpc>
              <a:buFont typeface="Wingdings" panose="05000000000000000000" charset="0"/>
              <a:buChar char=""/>
            </a:pP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sym typeface="+mn-lt"/>
              </a:rPr>
              <a:t>深度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sym typeface="+mn-lt"/>
              </a:rPr>
              <a:t>两地三中心架构的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sym typeface="+mn-lt"/>
              </a:rPr>
              <a:t>模型，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sym typeface="+mn-lt"/>
              </a:rPr>
              <a:t>软硬件</a:t>
            </a:r>
            <a:r>
              <a:rPr lang="en-US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sym typeface="+mn-lt"/>
              </a:rPr>
              <a:t>资源管理</a:t>
            </a:r>
            <a:endParaRPr lang="en-US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18490" y="1218565"/>
            <a:ext cx="6186805" cy="5125720"/>
          </a:xfrm>
          <a:prstGeom prst="rect">
            <a:avLst/>
          </a:prstGeom>
          <a:ln w="6350">
            <a:solidFill>
              <a:schemeClr val="accent1"/>
            </a:solidFill>
          </a:ln>
        </p:spPr>
      </p:pic>
      <p:sp>
        <p:nvSpPr>
          <p:cNvPr id="5" name="文本框 4"/>
          <p:cNvSpPr txBox="1"/>
          <p:nvPr>
            <p:custDataLst>
              <p:tags r:id="rId5"/>
            </p:custDataLst>
          </p:nvPr>
        </p:nvSpPr>
        <p:spPr>
          <a:xfrm>
            <a:off x="508000" y="683260"/>
            <a:ext cx="11383645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just">
              <a:lnSpc>
                <a:spcPct val="150000"/>
              </a:lnSpc>
              <a:buClrTx/>
              <a:buSzTx/>
              <a:buFont typeface="Arial" panose="020B0604020202090204" pitchFamily="34" charset="0"/>
            </a:pPr>
            <a:r>
              <a:rPr lang="zh-CN" altLang="en-US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行业标准化模型及关联关系，面向应用CMDB，定义行业模型规范，接口能力强大，供运维场景进行数据消费。</a:t>
            </a:r>
            <a:endParaRPr kumimoji="1" lang="zh-CN" altLang="en-US" dirty="0">
              <a:latin typeface="微软雅黑" panose="020B0604030504040204" pitchFamily="34" charset="-122"/>
              <a:ea typeface="微软雅黑" panose="020B0604030504040204" pitchFamily="34" charset="-122"/>
              <a:sym typeface="+mn-ea"/>
            </a:endParaRPr>
          </a:p>
        </p:txBody>
      </p:sp>
      <p:sp>
        <p:nvSpPr>
          <p:cNvPr id="49" name="圆角矩形 48"/>
          <p:cNvSpPr/>
          <p:nvPr>
            <p:custDataLst>
              <p:tags r:id="rId6"/>
            </p:custDataLst>
          </p:nvPr>
        </p:nvSpPr>
        <p:spPr>
          <a:xfrm>
            <a:off x="7270115" y="1351280"/>
            <a:ext cx="4632325" cy="4896485"/>
          </a:xfrm>
          <a:prstGeom prst="roundRect">
            <a:avLst>
              <a:gd name="adj" fmla="val 5627"/>
            </a:avLst>
          </a:prstGeom>
          <a:noFill/>
          <a:ln w="12700" cmpd="sng">
            <a:solidFill>
              <a:schemeClr val="accent1">
                <a:lumMod val="20000"/>
                <a:lumOff val="8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50000"/>
              </a:lnSpc>
            </a:pPr>
            <a:endParaRPr kumimoji="1" lang="zh-CN" altLang="en-US" sz="1600">
              <a:latin typeface="微软雅黑" panose="020B0604030504040204" pitchFamily="34" charset="-122"/>
              <a:ea typeface="微软雅黑" panose="020B0604030504040204" pitchFamily="34" charset="-122"/>
              <a:cs typeface="微软雅黑" panose="020B0604030504040204" pitchFamily="34" charset="-122"/>
            </a:endParaRPr>
          </a:p>
        </p:txBody>
      </p:sp>
      <p:sp>
        <p:nvSpPr>
          <p:cNvPr id="7" name="圆角矩形 6"/>
          <p:cNvSpPr/>
          <p:nvPr>
            <p:custDataLst>
              <p:tags r:id="rId7"/>
            </p:custDataLst>
          </p:nvPr>
        </p:nvSpPr>
        <p:spPr>
          <a:xfrm>
            <a:off x="1363345" y="6419850"/>
            <a:ext cx="10196195" cy="306705"/>
          </a:xfrm>
          <a:prstGeom prst="roundRect">
            <a:avLst/>
          </a:prstGeom>
          <a:noFill/>
          <a:ln w="3175">
            <a:solidFill>
              <a:srgbClr val="08266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599045" y="1503045"/>
            <a:ext cx="2011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lang="zh-CN" altLang="en-US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模型设计关键点：</a:t>
            </a:r>
            <a:endParaRPr kumimoji="1" lang="zh-CN" altLang="en-US" dirty="0" smtClean="0">
              <a:latin typeface="微软雅黑" panose="020B0604030504040204" pitchFamily="34" charset="-122"/>
              <a:ea typeface="微软雅黑" panose="020B060403050404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508000" y="127635"/>
            <a:ext cx="7657465" cy="5715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altLang="zh-CN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4.2 </a:t>
            </a:r>
            <a:r>
              <a:rPr lang="zh-CN" altLang="en-US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超融合监控能力</a:t>
            </a:r>
            <a:r>
              <a:rPr lang="en-US" altLang="zh-CN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 - </a:t>
            </a:r>
            <a:r>
              <a:rPr lang="zh-CN" altLang="en-US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功能架构</a:t>
            </a:r>
            <a:endParaRPr lang="zh-CN" altLang="en-US" sz="2400" dirty="0">
              <a:latin typeface="微软雅黑" panose="020B0604030504040204" pitchFamily="34" charset="-122"/>
              <a:ea typeface="微软雅黑" panose="020B0604030504040204" pitchFamily="34" charset="-122"/>
              <a:sym typeface="+mn-ea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570230" y="1017905"/>
            <a:ext cx="11108055" cy="5579110"/>
            <a:chOff x="311" y="1915"/>
            <a:chExt cx="17493" cy="8786"/>
          </a:xfrm>
        </p:grpSpPr>
        <p:sp>
          <p:nvSpPr>
            <p:cNvPr id="5" name="矩形 4"/>
            <p:cNvSpPr/>
            <p:nvPr>
              <p:custDataLst>
                <p:tags r:id="rId1"/>
              </p:custDataLst>
            </p:nvPr>
          </p:nvSpPr>
          <p:spPr>
            <a:xfrm>
              <a:off x="2439" y="9210"/>
              <a:ext cx="11316" cy="821"/>
            </a:xfrm>
            <a:prstGeom prst="rect">
              <a:avLst/>
            </a:prstGeom>
            <a:solidFill>
              <a:srgbClr val="0826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数据采集器（</a:t>
              </a:r>
              <a:r>
                <a:rPr kumimoji="1" lang="en-US" altLang="zh-CN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Metric/</a:t>
              </a:r>
              <a:r>
                <a:rPr kumimoji="1" lang="zh-CN" altLang="en-US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 </a:t>
              </a:r>
              <a:r>
                <a:rPr kumimoji="1" lang="en-US" altLang="zh-CN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Log/</a:t>
              </a:r>
              <a:r>
                <a:rPr kumimoji="1" lang="zh-CN" altLang="en-US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 </a:t>
              </a:r>
              <a:r>
                <a:rPr kumimoji="1" lang="en-US" altLang="zh-CN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Tracing</a:t>
              </a:r>
              <a:r>
                <a:rPr kumimoji="1" lang="zh-CN" altLang="en-US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）</a:t>
              </a:r>
              <a:endParaRPr kumimoji="1" lang="en-US" altLang="zh-CN" dirty="0"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endParaRPr>
            </a:p>
            <a:p>
              <a:pPr algn="ctr"/>
              <a:r>
                <a:rPr kumimoji="1" lang="en-US" altLang="zh-CN" sz="160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Prometheus</a:t>
              </a:r>
              <a:r>
                <a:rPr kumimoji="1" lang="zh-CN" altLang="en-US" sz="160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 、 </a:t>
              </a:r>
              <a:r>
                <a:rPr kumimoji="1" lang="en-US" altLang="zh-CN" sz="160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EasyOpsAgent </a:t>
              </a:r>
              <a:r>
                <a:rPr kumimoji="1" lang="zh-CN" altLang="en-US" sz="160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、</a:t>
              </a:r>
              <a:r>
                <a:rPr kumimoji="1" lang="en-US" altLang="zh-CN" sz="160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filebeat</a:t>
              </a:r>
              <a:r>
                <a:rPr kumimoji="1" lang="zh-CN" altLang="en-US" sz="160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 </a:t>
              </a:r>
              <a:r>
                <a:rPr kumimoji="1" lang="en-US" altLang="zh-CN" sz="160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…</a:t>
              </a:r>
              <a:endParaRPr kumimoji="1" lang="zh-CN" altLang="en-US" sz="1600" dirty="0"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endParaRPr>
            </a:p>
          </p:txBody>
        </p:sp>
        <p:sp>
          <p:nvSpPr>
            <p:cNvPr id="9" name="矩形 8"/>
            <p:cNvSpPr/>
            <p:nvPr>
              <p:custDataLst>
                <p:tags r:id="rId2"/>
              </p:custDataLst>
            </p:nvPr>
          </p:nvSpPr>
          <p:spPr>
            <a:xfrm>
              <a:off x="10243" y="7196"/>
              <a:ext cx="3512" cy="82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latin typeface="微软雅黑" panose="020B0604030504040204" pitchFamily="34" charset="-122"/>
                  <a:ea typeface="微软雅黑" panose="020B0604030504040204" pitchFamily="34" charset="-122"/>
                </a:rPr>
                <a:t>告警策略管理</a:t>
              </a:r>
              <a:endParaRPr kumimoji="1" lang="en-US" altLang="zh-CN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  <a:p>
              <a:pPr algn="ctr"/>
              <a:r>
                <a:rPr kumimoji="1" lang="zh-CN" altLang="en-US" sz="1400" dirty="0">
                  <a:latin typeface="微软雅黑" panose="020B0604030504040204" pitchFamily="34" charset="-122"/>
                  <a:ea typeface="微软雅黑" panose="020B0604030504040204" pitchFamily="34" charset="-122"/>
                </a:rPr>
                <a:t>动态阈值、异常预测</a:t>
              </a:r>
              <a:endParaRPr kumimoji="1" lang="zh-CN" altLang="en-US" sz="1400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4" name="矩形 13"/>
            <p:cNvSpPr/>
            <p:nvPr>
              <p:custDataLst>
                <p:tags r:id="rId3"/>
              </p:custDataLst>
            </p:nvPr>
          </p:nvSpPr>
          <p:spPr>
            <a:xfrm>
              <a:off x="2469" y="8203"/>
              <a:ext cx="11286" cy="821"/>
            </a:xfrm>
            <a:prstGeom prst="rect">
              <a:avLst/>
            </a:prstGeom>
            <a:solidFill>
              <a:srgbClr val="0826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数据加工</a:t>
              </a:r>
              <a:endParaRPr kumimoji="1" lang="en-US" altLang="zh-CN" dirty="0"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endParaRPr>
            </a:p>
            <a:p>
              <a:pPr algn="ctr"/>
              <a:r>
                <a:rPr kumimoji="1" lang="en-US" altLang="zh-CN" sz="120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CMDB</a:t>
              </a:r>
              <a:r>
                <a:rPr kumimoji="1" lang="zh-CN" altLang="en-US" sz="140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资源信息</a:t>
              </a:r>
              <a:endParaRPr kumimoji="1" lang="zh-CN" altLang="en-US" dirty="0"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4"/>
              </p:custDataLst>
            </p:nvPr>
          </p:nvSpPr>
          <p:spPr>
            <a:xfrm>
              <a:off x="13978" y="7196"/>
              <a:ext cx="3806" cy="2836"/>
            </a:xfrm>
            <a:prstGeom prst="rect">
              <a:avLst/>
            </a:prstGeom>
            <a:solidFill>
              <a:srgbClr val="08266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第三方事件接入</a:t>
              </a:r>
              <a:endParaRPr kumimoji="1" lang="en-US" altLang="zh-CN" dirty="0"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endParaRPr>
            </a:p>
            <a:p>
              <a:pPr algn="ctr"/>
              <a:endParaRPr kumimoji="1" lang="en-US" altLang="zh-CN" sz="1400" dirty="0"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endParaRPr>
            </a:p>
            <a:p>
              <a:pPr algn="ctr"/>
              <a:r>
                <a:rPr kumimoji="1" lang="zh-CN" altLang="en-US" sz="140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事件标准化</a:t>
              </a:r>
              <a:endParaRPr kumimoji="1" lang="en-US" altLang="zh-CN" sz="1400" dirty="0"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endParaRPr>
            </a:p>
            <a:p>
              <a:pPr algn="ctr"/>
              <a:r>
                <a:rPr kumimoji="1" lang="en-US" altLang="zh-CN" sz="140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CMDB</a:t>
              </a:r>
              <a:r>
                <a:rPr kumimoji="1" lang="zh-CN" altLang="en-US" sz="140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资源信息加工</a:t>
              </a:r>
              <a:endParaRPr kumimoji="1" lang="zh-CN" altLang="en-US" sz="1400" dirty="0"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endParaRPr>
            </a:p>
          </p:txBody>
        </p:sp>
        <p:sp>
          <p:nvSpPr>
            <p:cNvPr id="18" name="矩形 17"/>
            <p:cNvSpPr/>
            <p:nvPr>
              <p:custDataLst>
                <p:tags r:id="rId5"/>
              </p:custDataLst>
            </p:nvPr>
          </p:nvSpPr>
          <p:spPr>
            <a:xfrm>
              <a:off x="2439" y="2907"/>
              <a:ext cx="15345" cy="1604"/>
            </a:xfrm>
            <a:prstGeom prst="rect">
              <a:avLst/>
            </a:prstGeom>
            <a:noFill/>
            <a:ln w="6350">
              <a:solidFill>
                <a:srgbClr val="0826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kumimoji="1" lang="zh-CN" altLang="en-US" dirty="0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统一</a:t>
              </a:r>
              <a:r>
                <a:rPr kumimoji="1" lang="en-US" altLang="zh-CN" dirty="0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Dashboard</a:t>
              </a:r>
              <a:r>
                <a:rPr kumimoji="1" lang="zh-CN" altLang="en-US" dirty="0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 （七大视图）</a:t>
              </a:r>
              <a:endParaRPr kumimoji="1" lang="zh-CN" altLang="en-US" dirty="0">
                <a:solidFill>
                  <a:srgbClr val="0955D1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6"/>
              </p:custDataLst>
            </p:nvPr>
          </p:nvSpPr>
          <p:spPr>
            <a:xfrm>
              <a:off x="2469" y="7196"/>
              <a:ext cx="3704" cy="82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latin typeface="微软雅黑" panose="020B0604030504040204" pitchFamily="34" charset="-122"/>
                  <a:ea typeface="微软雅黑" panose="020B0604030504040204" pitchFamily="34" charset="-122"/>
                </a:rPr>
                <a:t>指标管理</a:t>
              </a:r>
              <a:endParaRPr kumimoji="1" lang="zh-CN" altLang="en-US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7" name="矩形 6"/>
            <p:cNvSpPr/>
            <p:nvPr>
              <p:custDataLst>
                <p:tags r:id="rId7"/>
              </p:custDataLst>
            </p:nvPr>
          </p:nvSpPr>
          <p:spPr>
            <a:xfrm>
              <a:off x="10243" y="4672"/>
              <a:ext cx="7540" cy="2348"/>
            </a:xfrm>
            <a:prstGeom prst="rect">
              <a:avLst/>
            </a:prstGeom>
            <a:noFill/>
            <a:ln w="6350">
              <a:solidFill>
                <a:srgbClr val="0826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kumimoji="1" lang="zh-CN" altLang="en-US" dirty="0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统一事件处理</a:t>
              </a:r>
              <a:endParaRPr kumimoji="1" lang="zh-CN" altLang="en-US" dirty="0">
                <a:solidFill>
                  <a:srgbClr val="0955D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2" name="矩形 1"/>
            <p:cNvSpPr/>
            <p:nvPr>
              <p:custDataLst>
                <p:tags r:id="rId8"/>
              </p:custDataLst>
            </p:nvPr>
          </p:nvSpPr>
          <p:spPr>
            <a:xfrm>
              <a:off x="10711" y="6063"/>
              <a:ext cx="2158" cy="82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latin typeface="微软雅黑" panose="020B0604030504040204" pitchFamily="34" charset="-122"/>
                  <a:ea typeface="微软雅黑" panose="020B0604030504040204" pitchFamily="34" charset="-122"/>
                </a:rPr>
                <a:t>告警屏蔽</a:t>
              </a:r>
              <a:endParaRPr kumimoji="1" lang="zh-CN" altLang="en-US" sz="1400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9"/>
              </p:custDataLst>
            </p:nvPr>
          </p:nvSpPr>
          <p:spPr>
            <a:xfrm>
              <a:off x="12887" y="6064"/>
              <a:ext cx="2158" cy="82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事件压缩</a:t>
              </a:r>
              <a:endParaRPr kumimoji="1" lang="en-US" altLang="zh-CN" sz="1400" dirty="0"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endParaRPr>
            </a:p>
            <a:p>
              <a:pPr algn="ctr"/>
              <a:r>
                <a:rPr kumimoji="1" lang="zh-CN" altLang="en-US" sz="105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基于</a:t>
              </a:r>
              <a:r>
                <a:rPr kumimoji="1" lang="en-US" altLang="zh-CN" sz="105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CMDB</a:t>
              </a:r>
              <a:r>
                <a:rPr kumimoji="1" lang="zh-CN" altLang="en-US" sz="105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资源关系</a:t>
              </a:r>
              <a:endParaRPr kumimoji="1" lang="zh-CN" altLang="en-US" sz="1050" dirty="0"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endParaRPr>
            </a:p>
          </p:txBody>
        </p:sp>
        <p:sp>
          <p:nvSpPr>
            <p:cNvPr id="23" name="矩形 22"/>
            <p:cNvSpPr/>
            <p:nvPr>
              <p:custDataLst>
                <p:tags r:id="rId10"/>
              </p:custDataLst>
            </p:nvPr>
          </p:nvSpPr>
          <p:spPr>
            <a:xfrm>
              <a:off x="15067" y="6064"/>
              <a:ext cx="2158" cy="82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latin typeface="微软雅黑" panose="020B0604030504040204" pitchFamily="34" charset="-122"/>
                  <a:ea typeface="微软雅黑" panose="020B0604030504040204" pitchFamily="34" charset="-122"/>
                </a:rPr>
                <a:t>告警通知</a:t>
              </a:r>
              <a:endParaRPr kumimoji="1" lang="zh-CN" altLang="en-US" sz="1400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11"/>
              </p:custDataLst>
            </p:nvPr>
          </p:nvSpPr>
          <p:spPr>
            <a:xfrm>
              <a:off x="10711" y="5223"/>
              <a:ext cx="2158" cy="82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latin typeface="微软雅黑" panose="020B0604030504040204" pitchFamily="34" charset="-122"/>
                  <a:ea typeface="微软雅黑" panose="020B0604030504040204" pitchFamily="34" charset="-122"/>
                </a:rPr>
                <a:t>告警升级</a:t>
              </a:r>
              <a:endParaRPr kumimoji="1" lang="zh-CN" altLang="en-US" sz="1400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2"/>
              </p:custDataLst>
            </p:nvPr>
          </p:nvSpPr>
          <p:spPr>
            <a:xfrm>
              <a:off x="12887" y="5223"/>
              <a:ext cx="2158" cy="82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事件丰富</a:t>
              </a:r>
              <a:endParaRPr kumimoji="1" lang="en-US" altLang="zh-CN" sz="1400" dirty="0"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endParaRPr>
            </a:p>
            <a:p>
              <a:pPr algn="ctr"/>
              <a:r>
                <a:rPr kumimoji="1" lang="zh-CN" altLang="en-US" sz="105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基于</a:t>
              </a:r>
              <a:r>
                <a:rPr kumimoji="1" lang="en-US" altLang="zh-CN" sz="105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CMDB</a:t>
              </a:r>
              <a:r>
                <a:rPr kumimoji="1" lang="zh-CN" altLang="en-US" sz="105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资源信息</a:t>
              </a:r>
              <a:endParaRPr kumimoji="1" lang="zh-CN" altLang="en-US" sz="1050" dirty="0"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endParaRPr>
            </a:p>
          </p:txBody>
        </p:sp>
        <p:sp>
          <p:nvSpPr>
            <p:cNvPr id="13" name="矩形 12"/>
            <p:cNvSpPr/>
            <p:nvPr>
              <p:custDataLst>
                <p:tags r:id="rId13"/>
              </p:custDataLst>
            </p:nvPr>
          </p:nvSpPr>
          <p:spPr>
            <a:xfrm>
              <a:off x="15067" y="5223"/>
              <a:ext cx="2158" cy="821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latin typeface="微软雅黑" panose="020B0604030504040204" pitchFamily="34" charset="-122"/>
                  <a:ea typeface="微软雅黑" panose="020B0604030504040204" pitchFamily="34" charset="-122"/>
                </a:rPr>
                <a:t>自动化动作</a:t>
              </a:r>
              <a:endParaRPr kumimoji="1" lang="zh-CN" altLang="en-US" sz="1400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4"/>
              </p:custDataLst>
            </p:nvPr>
          </p:nvSpPr>
          <p:spPr>
            <a:xfrm>
              <a:off x="6397" y="7196"/>
              <a:ext cx="3622" cy="82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dirty="0">
                  <a:latin typeface="微软雅黑" panose="020B0604030504040204" pitchFamily="34" charset="-122"/>
                  <a:ea typeface="微软雅黑" panose="020B0604030504040204" pitchFamily="34" charset="-122"/>
                </a:rPr>
                <a:t>指标采集管理</a:t>
              </a:r>
              <a:endParaRPr kumimoji="1" lang="zh-CN" altLang="en-US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7" name="文本框 16"/>
            <p:cNvSpPr txBox="1"/>
            <p:nvPr>
              <p:custDataLst>
                <p:tags r:id="rId15"/>
              </p:custDataLst>
            </p:nvPr>
          </p:nvSpPr>
          <p:spPr>
            <a:xfrm>
              <a:off x="311" y="8630"/>
              <a:ext cx="17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latin typeface="微软雅黑" panose="020B0604030504040204" pitchFamily="34" charset="-122"/>
                  <a:ea typeface="微软雅黑" panose="020B0604030504040204" pitchFamily="34" charset="-122"/>
                </a:rPr>
                <a:t>数据接入</a:t>
              </a:r>
              <a:endParaRPr kumimoji="1" lang="zh-CN" altLang="en-US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16"/>
              </p:custDataLst>
            </p:nvPr>
          </p:nvSpPr>
          <p:spPr>
            <a:xfrm>
              <a:off x="328" y="5556"/>
              <a:ext cx="17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latin typeface="微软雅黑" panose="020B0604030504040204" pitchFamily="34" charset="-122"/>
                  <a:ea typeface="微软雅黑" panose="020B0604030504040204" pitchFamily="34" charset="-122"/>
                </a:rPr>
                <a:t>数据处理</a:t>
              </a:r>
              <a:endParaRPr kumimoji="1" lang="zh-CN" altLang="en-US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39" name="矩形 38"/>
            <p:cNvSpPr/>
            <p:nvPr>
              <p:custDataLst>
                <p:tags r:id="rId17"/>
              </p:custDataLst>
            </p:nvPr>
          </p:nvSpPr>
          <p:spPr>
            <a:xfrm>
              <a:off x="2469" y="4672"/>
              <a:ext cx="7540" cy="2348"/>
            </a:xfrm>
            <a:prstGeom prst="rect">
              <a:avLst/>
            </a:prstGeom>
            <a:noFill/>
            <a:ln w="6350">
              <a:solidFill>
                <a:srgbClr val="08266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r>
                <a:rPr kumimoji="1" lang="zh-CN" altLang="en-US" dirty="0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统一数据处理</a:t>
              </a:r>
              <a:endParaRPr kumimoji="1" lang="zh-CN" altLang="en-US" dirty="0">
                <a:solidFill>
                  <a:srgbClr val="0955D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18"/>
              </p:custDataLst>
            </p:nvPr>
          </p:nvSpPr>
          <p:spPr>
            <a:xfrm>
              <a:off x="6396" y="5242"/>
              <a:ext cx="3318" cy="16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latin typeface="微软雅黑" panose="020B0604030504040204" pitchFamily="34" charset="-122"/>
                  <a:ea typeface="微软雅黑" panose="020B0604030504040204" pitchFamily="34" charset="-122"/>
                </a:rPr>
                <a:t>聚合加工</a:t>
              </a:r>
              <a:endParaRPr kumimoji="1" lang="zh-CN" altLang="en-US" sz="1400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44" name="矩形 43"/>
            <p:cNvSpPr/>
            <p:nvPr>
              <p:custDataLst>
                <p:tags r:id="rId19"/>
              </p:custDataLst>
            </p:nvPr>
          </p:nvSpPr>
          <p:spPr>
            <a:xfrm>
              <a:off x="2855" y="5241"/>
              <a:ext cx="3318" cy="163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latin typeface="微软雅黑" panose="020B0604030504040204" pitchFamily="34" charset="-122"/>
                  <a:ea typeface="微软雅黑" panose="020B0604030504040204" pitchFamily="34" charset="-122"/>
                </a:rPr>
                <a:t>实时聚合计算</a:t>
              </a:r>
              <a:endParaRPr kumimoji="1" lang="zh-CN" altLang="en-US" sz="1400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47" name="文本框 46"/>
            <p:cNvSpPr txBox="1"/>
            <p:nvPr>
              <p:custDataLst>
                <p:tags r:id="rId20"/>
              </p:custDataLst>
            </p:nvPr>
          </p:nvSpPr>
          <p:spPr>
            <a:xfrm>
              <a:off x="311" y="2241"/>
              <a:ext cx="172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latin typeface="微软雅黑" panose="020B0604030504040204" pitchFamily="34" charset="-122"/>
                  <a:ea typeface="微软雅黑" panose="020B0604030504040204" pitchFamily="34" charset="-122"/>
                </a:rPr>
                <a:t>应用场景</a:t>
              </a:r>
              <a:endParaRPr kumimoji="1" lang="zh-CN" altLang="en-US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48" name="矩形 47"/>
            <p:cNvSpPr/>
            <p:nvPr>
              <p:custDataLst>
                <p:tags r:id="rId21"/>
              </p:custDataLst>
            </p:nvPr>
          </p:nvSpPr>
          <p:spPr>
            <a:xfrm>
              <a:off x="2855" y="3562"/>
              <a:ext cx="1984" cy="796"/>
            </a:xfrm>
            <a:prstGeom prst="rect">
              <a:avLst/>
            </a:prstGeom>
            <a:solidFill>
              <a:srgbClr val="0955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latin typeface="微软雅黑" panose="020B0604030504040204" pitchFamily="34" charset="-122"/>
                  <a:ea typeface="微软雅黑" panose="020B0604030504040204" pitchFamily="34" charset="-122"/>
                </a:rPr>
                <a:t>资源健康视图</a:t>
              </a:r>
              <a:endParaRPr kumimoji="1" lang="zh-CN" altLang="en-US" sz="1400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49" name="矩形 48"/>
            <p:cNvSpPr/>
            <p:nvPr>
              <p:custDataLst>
                <p:tags r:id="rId22"/>
              </p:custDataLst>
            </p:nvPr>
          </p:nvSpPr>
          <p:spPr>
            <a:xfrm>
              <a:off x="4959" y="3562"/>
              <a:ext cx="1984" cy="796"/>
            </a:xfrm>
            <a:prstGeom prst="rect">
              <a:avLst/>
            </a:prstGeom>
            <a:solidFill>
              <a:srgbClr val="0955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latin typeface="微软雅黑" panose="020B0604030504040204" pitchFamily="34" charset="-122"/>
                  <a:ea typeface="微软雅黑" panose="020B0604030504040204" pitchFamily="34" charset="-122"/>
                </a:rPr>
                <a:t>事件分析视图</a:t>
              </a:r>
              <a:endParaRPr kumimoji="1" lang="zh-CN" altLang="en-US" sz="1400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50" name="矩形 49"/>
            <p:cNvSpPr/>
            <p:nvPr>
              <p:custDataLst>
                <p:tags r:id="rId23"/>
              </p:custDataLst>
            </p:nvPr>
          </p:nvSpPr>
          <p:spPr>
            <a:xfrm>
              <a:off x="7063" y="3571"/>
              <a:ext cx="1984" cy="796"/>
            </a:xfrm>
            <a:prstGeom prst="rect">
              <a:avLst/>
            </a:prstGeom>
            <a:solidFill>
              <a:srgbClr val="0955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latin typeface="微软雅黑" panose="020B0604030504040204" pitchFamily="34" charset="-122"/>
                  <a:ea typeface="微软雅黑" panose="020B0604030504040204" pitchFamily="34" charset="-122"/>
                </a:rPr>
                <a:t>拓扑分析视图</a:t>
              </a:r>
              <a:endParaRPr kumimoji="1" lang="zh-CN" altLang="en-US" sz="1400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51" name="矩形 50"/>
            <p:cNvSpPr/>
            <p:nvPr>
              <p:custDataLst>
                <p:tags r:id="rId24"/>
              </p:custDataLst>
            </p:nvPr>
          </p:nvSpPr>
          <p:spPr>
            <a:xfrm>
              <a:off x="9167" y="3562"/>
              <a:ext cx="1984" cy="796"/>
            </a:xfrm>
            <a:prstGeom prst="rect">
              <a:avLst/>
            </a:prstGeom>
            <a:solidFill>
              <a:srgbClr val="0955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latin typeface="微软雅黑" panose="020B0604030504040204" pitchFamily="34" charset="-122"/>
                  <a:ea typeface="微软雅黑" panose="020B0604030504040204" pitchFamily="34" charset="-122"/>
                </a:rPr>
                <a:t>关联资源视图</a:t>
              </a:r>
              <a:endParaRPr kumimoji="1" lang="zh-CN" altLang="en-US" sz="1400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52" name="矩形 51"/>
            <p:cNvSpPr/>
            <p:nvPr>
              <p:custDataLst>
                <p:tags r:id="rId25"/>
              </p:custDataLst>
            </p:nvPr>
          </p:nvSpPr>
          <p:spPr>
            <a:xfrm>
              <a:off x="11271" y="3572"/>
              <a:ext cx="1984" cy="796"/>
            </a:xfrm>
            <a:prstGeom prst="rect">
              <a:avLst/>
            </a:prstGeom>
            <a:solidFill>
              <a:srgbClr val="0955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latin typeface="微软雅黑" panose="020B0604030504040204" pitchFamily="34" charset="-122"/>
                  <a:ea typeface="微软雅黑" panose="020B0604030504040204" pitchFamily="34" charset="-122"/>
                </a:rPr>
                <a:t>告警策略视图</a:t>
              </a:r>
              <a:endParaRPr kumimoji="1" lang="zh-CN" altLang="en-US" sz="1400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53" name="矩形 52"/>
            <p:cNvSpPr/>
            <p:nvPr>
              <p:custDataLst>
                <p:tags r:id="rId26"/>
              </p:custDataLst>
            </p:nvPr>
          </p:nvSpPr>
          <p:spPr>
            <a:xfrm>
              <a:off x="13375" y="3562"/>
              <a:ext cx="1984" cy="796"/>
            </a:xfrm>
            <a:prstGeom prst="rect">
              <a:avLst/>
            </a:prstGeom>
            <a:solidFill>
              <a:srgbClr val="0955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latin typeface="微软雅黑" panose="020B0604030504040204" pitchFamily="34" charset="-122"/>
                  <a:ea typeface="微软雅黑" panose="020B0604030504040204" pitchFamily="34" charset="-122"/>
                </a:rPr>
                <a:t>数据查询视图</a:t>
              </a:r>
              <a:endParaRPr kumimoji="1" lang="zh-CN" altLang="en-US" sz="1400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54" name="矩形 53"/>
            <p:cNvSpPr/>
            <p:nvPr>
              <p:custDataLst>
                <p:tags r:id="rId27"/>
              </p:custDataLst>
            </p:nvPr>
          </p:nvSpPr>
          <p:spPr>
            <a:xfrm>
              <a:off x="15479" y="3562"/>
              <a:ext cx="1984" cy="796"/>
            </a:xfrm>
            <a:prstGeom prst="rect">
              <a:avLst/>
            </a:prstGeom>
            <a:solidFill>
              <a:srgbClr val="0955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自定义</a:t>
              </a:r>
              <a:r>
                <a:rPr kumimoji="1" lang="en-US" altLang="zh-CN" sz="1400" dirty="0"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Dashboard</a:t>
              </a:r>
              <a:endParaRPr kumimoji="1" lang="zh-CN" altLang="en-US" sz="1100" dirty="0"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endParaRPr>
            </a:p>
          </p:txBody>
        </p:sp>
        <p:sp>
          <p:nvSpPr>
            <p:cNvPr id="55" name="矩形 54"/>
            <p:cNvSpPr/>
            <p:nvPr>
              <p:custDataLst>
                <p:tags r:id="rId28"/>
              </p:custDataLst>
            </p:nvPr>
          </p:nvSpPr>
          <p:spPr>
            <a:xfrm>
              <a:off x="2439" y="1915"/>
              <a:ext cx="2381" cy="79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solidFill>
                    <a:srgbClr val="08266E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系统地图</a:t>
              </a:r>
              <a:endParaRPr kumimoji="1" lang="zh-CN" altLang="en-US" sz="1400" dirty="0">
                <a:solidFill>
                  <a:srgbClr val="08266E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56" name="矩形 55"/>
            <p:cNvSpPr/>
            <p:nvPr>
              <p:custDataLst>
                <p:tags r:id="rId29"/>
              </p:custDataLst>
            </p:nvPr>
          </p:nvSpPr>
          <p:spPr>
            <a:xfrm>
              <a:off x="5032" y="1915"/>
              <a:ext cx="2381" cy="79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solidFill>
                    <a:srgbClr val="08266E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故障分析</a:t>
              </a:r>
              <a:endParaRPr kumimoji="1" lang="en-US" altLang="zh-CN" sz="1400" dirty="0">
                <a:solidFill>
                  <a:srgbClr val="08266E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57" name="矩形 56"/>
            <p:cNvSpPr/>
            <p:nvPr>
              <p:custDataLst>
                <p:tags r:id="rId30"/>
              </p:custDataLst>
            </p:nvPr>
          </p:nvSpPr>
          <p:spPr>
            <a:xfrm>
              <a:off x="7624" y="1919"/>
              <a:ext cx="2381" cy="79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solidFill>
                    <a:srgbClr val="08266E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根因分析</a:t>
              </a:r>
              <a:endParaRPr kumimoji="1" lang="zh-CN" altLang="en-US" sz="1400" dirty="0">
                <a:solidFill>
                  <a:srgbClr val="08266E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58" name="矩形 57"/>
            <p:cNvSpPr/>
            <p:nvPr>
              <p:custDataLst>
                <p:tags r:id="rId31"/>
              </p:custDataLst>
            </p:nvPr>
          </p:nvSpPr>
          <p:spPr>
            <a:xfrm>
              <a:off x="12809" y="1919"/>
              <a:ext cx="2381" cy="79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solidFill>
                    <a:srgbClr val="08266E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可用性管理</a:t>
              </a:r>
              <a:endParaRPr kumimoji="1" lang="zh-CN" altLang="en-US" sz="1400" dirty="0">
                <a:solidFill>
                  <a:srgbClr val="08266E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59" name="矩形 58"/>
            <p:cNvSpPr/>
            <p:nvPr>
              <p:custDataLst>
                <p:tags r:id="rId32"/>
              </p:custDataLst>
            </p:nvPr>
          </p:nvSpPr>
          <p:spPr>
            <a:xfrm>
              <a:off x="15402" y="1922"/>
              <a:ext cx="2381" cy="79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solidFill>
                    <a:srgbClr val="08266E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容量管理</a:t>
              </a:r>
              <a:endParaRPr kumimoji="1" lang="zh-CN" altLang="en-US" sz="1400" dirty="0">
                <a:solidFill>
                  <a:srgbClr val="08266E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60" name="矩形 59"/>
            <p:cNvSpPr/>
            <p:nvPr>
              <p:custDataLst>
                <p:tags r:id="rId33"/>
              </p:custDataLst>
            </p:nvPr>
          </p:nvSpPr>
          <p:spPr>
            <a:xfrm>
              <a:off x="10217" y="1924"/>
              <a:ext cx="2381" cy="79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zh-CN" altLang="en-US" sz="1400" dirty="0">
                  <a:solidFill>
                    <a:srgbClr val="08266E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主动拨测</a:t>
              </a:r>
              <a:endParaRPr kumimoji="1" lang="zh-CN" altLang="en-US" sz="1400" dirty="0">
                <a:solidFill>
                  <a:srgbClr val="08266E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95" name="Rectangle 8"/>
            <p:cNvSpPr/>
            <p:nvPr>
              <p:custDataLst>
                <p:tags r:id="rId34"/>
              </p:custDataLst>
            </p:nvPr>
          </p:nvSpPr>
          <p:spPr>
            <a:xfrm>
              <a:off x="2438" y="10165"/>
              <a:ext cx="15366" cy="536"/>
            </a:xfrm>
            <a:prstGeom prst="rect">
              <a:avLst/>
            </a:prstGeom>
            <a:solidFill>
              <a:srgbClr val="15CB01"/>
            </a:solidFill>
            <a:ln>
              <a:solidFill>
                <a:srgbClr val="08266E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52476" tIns="52476" rIns="52476" bIns="52476" numCol="1" spcCol="38100" rtlCol="0" fromWordArt="0" anchor="t" anchorCtr="0" forceAA="0" compatLnSpc="1">
              <a:noAutofit/>
            </a:bodyPr>
            <a:lstStyle/>
            <a:p>
              <a:pPr algn="ctr" defTabSz="1049020">
                <a:spcBef>
                  <a:spcPts val="230"/>
                </a:spcBef>
              </a:pPr>
              <a:r>
                <a:rPr lang="en-US" altLang="zh-CN" sz="1600" dirty="0">
                  <a:solidFill>
                    <a:schemeClr val="bg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IT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服务设施：服务器、云平台、容器、网络、存储、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  <a:sym typeface="+mn-ea"/>
                </a:rPr>
                <a:t>操作系统、中间件、数据库、</a:t>
              </a:r>
              <a:r>
                <a:rPr lang="zh-CN" altLang="en-US" sz="1600" dirty="0">
                  <a:solidFill>
                    <a:schemeClr val="bg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服务、应用</a:t>
              </a:r>
              <a:r>
                <a:rPr lang="en-US" altLang="zh-CN" sz="1200" dirty="0">
                  <a:solidFill>
                    <a:schemeClr val="bg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 </a:t>
              </a:r>
              <a:r>
                <a:rPr lang="zh-CN" altLang="en-US" sz="1200" dirty="0">
                  <a:solidFill>
                    <a:schemeClr val="bg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  <a:cs typeface="微软雅黑" panose="020B0604030504040204" pitchFamily="34" charset="-122"/>
                </a:rPr>
                <a:t> </a:t>
              </a:r>
              <a:endParaRPr lang="zh-CN" altLang="en-US" sz="1200" dirty="0">
                <a:solidFill>
                  <a:schemeClr val="bg1"/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35"/>
              </p:custDataLst>
            </p:nvPr>
          </p:nvSpPr>
          <p:spPr>
            <a:xfrm>
              <a:off x="463" y="3572"/>
              <a:ext cx="1368" cy="5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dirty="0">
                  <a:latin typeface="微软雅黑" panose="020B0604030504040204" pitchFamily="34" charset="-122"/>
                  <a:ea typeface="微软雅黑" panose="020B0604030504040204" pitchFamily="34" charset="-122"/>
                </a:rPr>
                <a:t>可视化</a:t>
              </a:r>
              <a:endParaRPr kumimoji="1" lang="zh-CN" altLang="en-US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508000" y="127635"/>
            <a:ext cx="8867140" cy="5422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altLang="zh-CN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4.3 </a:t>
            </a:r>
            <a:r>
              <a:rPr lang="zh-CN" altLang="en-US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自动化平台</a:t>
            </a:r>
            <a:r>
              <a:rPr lang="en-US" altLang="zh-CN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核心技术（Agent)</a:t>
            </a:r>
            <a:endParaRPr lang="en-US" altLang="zh-CN" sz="2400" dirty="0">
              <a:latin typeface="微软雅黑" panose="020B0604030504040204" pitchFamily="34" charset="-122"/>
              <a:ea typeface="微软雅黑" panose="020B0604030504040204" pitchFamily="34" charset="-122"/>
              <a:sym typeface="+mn-ea"/>
            </a:endParaRPr>
          </a:p>
        </p:txBody>
      </p:sp>
      <p:sp>
        <p:nvSpPr>
          <p:cNvPr id="107" name="文本框 106"/>
          <p:cNvSpPr txBox="1"/>
          <p:nvPr>
            <p:custDataLst>
              <p:tags r:id="rId1"/>
            </p:custDataLst>
          </p:nvPr>
        </p:nvSpPr>
        <p:spPr>
          <a:xfrm>
            <a:off x="413385" y="5530215"/>
            <a:ext cx="420306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kumimoji="1" lang="en-US" altLang="zh-CN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rPr>
              <a:t>Agent</a:t>
            </a:r>
            <a:r>
              <a:rPr kumimoji="1"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rPr>
              <a:t>兼容</a:t>
            </a:r>
            <a:r>
              <a:rPr kumimoji="1" lang="en-US" altLang="zh-CN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rPr>
              <a:t>windows</a:t>
            </a:r>
            <a:r>
              <a:rPr kumimoji="1"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rPr>
              <a:t>和</a:t>
            </a:r>
            <a:r>
              <a:rPr kumimoji="1" lang="en-US" altLang="zh-CN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rPr>
              <a:t>Linux</a:t>
            </a:r>
            <a:r>
              <a:rPr kumimoji="1"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rPr>
              <a:t>服务器、国产</a:t>
            </a:r>
            <a:r>
              <a:rPr kumimoji="1" lang="en-US" altLang="zh-CN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rPr>
              <a:t>ARM</a:t>
            </a:r>
            <a:r>
              <a:rPr kumimoji="1"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rPr>
              <a:t>服务器</a:t>
            </a:r>
            <a:endParaRPr kumimoji="1" lang="zh-CN" altLang="en-US" sz="12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kumimoji="1"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rPr>
              <a:t>完善、安全的</a:t>
            </a:r>
            <a:r>
              <a:rPr kumimoji="1" lang="en-US" altLang="zh-CN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rPr>
              <a:t>Agent</a:t>
            </a:r>
            <a:r>
              <a:rPr kumimoji="1"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rPr>
              <a:t>管理，权限，高危命令</a:t>
            </a:r>
            <a:r>
              <a:rPr kumimoji="1"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rPr>
              <a:t>管理</a:t>
            </a:r>
            <a:endParaRPr kumimoji="1" lang="zh-CN" altLang="en-US" sz="12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kumimoji="1"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rPr>
              <a:t>支持命令下发和执行结果完整上报</a:t>
            </a:r>
            <a:endParaRPr kumimoji="1" lang="zh-CN" altLang="en-US" sz="12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</a:endParaRPr>
          </a:p>
          <a:p>
            <a:pPr marL="285750" indent="-285750" algn="l" fontAlgn="auto">
              <a:lnSpc>
                <a:spcPct val="150000"/>
              </a:lnSpc>
              <a:buFont typeface="Wingdings" panose="05000000000000000000" charset="0"/>
              <a:buChar char=""/>
            </a:pPr>
            <a:r>
              <a:rPr kumimoji="1" lang="zh-CN" altLang="en-US" sz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</a:rPr>
              <a:t>完全支持界面对下发任务流程的控制</a:t>
            </a:r>
            <a:endParaRPr kumimoji="1" lang="zh-CN" altLang="en-US" sz="1200" dirty="0" smtClean="0">
              <a:solidFill>
                <a:schemeClr val="tx1">
                  <a:lumMod val="85000"/>
                  <a:lumOff val="1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</a:endParaRPr>
          </a:p>
        </p:txBody>
      </p:sp>
      <p:grpSp>
        <p:nvGrpSpPr>
          <p:cNvPr id="130" name="组合 129"/>
          <p:cNvGrpSpPr/>
          <p:nvPr/>
        </p:nvGrpSpPr>
        <p:grpSpPr>
          <a:xfrm>
            <a:off x="382905" y="1275715"/>
            <a:ext cx="3808730" cy="3900170"/>
            <a:chOff x="524" y="2047"/>
            <a:chExt cx="8345" cy="8071"/>
          </a:xfrm>
        </p:grpSpPr>
        <p:pic>
          <p:nvPicPr>
            <p:cNvPr id="4" name="图片 3" descr="20263562"/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789" y="2047"/>
              <a:ext cx="1440" cy="1440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>
              <p:custDataLst>
                <p:tags r:id="rId5"/>
              </p:custDataLst>
            </p:nvPr>
          </p:nvSpPr>
          <p:spPr>
            <a:xfrm>
              <a:off x="5515" y="2404"/>
              <a:ext cx="3191" cy="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/>
              <a:r>
                <a:rPr kumimoji="1" lang="en-US" altLang="zh-CN" sz="1400" dirty="0" smtClean="0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EasyOps </a:t>
              </a:r>
              <a:r>
                <a:rPr kumimoji="1" lang="zh-CN" altLang="en-US" sz="1400" dirty="0" smtClean="0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平台</a:t>
              </a:r>
              <a:endParaRPr kumimoji="1" lang="zh-CN" altLang="en-US" sz="1400" dirty="0" smtClean="0">
                <a:solidFill>
                  <a:srgbClr val="0955D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pic>
          <p:nvPicPr>
            <p:cNvPr id="8" name="图片 7" descr="20288514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909" y="4766"/>
              <a:ext cx="1440" cy="1440"/>
            </a:xfrm>
            <a:prstGeom prst="rect">
              <a:avLst/>
            </a:prstGeom>
          </p:spPr>
        </p:pic>
        <p:pic>
          <p:nvPicPr>
            <p:cNvPr id="22" name="图片 21" descr="20288514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349" y="7007"/>
              <a:ext cx="1440" cy="1440"/>
            </a:xfrm>
            <a:prstGeom prst="rect">
              <a:avLst/>
            </a:prstGeom>
          </p:spPr>
        </p:pic>
        <p:pic>
          <p:nvPicPr>
            <p:cNvPr id="9" name="图片 8" descr="2028851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429" y="7007"/>
              <a:ext cx="1440" cy="1440"/>
            </a:xfrm>
            <a:prstGeom prst="rect">
              <a:avLst/>
            </a:prstGeom>
          </p:spPr>
        </p:pic>
        <p:pic>
          <p:nvPicPr>
            <p:cNvPr id="25" name="图片 24" descr="20288514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89" y="7007"/>
              <a:ext cx="1440" cy="1440"/>
            </a:xfrm>
            <a:prstGeom prst="rect">
              <a:avLst/>
            </a:prstGeom>
          </p:spPr>
        </p:pic>
        <p:pic>
          <p:nvPicPr>
            <p:cNvPr id="10" name="图片 9" descr="20288514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3269" y="7007"/>
              <a:ext cx="1440" cy="1440"/>
            </a:xfrm>
            <a:prstGeom prst="rect">
              <a:avLst/>
            </a:prstGeom>
          </p:spPr>
        </p:pic>
        <p:cxnSp>
          <p:nvCxnSpPr>
            <p:cNvPr id="14" name="直接箭头连接符 13"/>
            <p:cNvCxnSpPr>
              <a:stCxn id="8" idx="0"/>
              <a:endCxn id="4" idx="2"/>
            </p:cNvCxnSpPr>
            <p:nvPr>
              <p:custDataLst>
                <p:tags r:id="rId13"/>
              </p:custDataLst>
            </p:nvPr>
          </p:nvCxnSpPr>
          <p:spPr>
            <a:xfrm flipV="1">
              <a:off x="2629" y="3487"/>
              <a:ext cx="1880" cy="127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25" idx="0"/>
              <a:endCxn id="8" idx="2"/>
            </p:cNvCxnSpPr>
            <p:nvPr>
              <p:custDataLst>
                <p:tags r:id="rId14"/>
              </p:custDataLst>
            </p:nvPr>
          </p:nvCxnSpPr>
          <p:spPr>
            <a:xfrm flipV="1">
              <a:off x="1909" y="6206"/>
              <a:ext cx="720" cy="8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10" idx="0"/>
            </p:cNvCxnSpPr>
            <p:nvPr>
              <p:custDataLst>
                <p:tags r:id="rId15"/>
              </p:custDataLst>
            </p:nvPr>
          </p:nvCxnSpPr>
          <p:spPr>
            <a:xfrm flipH="1" flipV="1">
              <a:off x="2609" y="6206"/>
              <a:ext cx="1380" cy="80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22" idx="0"/>
            </p:cNvCxnSpPr>
            <p:nvPr>
              <p:custDataLst>
                <p:tags r:id="rId16"/>
              </p:custDataLst>
            </p:nvPr>
          </p:nvCxnSpPr>
          <p:spPr>
            <a:xfrm flipH="1" flipV="1">
              <a:off x="4509" y="3487"/>
              <a:ext cx="1560" cy="352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箭头连接符 49"/>
            <p:cNvCxnSpPr>
              <a:stCxn id="9" idx="0"/>
            </p:cNvCxnSpPr>
            <p:nvPr>
              <p:custDataLst>
                <p:tags r:id="rId17"/>
              </p:custDataLst>
            </p:nvPr>
          </p:nvCxnSpPr>
          <p:spPr>
            <a:xfrm flipH="1" flipV="1">
              <a:off x="4509" y="3487"/>
              <a:ext cx="3640" cy="352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图片 27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1330" y="8999"/>
              <a:ext cx="1119" cy="1119"/>
            </a:xfrm>
            <a:prstGeom prst="rect">
              <a:avLst/>
            </a:prstGeom>
          </p:spPr>
        </p:pic>
        <p:pic>
          <p:nvPicPr>
            <p:cNvPr id="56" name="图片 55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/>
            <a:stretch>
              <a:fillRect/>
            </a:stretch>
          </p:blipFill>
          <p:spPr>
            <a:xfrm>
              <a:off x="3120" y="8981"/>
              <a:ext cx="2395" cy="1137"/>
            </a:xfrm>
            <a:prstGeom prst="rect">
              <a:avLst/>
            </a:prstGeom>
          </p:spPr>
        </p:pic>
        <p:sp>
          <p:nvSpPr>
            <p:cNvPr id="127" name="矩形 126"/>
            <p:cNvSpPr/>
            <p:nvPr/>
          </p:nvSpPr>
          <p:spPr>
            <a:xfrm>
              <a:off x="524" y="5170"/>
              <a:ext cx="1385" cy="5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t" anchorCtr="0"/>
            <a:p>
              <a:pPr algn="ctr"/>
              <a:r>
                <a:rPr lang="en-US" altLang="zh-CN" sz="1200">
                  <a:latin typeface="Times New Roman Regular" panose="02020503050405090304" charset="0"/>
                  <a:cs typeface="Times New Roman Regular" panose="02020503050405090304" charset="0"/>
                </a:rPr>
                <a:t>proxy</a:t>
              </a:r>
              <a:endParaRPr lang="en-US" altLang="zh-CN" sz="1200">
                <a:latin typeface="Times New Roman Regular" panose="02020503050405090304" charset="0"/>
                <a:cs typeface="Times New Roman Regular" panose="02020503050405090304" charset="0"/>
              </a:endParaRPr>
            </a:p>
          </p:txBody>
        </p:sp>
        <p:sp>
          <p:nvSpPr>
            <p:cNvPr id="129" name="矩形 128"/>
            <p:cNvSpPr/>
            <p:nvPr/>
          </p:nvSpPr>
          <p:spPr>
            <a:xfrm>
              <a:off x="896" y="6762"/>
              <a:ext cx="4048" cy="2014"/>
            </a:xfrm>
            <a:prstGeom prst="rect">
              <a:avLst/>
            </a:prstGeom>
            <a:ln w="12700" cap="flat" cmpd="sng">
              <a:solidFill>
                <a:schemeClr val="accent1">
                  <a:shade val="50000"/>
                </a:schemeClr>
              </a:solidFill>
              <a:prstDash val="sysDash"/>
              <a:miter lim="800000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31" name="组合 130"/>
          <p:cNvGrpSpPr/>
          <p:nvPr/>
        </p:nvGrpSpPr>
        <p:grpSpPr>
          <a:xfrm>
            <a:off x="4555490" y="1275715"/>
            <a:ext cx="7459345" cy="3754455"/>
            <a:chOff x="807" y="1219"/>
            <a:chExt cx="18096" cy="9554"/>
          </a:xfrm>
        </p:grpSpPr>
        <p:sp>
          <p:nvSpPr>
            <p:cNvPr id="132" name="矩形 131"/>
            <p:cNvSpPr/>
            <p:nvPr>
              <p:custDataLst>
                <p:tags r:id="rId22"/>
              </p:custDataLst>
            </p:nvPr>
          </p:nvSpPr>
          <p:spPr>
            <a:xfrm>
              <a:off x="890" y="2691"/>
              <a:ext cx="16952" cy="8082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8266E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 dirty="0">
                <a:solidFill>
                  <a:schemeClr val="bg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33" name="矩形: 圆角 7"/>
            <p:cNvSpPr/>
            <p:nvPr>
              <p:custDataLst>
                <p:tags r:id="rId23"/>
              </p:custDataLst>
            </p:nvPr>
          </p:nvSpPr>
          <p:spPr>
            <a:xfrm>
              <a:off x="3236" y="3933"/>
              <a:ext cx="1542" cy="83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 dirty="0">
                <a:solidFill>
                  <a:schemeClr val="bg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34" name="文本框 133"/>
            <p:cNvSpPr txBox="1"/>
            <p:nvPr>
              <p:custDataLst>
                <p:tags r:id="rId24"/>
              </p:custDataLst>
            </p:nvPr>
          </p:nvSpPr>
          <p:spPr>
            <a:xfrm>
              <a:off x="807" y="2691"/>
              <a:ext cx="4537" cy="10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dirty="0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流程引擎层</a:t>
              </a:r>
              <a:endParaRPr lang="en-US" altLang="zh-CN" sz="1000" dirty="0">
                <a:solidFill>
                  <a:srgbClr val="0955D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  <a:p>
              <a:r>
                <a:rPr lang="zh-CN" altLang="en-US" sz="1000" dirty="0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（</a:t>
              </a:r>
              <a:r>
                <a:rPr lang="en-US" altLang="zh-CN" sz="1000" dirty="0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Process Engine</a:t>
              </a:r>
              <a:r>
                <a:rPr lang="zh-CN" altLang="en-US" sz="1000" dirty="0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）</a:t>
              </a:r>
              <a:endParaRPr lang="zh-CN" altLang="en-US" sz="1000" dirty="0">
                <a:solidFill>
                  <a:srgbClr val="0955D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cxnSp>
          <p:nvCxnSpPr>
            <p:cNvPr id="135" name="直接连接符 134"/>
            <p:cNvCxnSpPr/>
            <p:nvPr>
              <p:custDataLst>
                <p:tags r:id="rId25"/>
              </p:custDataLst>
            </p:nvPr>
          </p:nvCxnSpPr>
          <p:spPr>
            <a:xfrm flipV="1">
              <a:off x="866" y="7175"/>
              <a:ext cx="17015" cy="5"/>
            </a:xfrm>
            <a:prstGeom prst="line">
              <a:avLst/>
            </a:prstGeom>
            <a:ln>
              <a:solidFill>
                <a:srgbClr val="0826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6" name="文本框 135"/>
            <p:cNvSpPr txBox="1"/>
            <p:nvPr>
              <p:custDataLst>
                <p:tags r:id="rId26"/>
              </p:custDataLst>
            </p:nvPr>
          </p:nvSpPr>
          <p:spPr>
            <a:xfrm>
              <a:off x="938" y="7279"/>
              <a:ext cx="6131" cy="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dirty="0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工具服务层（</a:t>
              </a:r>
              <a:r>
                <a:rPr lang="en-US" altLang="zh-CN" sz="1000" dirty="0" err="1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Commad</a:t>
              </a:r>
              <a:r>
                <a:rPr lang="en-US" altLang="zh-CN" sz="1000" dirty="0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 service</a:t>
              </a:r>
              <a:r>
                <a:rPr lang="zh-CN" altLang="en-US" sz="1000" dirty="0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）</a:t>
              </a:r>
              <a:endParaRPr lang="zh-CN" altLang="en-US" sz="1000" dirty="0">
                <a:solidFill>
                  <a:srgbClr val="0955D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37" name="矩形: 圆角 35"/>
            <p:cNvSpPr/>
            <p:nvPr>
              <p:custDataLst>
                <p:tags r:id="rId27"/>
              </p:custDataLst>
            </p:nvPr>
          </p:nvSpPr>
          <p:spPr>
            <a:xfrm>
              <a:off x="1018" y="7964"/>
              <a:ext cx="2516" cy="574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Python</a:t>
              </a:r>
              <a:r>
                <a:rPr lang="zh-CN" altLang="en-US" sz="800" dirty="0">
                  <a:solidFill>
                    <a:schemeClr val="tx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工具服务</a:t>
              </a:r>
              <a:endParaRPr lang="zh-CN" altLang="en-US" sz="800" dirty="0">
                <a:solidFill>
                  <a:schemeClr val="tx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38" name="矩形: 圆角 36"/>
            <p:cNvSpPr/>
            <p:nvPr>
              <p:custDataLst>
                <p:tags r:id="rId28"/>
              </p:custDataLst>
            </p:nvPr>
          </p:nvSpPr>
          <p:spPr>
            <a:xfrm>
              <a:off x="4688" y="7963"/>
              <a:ext cx="2156" cy="57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Shell</a:t>
              </a:r>
              <a:r>
                <a:rPr lang="zh-CN" altLang="en-US" sz="800" dirty="0">
                  <a:solidFill>
                    <a:schemeClr val="tx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工具服务</a:t>
              </a:r>
              <a:endParaRPr lang="zh-CN" altLang="en-US" sz="800" dirty="0">
                <a:solidFill>
                  <a:schemeClr val="tx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39" name="矩形: 圆角 38"/>
            <p:cNvSpPr/>
            <p:nvPr>
              <p:custDataLst>
                <p:tags r:id="rId29"/>
              </p:custDataLst>
            </p:nvPr>
          </p:nvSpPr>
          <p:spPr>
            <a:xfrm>
              <a:off x="12027" y="7963"/>
              <a:ext cx="2156" cy="57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800" dirty="0" err="1">
                  <a:solidFill>
                    <a:schemeClr val="tx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dbscript</a:t>
              </a:r>
              <a:endParaRPr lang="zh-CN" altLang="en-US" sz="800" dirty="0">
                <a:solidFill>
                  <a:schemeClr val="tx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40" name="矩形: 圆角 39"/>
            <p:cNvSpPr/>
            <p:nvPr>
              <p:custDataLst>
                <p:tags r:id="rId30"/>
              </p:custDataLst>
            </p:nvPr>
          </p:nvSpPr>
          <p:spPr>
            <a:xfrm>
              <a:off x="15593" y="7963"/>
              <a:ext cx="1980" cy="57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800" dirty="0">
                  <a:solidFill>
                    <a:schemeClr val="tx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其他</a:t>
              </a:r>
              <a:r>
                <a:rPr lang="zh-CN" altLang="en-US" sz="800" dirty="0">
                  <a:solidFill>
                    <a:schemeClr val="tx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工具</a:t>
              </a:r>
              <a:endParaRPr lang="zh-CN" altLang="en-US" sz="800" dirty="0">
                <a:solidFill>
                  <a:schemeClr val="tx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41" name="矩形: 圆角 51"/>
            <p:cNvSpPr/>
            <p:nvPr>
              <p:custDataLst>
                <p:tags r:id="rId31"/>
              </p:custDataLst>
            </p:nvPr>
          </p:nvSpPr>
          <p:spPr>
            <a:xfrm>
              <a:off x="8285" y="7963"/>
              <a:ext cx="2156" cy="57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800" dirty="0" err="1">
                  <a:solidFill>
                    <a:schemeClr val="tx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Powershell</a:t>
              </a:r>
              <a:r>
                <a:rPr lang="zh-CN" altLang="en-US" sz="800" dirty="0">
                  <a:solidFill>
                    <a:schemeClr val="tx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服务</a:t>
              </a:r>
              <a:endParaRPr lang="zh-CN" altLang="en-US" sz="800" dirty="0">
                <a:solidFill>
                  <a:schemeClr val="tx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42" name="椭圆 141"/>
            <p:cNvSpPr/>
            <p:nvPr>
              <p:custDataLst>
                <p:tags r:id="rId32"/>
              </p:custDataLst>
            </p:nvPr>
          </p:nvSpPr>
          <p:spPr>
            <a:xfrm>
              <a:off x="1426" y="3933"/>
              <a:ext cx="779" cy="81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800" b="1" dirty="0">
                  <a:solidFill>
                    <a:srgbClr val="08266E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开始</a:t>
              </a:r>
              <a:endParaRPr lang="zh-CN" altLang="en-US" sz="800" b="1" dirty="0">
                <a:solidFill>
                  <a:srgbClr val="08266E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43" name="椭圆 142"/>
            <p:cNvSpPr/>
            <p:nvPr>
              <p:custDataLst>
                <p:tags r:id="rId33"/>
              </p:custDataLst>
            </p:nvPr>
          </p:nvSpPr>
          <p:spPr>
            <a:xfrm>
              <a:off x="16093" y="3643"/>
              <a:ext cx="779" cy="810"/>
            </a:xfrm>
            <a:prstGeom prst="ellips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800" b="1" dirty="0">
                  <a:solidFill>
                    <a:schemeClr val="bg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结束</a:t>
              </a:r>
              <a:endParaRPr lang="zh-CN" altLang="en-US" sz="800" b="1" dirty="0">
                <a:solidFill>
                  <a:schemeClr val="bg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44" name="矩形: 圆角 55"/>
            <p:cNvSpPr/>
            <p:nvPr>
              <p:custDataLst>
                <p:tags r:id="rId34"/>
              </p:custDataLst>
            </p:nvPr>
          </p:nvSpPr>
          <p:spPr>
            <a:xfrm>
              <a:off x="5551" y="2914"/>
              <a:ext cx="1542" cy="83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 dirty="0">
                <a:solidFill>
                  <a:schemeClr val="bg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45" name="矩形: 圆角 57"/>
            <p:cNvSpPr/>
            <p:nvPr>
              <p:custDataLst>
                <p:tags r:id="rId35"/>
              </p:custDataLst>
            </p:nvPr>
          </p:nvSpPr>
          <p:spPr>
            <a:xfrm>
              <a:off x="5605" y="4418"/>
              <a:ext cx="1542" cy="83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 dirty="0">
                <a:solidFill>
                  <a:schemeClr val="bg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46" name="菱形 145"/>
            <p:cNvSpPr/>
            <p:nvPr>
              <p:custDataLst>
                <p:tags r:id="rId36"/>
              </p:custDataLst>
            </p:nvPr>
          </p:nvSpPr>
          <p:spPr>
            <a:xfrm>
              <a:off x="8178" y="3686"/>
              <a:ext cx="970" cy="748"/>
            </a:xfrm>
            <a:prstGeom prst="diamon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 dirty="0">
                <a:solidFill>
                  <a:schemeClr val="bg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47" name="矩形: 圆角 59"/>
            <p:cNvSpPr/>
            <p:nvPr>
              <p:custDataLst>
                <p:tags r:id="rId37"/>
              </p:custDataLst>
            </p:nvPr>
          </p:nvSpPr>
          <p:spPr>
            <a:xfrm>
              <a:off x="9579" y="3645"/>
              <a:ext cx="1542" cy="83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 dirty="0">
                <a:solidFill>
                  <a:schemeClr val="bg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48" name="矩形: 圆角 65"/>
            <p:cNvSpPr/>
            <p:nvPr>
              <p:custDataLst>
                <p:tags r:id="rId38"/>
              </p:custDataLst>
            </p:nvPr>
          </p:nvSpPr>
          <p:spPr>
            <a:xfrm>
              <a:off x="12928" y="2881"/>
              <a:ext cx="1542" cy="83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 dirty="0">
                <a:solidFill>
                  <a:schemeClr val="bg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cxnSp>
          <p:nvCxnSpPr>
            <p:cNvPr id="149" name="直接箭头连接符 148"/>
            <p:cNvCxnSpPr>
              <a:stCxn id="142" idx="6"/>
              <a:endCxn id="133" idx="1"/>
            </p:cNvCxnSpPr>
            <p:nvPr>
              <p:custDataLst>
                <p:tags r:id="rId39"/>
              </p:custDataLst>
            </p:nvPr>
          </p:nvCxnSpPr>
          <p:spPr>
            <a:xfrm>
              <a:off x="2205" y="4338"/>
              <a:ext cx="1031" cy="1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直接箭头连接符 149"/>
            <p:cNvCxnSpPr>
              <a:stCxn id="133" idx="3"/>
              <a:endCxn id="144" idx="1"/>
            </p:cNvCxnSpPr>
            <p:nvPr>
              <p:custDataLst>
                <p:tags r:id="rId40"/>
              </p:custDataLst>
            </p:nvPr>
          </p:nvCxnSpPr>
          <p:spPr>
            <a:xfrm flipV="1">
              <a:off x="4778" y="3329"/>
              <a:ext cx="773" cy="101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直接箭头连接符 150"/>
            <p:cNvCxnSpPr>
              <a:endCxn id="145" idx="1"/>
            </p:cNvCxnSpPr>
            <p:nvPr>
              <p:custDataLst>
                <p:tags r:id="rId41"/>
              </p:custDataLst>
            </p:nvPr>
          </p:nvCxnSpPr>
          <p:spPr>
            <a:xfrm>
              <a:off x="4805" y="4360"/>
              <a:ext cx="800" cy="47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直接箭头连接符 151"/>
            <p:cNvCxnSpPr>
              <a:endCxn id="146" idx="1"/>
            </p:cNvCxnSpPr>
            <p:nvPr>
              <p:custDataLst>
                <p:tags r:id="rId42"/>
              </p:custDataLst>
            </p:nvPr>
          </p:nvCxnSpPr>
          <p:spPr>
            <a:xfrm>
              <a:off x="7093" y="3329"/>
              <a:ext cx="1084" cy="7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接箭头连接符 152"/>
            <p:cNvCxnSpPr>
              <a:stCxn id="145" idx="3"/>
              <a:endCxn id="146" idx="1"/>
            </p:cNvCxnSpPr>
            <p:nvPr>
              <p:custDataLst>
                <p:tags r:id="rId43"/>
              </p:custDataLst>
            </p:nvPr>
          </p:nvCxnSpPr>
          <p:spPr>
            <a:xfrm flipV="1">
              <a:off x="7147" y="4060"/>
              <a:ext cx="1031" cy="77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接箭头连接符 153"/>
            <p:cNvCxnSpPr>
              <a:stCxn id="146" idx="3"/>
              <a:endCxn id="147" idx="1"/>
            </p:cNvCxnSpPr>
            <p:nvPr>
              <p:custDataLst>
                <p:tags r:id="rId44"/>
              </p:custDataLst>
            </p:nvPr>
          </p:nvCxnSpPr>
          <p:spPr>
            <a:xfrm>
              <a:off x="9148" y="4060"/>
              <a:ext cx="431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矩形: 圆角 84"/>
            <p:cNvSpPr/>
            <p:nvPr>
              <p:custDataLst>
                <p:tags r:id="rId45"/>
              </p:custDataLst>
            </p:nvPr>
          </p:nvSpPr>
          <p:spPr>
            <a:xfrm>
              <a:off x="12928" y="4596"/>
              <a:ext cx="1542" cy="83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 dirty="0">
                <a:solidFill>
                  <a:schemeClr val="bg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56" name="菱形 155"/>
            <p:cNvSpPr/>
            <p:nvPr>
              <p:custDataLst>
                <p:tags r:id="rId46"/>
              </p:custDataLst>
            </p:nvPr>
          </p:nvSpPr>
          <p:spPr>
            <a:xfrm>
              <a:off x="11632" y="3698"/>
              <a:ext cx="970" cy="748"/>
            </a:xfrm>
            <a:prstGeom prst="diamond">
              <a:avLst/>
            </a:prstGeom>
            <a:solidFill>
              <a:schemeClr val="accent1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 dirty="0">
                <a:solidFill>
                  <a:schemeClr val="bg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cxnSp>
          <p:nvCxnSpPr>
            <p:cNvPr id="157" name="直接箭头连接符 156"/>
            <p:cNvCxnSpPr>
              <a:stCxn id="147" idx="3"/>
              <a:endCxn id="156" idx="1"/>
            </p:cNvCxnSpPr>
            <p:nvPr>
              <p:custDataLst>
                <p:tags r:id="rId47"/>
              </p:custDataLst>
            </p:nvPr>
          </p:nvCxnSpPr>
          <p:spPr>
            <a:xfrm>
              <a:off x="11121" y="4060"/>
              <a:ext cx="511" cy="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接箭头连接符 157"/>
            <p:cNvCxnSpPr>
              <a:stCxn id="156" idx="3"/>
              <a:endCxn id="148" idx="1"/>
            </p:cNvCxnSpPr>
            <p:nvPr>
              <p:custDataLst>
                <p:tags r:id="rId48"/>
              </p:custDataLst>
            </p:nvPr>
          </p:nvCxnSpPr>
          <p:spPr>
            <a:xfrm flipV="1">
              <a:off x="12602" y="3296"/>
              <a:ext cx="326" cy="776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接箭头连接符 158"/>
            <p:cNvCxnSpPr>
              <a:stCxn id="156" idx="3"/>
              <a:endCxn id="155" idx="1"/>
            </p:cNvCxnSpPr>
            <p:nvPr>
              <p:custDataLst>
                <p:tags r:id="rId49"/>
              </p:custDataLst>
            </p:nvPr>
          </p:nvCxnSpPr>
          <p:spPr>
            <a:xfrm>
              <a:off x="12602" y="4072"/>
              <a:ext cx="326" cy="93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接箭头连接符 159"/>
            <p:cNvCxnSpPr>
              <a:stCxn id="148" idx="3"/>
              <a:endCxn id="143" idx="2"/>
            </p:cNvCxnSpPr>
            <p:nvPr>
              <p:custDataLst>
                <p:tags r:id="rId50"/>
              </p:custDataLst>
            </p:nvPr>
          </p:nvCxnSpPr>
          <p:spPr>
            <a:xfrm>
              <a:off x="14470" y="3296"/>
              <a:ext cx="1622" cy="75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接箭头连接符 160"/>
            <p:cNvCxnSpPr>
              <a:endCxn id="143" idx="2"/>
            </p:cNvCxnSpPr>
            <p:nvPr>
              <p:custDataLst>
                <p:tags r:id="rId51"/>
              </p:custDataLst>
            </p:nvPr>
          </p:nvCxnSpPr>
          <p:spPr>
            <a:xfrm flipV="1">
              <a:off x="14468" y="4048"/>
              <a:ext cx="1625" cy="9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2" name="矩形 161"/>
            <p:cNvSpPr/>
            <p:nvPr>
              <p:custDataLst>
                <p:tags r:id="rId52"/>
              </p:custDataLst>
            </p:nvPr>
          </p:nvSpPr>
          <p:spPr>
            <a:xfrm>
              <a:off x="2451" y="5743"/>
              <a:ext cx="3101" cy="134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 dirty="0">
                <a:solidFill>
                  <a:schemeClr val="bg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pic>
          <p:nvPicPr>
            <p:cNvPr id="163" name="图片 162"/>
            <p:cNvPicPr>
              <a:picLocks noChangeAspect="1"/>
            </p:cNvPicPr>
            <p:nvPr>
              <p:custDataLst>
                <p:tags r:id="rId53"/>
              </p:custDataLst>
            </p:nvPr>
          </p:nvPicPr>
          <p:blipFill>
            <a:blip r:embed="rId54"/>
            <a:stretch>
              <a:fillRect/>
            </a:stretch>
          </p:blipFill>
          <p:spPr>
            <a:xfrm>
              <a:off x="2538" y="5913"/>
              <a:ext cx="2741" cy="1039"/>
            </a:xfrm>
            <a:prstGeom prst="rect">
              <a:avLst/>
            </a:prstGeom>
          </p:spPr>
        </p:pic>
        <p:cxnSp>
          <p:nvCxnSpPr>
            <p:cNvPr id="164" name="直接箭头连接符 163"/>
            <p:cNvCxnSpPr/>
            <p:nvPr>
              <p:custDataLst>
                <p:tags r:id="rId55"/>
              </p:custDataLst>
            </p:nvPr>
          </p:nvCxnSpPr>
          <p:spPr>
            <a:xfrm>
              <a:off x="3926" y="4775"/>
              <a:ext cx="0" cy="1029"/>
            </a:xfrm>
            <a:prstGeom prst="straightConnector1">
              <a:avLst/>
            </a:prstGeom>
            <a:ln w="28575">
              <a:solidFill>
                <a:schemeClr val="tx1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5" name="Picture 2" descr="Image result for 人 icon"/>
            <p:cNvPicPr>
              <a:picLocks noChangeAspect="1" noChangeArrowheads="1"/>
            </p:cNvPicPr>
            <p:nvPr>
              <p:custDataLst>
                <p:tags r:id="rId56"/>
              </p:custDataLst>
            </p:nvPr>
          </p:nvPicPr>
          <p:blipFill>
            <a:blip r:embed="rId5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808" y="5897"/>
              <a:ext cx="1084" cy="110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6" name="直接箭头连接符 165"/>
            <p:cNvCxnSpPr>
              <a:stCxn id="165" idx="0"/>
            </p:cNvCxnSpPr>
            <p:nvPr>
              <p:custDataLst>
                <p:tags r:id="rId58"/>
              </p:custDataLst>
            </p:nvPr>
          </p:nvCxnSpPr>
          <p:spPr>
            <a:xfrm flipV="1">
              <a:off x="10350" y="4475"/>
              <a:ext cx="0" cy="1422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7" name="Picture 6" descr="Image result for 工具 icon"/>
            <p:cNvPicPr>
              <a:picLocks noChangeAspect="1" noChangeArrowheads="1"/>
            </p:cNvPicPr>
            <p:nvPr>
              <p:custDataLst>
                <p:tags r:id="rId59"/>
              </p:custDataLst>
            </p:nvPr>
          </p:nvPicPr>
          <p:blipFill>
            <a:blip r:embed="rId6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317" y="5913"/>
              <a:ext cx="1084" cy="1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8" name="直接箭头连接符 167"/>
            <p:cNvCxnSpPr>
              <a:stCxn id="167" idx="0"/>
            </p:cNvCxnSpPr>
            <p:nvPr>
              <p:custDataLst>
                <p:tags r:id="rId61"/>
              </p:custDataLst>
            </p:nvPr>
          </p:nvCxnSpPr>
          <p:spPr>
            <a:xfrm flipV="1">
              <a:off x="13859" y="5463"/>
              <a:ext cx="0" cy="450"/>
            </a:xfrm>
            <a:prstGeom prst="straightConnector1">
              <a:avLst/>
            </a:prstGeom>
            <a:ln w="1905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文本框 168"/>
            <p:cNvSpPr txBox="1"/>
            <p:nvPr>
              <p:custDataLst>
                <p:tags r:id="rId62"/>
              </p:custDataLst>
            </p:nvPr>
          </p:nvSpPr>
          <p:spPr>
            <a:xfrm>
              <a:off x="2380" y="6611"/>
              <a:ext cx="3717" cy="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b="1" dirty="0">
                  <a:solidFill>
                    <a:srgbClr val="08266E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子流程</a:t>
              </a:r>
              <a:endParaRPr lang="zh-CN" altLang="en-US" sz="1000" b="1" dirty="0">
                <a:solidFill>
                  <a:srgbClr val="08266E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70" name="文本框 169"/>
            <p:cNvSpPr txBox="1"/>
            <p:nvPr>
              <p:custDataLst>
                <p:tags r:id="rId63"/>
              </p:custDataLst>
            </p:nvPr>
          </p:nvSpPr>
          <p:spPr>
            <a:xfrm>
              <a:off x="8466" y="6233"/>
              <a:ext cx="1884" cy="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b="1" dirty="0">
                  <a:solidFill>
                    <a:srgbClr val="08266E"/>
                  </a:solidFill>
                </a:rPr>
                <a:t>人工审核</a:t>
              </a:r>
              <a:endParaRPr lang="zh-CN" altLang="en-US" sz="1000" b="1" dirty="0">
                <a:solidFill>
                  <a:srgbClr val="08266E"/>
                </a:solidFill>
              </a:endParaRPr>
            </a:p>
          </p:txBody>
        </p:sp>
        <p:sp>
          <p:nvSpPr>
            <p:cNvPr id="171" name="文本框 170"/>
            <p:cNvSpPr txBox="1"/>
            <p:nvPr>
              <p:custDataLst>
                <p:tags r:id="rId64"/>
              </p:custDataLst>
            </p:nvPr>
          </p:nvSpPr>
          <p:spPr>
            <a:xfrm>
              <a:off x="11633" y="6233"/>
              <a:ext cx="3717" cy="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b="1" dirty="0">
                  <a:solidFill>
                    <a:srgbClr val="08266E"/>
                  </a:solidFill>
                </a:rPr>
                <a:t>自动化工具</a:t>
              </a:r>
              <a:endParaRPr lang="zh-CN" altLang="en-US" sz="1000" b="1" dirty="0">
                <a:solidFill>
                  <a:srgbClr val="08266E"/>
                </a:solidFill>
              </a:endParaRPr>
            </a:p>
          </p:txBody>
        </p:sp>
        <p:sp>
          <p:nvSpPr>
            <p:cNvPr id="172" name="文本框 171"/>
            <p:cNvSpPr txBox="1"/>
            <p:nvPr>
              <p:custDataLst>
                <p:tags r:id="rId65"/>
              </p:custDataLst>
            </p:nvPr>
          </p:nvSpPr>
          <p:spPr>
            <a:xfrm>
              <a:off x="890" y="9137"/>
              <a:ext cx="5882" cy="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dirty="0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工具执行层（</a:t>
              </a:r>
              <a:r>
                <a:rPr lang="en-US" altLang="zh-CN" sz="1000" dirty="0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command executor</a:t>
              </a:r>
              <a:r>
                <a:rPr lang="zh-CN" altLang="en-US" sz="1000" dirty="0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）</a:t>
              </a:r>
              <a:endParaRPr lang="zh-CN" altLang="en-US" sz="1000" dirty="0">
                <a:solidFill>
                  <a:srgbClr val="0955D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73" name="矩形: 圆角 131"/>
            <p:cNvSpPr/>
            <p:nvPr>
              <p:custDataLst>
                <p:tags r:id="rId66"/>
              </p:custDataLst>
            </p:nvPr>
          </p:nvSpPr>
          <p:spPr>
            <a:xfrm>
              <a:off x="953" y="9855"/>
              <a:ext cx="2156" cy="57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SSH</a:t>
              </a:r>
              <a:endParaRPr lang="zh-CN" altLang="en-US" sz="800" dirty="0">
                <a:solidFill>
                  <a:schemeClr val="tx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74" name="矩形: 圆角 132"/>
            <p:cNvSpPr/>
            <p:nvPr>
              <p:custDataLst>
                <p:tags r:id="rId67"/>
              </p:custDataLst>
            </p:nvPr>
          </p:nvSpPr>
          <p:spPr>
            <a:xfrm>
              <a:off x="3611" y="9844"/>
              <a:ext cx="2156" cy="57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800" dirty="0">
                  <a:solidFill>
                    <a:schemeClr val="tx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优维</a:t>
              </a:r>
              <a:r>
                <a:rPr lang="en-US" altLang="zh-CN" sz="800" dirty="0">
                  <a:solidFill>
                    <a:schemeClr val="tx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Agent</a:t>
              </a:r>
              <a:endParaRPr lang="zh-CN" altLang="en-US" sz="800" dirty="0">
                <a:solidFill>
                  <a:schemeClr val="tx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75" name="矩形: 圆角 133"/>
            <p:cNvSpPr/>
            <p:nvPr>
              <p:custDataLst>
                <p:tags r:id="rId68"/>
              </p:custDataLst>
            </p:nvPr>
          </p:nvSpPr>
          <p:spPr>
            <a:xfrm>
              <a:off x="11937" y="9855"/>
              <a:ext cx="2156" cy="57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800" dirty="0" err="1">
                  <a:solidFill>
                    <a:schemeClr val="tx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sql </a:t>
              </a:r>
              <a:r>
                <a:rPr lang="en-US" altLang="zh-CN" sz="800" dirty="0" err="1">
                  <a:solidFill>
                    <a:schemeClr val="tx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client</a:t>
              </a:r>
              <a:endParaRPr lang="en-US" altLang="zh-CN" sz="800" dirty="0" err="1">
                <a:solidFill>
                  <a:schemeClr val="tx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76" name="矩形: 圆角 134"/>
            <p:cNvSpPr/>
            <p:nvPr>
              <p:custDataLst>
                <p:tags r:id="rId69"/>
              </p:custDataLst>
            </p:nvPr>
          </p:nvSpPr>
          <p:spPr>
            <a:xfrm>
              <a:off x="15593" y="9855"/>
              <a:ext cx="1980" cy="57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800" dirty="0">
                  <a:solidFill>
                    <a:schemeClr val="tx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对应</a:t>
              </a:r>
              <a:r>
                <a:rPr lang="zh-CN" altLang="en-US" sz="800" dirty="0">
                  <a:solidFill>
                    <a:schemeClr val="tx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接口</a:t>
              </a:r>
              <a:endParaRPr lang="zh-CN" altLang="en-US" sz="800" dirty="0">
                <a:solidFill>
                  <a:schemeClr val="tx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77" name="矩形: 圆角 135"/>
            <p:cNvSpPr/>
            <p:nvPr>
              <p:custDataLst>
                <p:tags r:id="rId70"/>
              </p:custDataLst>
            </p:nvPr>
          </p:nvSpPr>
          <p:spPr>
            <a:xfrm>
              <a:off x="8944" y="9891"/>
              <a:ext cx="2156" cy="57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800" dirty="0" err="1">
                  <a:solidFill>
                    <a:schemeClr val="tx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saltstack</a:t>
              </a:r>
              <a:endParaRPr lang="zh-CN" altLang="en-US" sz="800" dirty="0">
                <a:solidFill>
                  <a:schemeClr val="tx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cxnSp>
          <p:nvCxnSpPr>
            <p:cNvPr id="178" name="直接连接符 177"/>
            <p:cNvCxnSpPr/>
            <p:nvPr>
              <p:custDataLst>
                <p:tags r:id="rId71"/>
              </p:custDataLst>
            </p:nvPr>
          </p:nvCxnSpPr>
          <p:spPr>
            <a:xfrm>
              <a:off x="890" y="8872"/>
              <a:ext cx="16952" cy="5"/>
            </a:xfrm>
            <a:prstGeom prst="line">
              <a:avLst/>
            </a:prstGeom>
            <a:ln>
              <a:solidFill>
                <a:srgbClr val="08266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左大括号 178"/>
            <p:cNvSpPr/>
            <p:nvPr>
              <p:custDataLst>
                <p:tags r:id="rId72"/>
              </p:custDataLst>
            </p:nvPr>
          </p:nvSpPr>
          <p:spPr>
            <a:xfrm rot="5400000">
              <a:off x="5871" y="5579"/>
              <a:ext cx="442" cy="8342"/>
            </a:xfrm>
            <a:prstGeom prst="leftBrac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0" name="左大括号 179"/>
            <p:cNvSpPr/>
            <p:nvPr>
              <p:custDataLst>
                <p:tags r:id="rId73"/>
              </p:custDataLst>
            </p:nvPr>
          </p:nvSpPr>
          <p:spPr>
            <a:xfrm rot="16200000">
              <a:off x="5901" y="4544"/>
              <a:ext cx="405" cy="8319"/>
            </a:xfrm>
            <a:prstGeom prst="leftBrace">
              <a:avLst>
                <a:gd name="adj1" fmla="val 8333"/>
                <a:gd name="adj2" fmla="val 49797"/>
              </a:avLst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81" name="箭头: 上下 2056"/>
            <p:cNvSpPr/>
            <p:nvPr>
              <p:custDataLst>
                <p:tags r:id="rId74"/>
              </p:custDataLst>
            </p:nvPr>
          </p:nvSpPr>
          <p:spPr>
            <a:xfrm>
              <a:off x="5982" y="8771"/>
              <a:ext cx="232" cy="781"/>
            </a:xfrm>
            <a:prstGeom prst="upDownArrow">
              <a:avLst/>
            </a:prstGeom>
            <a:solidFill>
              <a:schemeClr val="accent3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 dirty="0">
                <a:solidFill>
                  <a:schemeClr val="bg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82" name="箭头: 下 2059"/>
            <p:cNvSpPr/>
            <p:nvPr>
              <p:custDataLst>
                <p:tags r:id="rId75"/>
              </p:custDataLst>
            </p:nvPr>
          </p:nvSpPr>
          <p:spPr>
            <a:xfrm>
              <a:off x="9166" y="6918"/>
              <a:ext cx="452" cy="806"/>
            </a:xfrm>
            <a:prstGeom prst="downArrow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 dirty="0">
                <a:solidFill>
                  <a:schemeClr val="bg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83" name="矩形 182"/>
            <p:cNvSpPr/>
            <p:nvPr>
              <p:custDataLst>
                <p:tags r:id="rId76"/>
              </p:custDataLst>
            </p:nvPr>
          </p:nvSpPr>
          <p:spPr>
            <a:xfrm>
              <a:off x="883" y="1219"/>
              <a:ext cx="16952" cy="134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8266E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 dirty="0">
                <a:solidFill>
                  <a:schemeClr val="bg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84" name="文本框 183"/>
            <p:cNvSpPr txBox="1"/>
            <p:nvPr>
              <p:custDataLst>
                <p:tags r:id="rId77"/>
              </p:custDataLst>
            </p:nvPr>
          </p:nvSpPr>
          <p:spPr>
            <a:xfrm>
              <a:off x="807" y="1266"/>
              <a:ext cx="4745" cy="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dirty="0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流程</a:t>
              </a:r>
              <a:r>
                <a:rPr lang="en-US" altLang="zh-CN" sz="1000" dirty="0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GUI</a:t>
              </a:r>
              <a:r>
                <a:rPr lang="zh-CN" altLang="en-US" sz="1000" dirty="0">
                  <a:solidFill>
                    <a:srgbClr val="0955D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编排层（面向用户）</a:t>
              </a:r>
              <a:endParaRPr lang="zh-CN" altLang="en-US" sz="1000" dirty="0">
                <a:solidFill>
                  <a:srgbClr val="0955D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85" name="箭头: 右 2060"/>
            <p:cNvSpPr/>
            <p:nvPr>
              <p:custDataLst>
                <p:tags r:id="rId78"/>
              </p:custDataLst>
            </p:nvPr>
          </p:nvSpPr>
          <p:spPr>
            <a:xfrm>
              <a:off x="17120" y="4833"/>
              <a:ext cx="1783" cy="580"/>
            </a:xfrm>
            <a:prstGeom prst="rightArrow">
              <a:avLst/>
            </a:prstGeom>
            <a:solidFill>
              <a:schemeClr val="accent3"/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 dirty="0">
                <a:solidFill>
                  <a:schemeClr val="bg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pic>
          <p:nvPicPr>
            <p:cNvPr id="186" name="Picture 14" descr="Image result for servicenow flow designer"/>
            <p:cNvPicPr>
              <a:picLocks noChangeAspect="1" noChangeArrowheads="1"/>
            </p:cNvPicPr>
            <p:nvPr>
              <p:custDataLst>
                <p:tags r:id="rId79"/>
              </p:custDataLst>
            </p:nvPr>
          </p:nvPicPr>
          <p:blipFill>
            <a:blip r:embed="rId8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8" y="1322"/>
              <a:ext cx="2515" cy="11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7" name="Picture 14" descr="Image result for servicenow flow designer"/>
            <p:cNvPicPr>
              <a:picLocks noChangeAspect="1" noChangeArrowheads="1"/>
            </p:cNvPicPr>
            <p:nvPr>
              <p:custDataLst>
                <p:tags r:id="rId81"/>
              </p:custDataLst>
            </p:nvPr>
          </p:nvPicPr>
          <p:blipFill>
            <a:blip r:embed="rId8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87" y="1364"/>
              <a:ext cx="2515" cy="11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8" name="Picture 14" descr="Image result for servicenow flow designer"/>
            <p:cNvPicPr>
              <a:picLocks noChangeAspect="1" noChangeArrowheads="1"/>
            </p:cNvPicPr>
            <p:nvPr>
              <p:custDataLst>
                <p:tags r:id="rId82"/>
              </p:custDataLst>
            </p:nvPr>
          </p:nvPicPr>
          <p:blipFill>
            <a:blip r:embed="rId8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35" y="1334"/>
              <a:ext cx="2515" cy="11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89" name="文本框 188"/>
            <p:cNvSpPr txBox="1"/>
            <p:nvPr>
              <p:custDataLst>
                <p:tags r:id="rId83"/>
              </p:custDataLst>
            </p:nvPr>
          </p:nvSpPr>
          <p:spPr>
            <a:xfrm>
              <a:off x="14775" y="2024"/>
              <a:ext cx="3717" cy="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b="1" dirty="0">
                  <a:latin typeface="微软雅黑" charset="0"/>
                  <a:ea typeface="微软雅黑" charset="0"/>
                  <a:cs typeface="微软雅黑" charset="0"/>
                </a:rPr>
                <a:t>流程</a:t>
              </a:r>
              <a:r>
                <a:rPr lang="en-US" altLang="zh-CN" sz="1000" b="1" dirty="0">
                  <a:latin typeface="微软雅黑" charset="0"/>
                  <a:ea typeface="微软雅黑" charset="0"/>
                  <a:cs typeface="微软雅黑" charset="0"/>
                </a:rPr>
                <a:t>3</a:t>
              </a:r>
              <a:endParaRPr lang="en-US" altLang="zh-CN" sz="1000" b="1" dirty="0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90" name="文本框 189"/>
            <p:cNvSpPr txBox="1"/>
            <p:nvPr>
              <p:custDataLst>
                <p:tags r:id="rId84"/>
              </p:custDataLst>
            </p:nvPr>
          </p:nvSpPr>
          <p:spPr>
            <a:xfrm>
              <a:off x="9891" y="2024"/>
              <a:ext cx="3717" cy="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b="1" dirty="0">
                  <a:latin typeface="微软雅黑" charset="0"/>
                  <a:ea typeface="微软雅黑" charset="0"/>
                  <a:cs typeface="微软雅黑" charset="0"/>
                </a:rPr>
                <a:t>流程</a:t>
              </a:r>
              <a:r>
                <a:rPr lang="en-US" altLang="zh-CN" sz="1000" b="1" dirty="0">
                  <a:latin typeface="微软雅黑" charset="0"/>
                  <a:ea typeface="微软雅黑" charset="0"/>
                  <a:cs typeface="微软雅黑" charset="0"/>
                </a:rPr>
                <a:t>2</a:t>
              </a:r>
              <a:endParaRPr lang="en-US" altLang="zh-CN" sz="1000" b="1" dirty="0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91" name="文本框 190"/>
            <p:cNvSpPr txBox="1"/>
            <p:nvPr>
              <p:custDataLst>
                <p:tags r:id="rId85"/>
              </p:custDataLst>
            </p:nvPr>
          </p:nvSpPr>
          <p:spPr>
            <a:xfrm>
              <a:off x="5862" y="2024"/>
              <a:ext cx="3717" cy="6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1000" b="1" dirty="0">
                  <a:latin typeface="微软雅黑" charset="0"/>
                  <a:ea typeface="微软雅黑" charset="0"/>
                  <a:cs typeface="微软雅黑" charset="0"/>
                </a:rPr>
                <a:t>流程</a:t>
              </a:r>
              <a:r>
                <a:rPr lang="en-US" altLang="zh-CN" sz="1000" b="1" dirty="0">
                  <a:latin typeface="微软雅黑" charset="0"/>
                  <a:ea typeface="微软雅黑" charset="0"/>
                  <a:cs typeface="微软雅黑" charset="0"/>
                </a:rPr>
                <a:t>1</a:t>
              </a:r>
              <a:endParaRPr lang="en-US" altLang="zh-CN" sz="1000" b="1" dirty="0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192" name="矩形: 圆角 162"/>
            <p:cNvSpPr/>
            <p:nvPr>
              <p:custDataLst>
                <p:tags r:id="rId86"/>
              </p:custDataLst>
            </p:nvPr>
          </p:nvSpPr>
          <p:spPr>
            <a:xfrm>
              <a:off x="6270" y="9881"/>
              <a:ext cx="2156" cy="573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800" dirty="0">
                  <a:solidFill>
                    <a:schemeClr val="tx1"/>
                  </a:solidFill>
                  <a:latin typeface="微软雅黑" panose="020B0604030504040204" pitchFamily="34" charset="-122"/>
                  <a:ea typeface="微软雅黑" panose="020B0604030504040204" pitchFamily="34" charset="-122"/>
                </a:rPr>
                <a:t>ansible</a:t>
              </a:r>
              <a:endParaRPr lang="zh-CN" altLang="en-US" sz="800" dirty="0">
                <a:solidFill>
                  <a:schemeClr val="tx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93" name="箭头: 上下 164"/>
            <p:cNvSpPr/>
            <p:nvPr>
              <p:custDataLst>
                <p:tags r:id="rId87"/>
              </p:custDataLst>
            </p:nvPr>
          </p:nvSpPr>
          <p:spPr>
            <a:xfrm>
              <a:off x="13041" y="8556"/>
              <a:ext cx="137" cy="1223"/>
            </a:xfrm>
            <a:prstGeom prst="upDownArrow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 dirty="0">
                <a:solidFill>
                  <a:schemeClr val="bg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94" name="箭头: 上下 165"/>
            <p:cNvSpPr/>
            <p:nvPr>
              <p:custDataLst>
                <p:tags r:id="rId88"/>
              </p:custDataLst>
            </p:nvPr>
          </p:nvSpPr>
          <p:spPr>
            <a:xfrm>
              <a:off x="16549" y="8547"/>
              <a:ext cx="137" cy="1223"/>
            </a:xfrm>
            <a:prstGeom prst="upDownArrow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200" dirty="0">
                <a:solidFill>
                  <a:schemeClr val="bg1"/>
                </a:solidFill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</p:grpSp>
      <p:sp>
        <p:nvSpPr>
          <p:cNvPr id="195" name="文本框 194"/>
          <p:cNvSpPr txBox="1"/>
          <p:nvPr/>
        </p:nvSpPr>
        <p:spPr>
          <a:xfrm>
            <a:off x="4616450" y="5530215"/>
            <a:ext cx="6958330" cy="1165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171450" indent="-171450" algn="l" fontAlgn="auto">
              <a:lnSpc>
                <a:spcPct val="120000"/>
              </a:lnSpc>
              <a:buFont typeface="Wingdings" panose="05000000000000000000" charset="0"/>
              <a:buChar char=""/>
            </a:pPr>
            <a:r>
              <a:rPr kumimoji="1" lang="zh-CN" altLang="en-US" sz="1200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丰富的原子工具能力，支持</a:t>
            </a:r>
            <a:r>
              <a:rPr kumimoji="1" lang="en-US" altLang="zh-CN" sz="1200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shell</a:t>
            </a:r>
            <a:r>
              <a:rPr kumimoji="1" lang="zh-CN" altLang="en-US" sz="1200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、</a:t>
            </a:r>
            <a:r>
              <a:rPr kumimoji="1" lang="en-US" altLang="zh-CN" sz="1200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python</a:t>
            </a:r>
            <a:r>
              <a:rPr kumimoji="1" lang="zh-CN" altLang="en-US" sz="1200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、</a:t>
            </a:r>
            <a:r>
              <a:rPr kumimoji="1" lang="en-US" altLang="zh-CN" sz="1200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bat</a:t>
            </a:r>
            <a:r>
              <a:rPr kumimoji="1" lang="zh-CN" altLang="en-US" sz="1200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、</a:t>
            </a:r>
            <a:r>
              <a:rPr kumimoji="1" lang="en-US" altLang="zh-CN" sz="1200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Powershell</a:t>
            </a:r>
            <a:r>
              <a:rPr kumimoji="1" lang="zh-CN" altLang="en-US" sz="1200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等</a:t>
            </a:r>
            <a:endParaRPr kumimoji="1" lang="zh-CN" altLang="en-US" sz="1200" dirty="0" smtClean="0">
              <a:latin typeface="微软雅黑" panose="020B0604030504040204" pitchFamily="34" charset="-122"/>
              <a:ea typeface="微软雅黑" panose="020B0604030504040204" pitchFamily="34" charset="-122"/>
            </a:endParaRPr>
          </a:p>
          <a:p>
            <a:pPr marL="171450" indent="-171450" algn="l" fontAlgn="auto">
              <a:lnSpc>
                <a:spcPct val="120000"/>
              </a:lnSpc>
              <a:buFont typeface="Wingdings" panose="05000000000000000000" charset="0"/>
              <a:buChar char=""/>
            </a:pPr>
            <a:r>
              <a:rPr kumimoji="1" lang="zh-CN" altLang="en-US" sz="1200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工具支持和</a:t>
            </a:r>
            <a:r>
              <a:rPr kumimoji="1" lang="en-US" altLang="zh-CN" sz="1200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CMDB</a:t>
            </a:r>
            <a:r>
              <a:rPr kumimoji="1" lang="zh-CN" altLang="en-US" sz="1200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数据无缝对接</a:t>
            </a:r>
            <a:endParaRPr kumimoji="1" lang="en-US" altLang="zh-CN" sz="1200" dirty="0" smtClean="0">
              <a:latin typeface="微软雅黑" panose="020B0604030504040204" pitchFamily="34" charset="-122"/>
              <a:ea typeface="微软雅黑" panose="020B0604030504040204" pitchFamily="34" charset="-122"/>
            </a:endParaRPr>
          </a:p>
          <a:p>
            <a:pPr marL="171450" indent="-171450" algn="l" fontAlgn="auto">
              <a:lnSpc>
                <a:spcPct val="120000"/>
              </a:lnSpc>
              <a:buFont typeface="Wingdings" panose="05000000000000000000" charset="0"/>
              <a:buChar char=""/>
            </a:pPr>
            <a:r>
              <a:rPr kumimoji="1" lang="zh-CN" altLang="en-US" sz="1200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完善的工具管理能力，包括限定执行目标、执行用户、超时时间</a:t>
            </a:r>
            <a:r>
              <a:rPr kumimoji="1" lang="zh-CN" altLang="en-US" sz="1200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等</a:t>
            </a:r>
            <a:endParaRPr kumimoji="1" lang="zh-CN" altLang="en-US" sz="1200" dirty="0" smtClean="0">
              <a:latin typeface="微软雅黑" panose="020B0604030504040204" pitchFamily="34" charset="-122"/>
              <a:ea typeface="微软雅黑" panose="020B0604030504040204" pitchFamily="34" charset="-122"/>
            </a:endParaRPr>
          </a:p>
          <a:p>
            <a:pPr marL="171450" indent="-171450" algn="l" fontAlgn="auto">
              <a:lnSpc>
                <a:spcPct val="120000"/>
              </a:lnSpc>
              <a:buFont typeface="Wingdings" panose="05000000000000000000" charset="0"/>
              <a:buChar char=""/>
            </a:pPr>
            <a:r>
              <a:rPr kumimoji="1" lang="zh-CN" altLang="en-US" sz="1200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丰富的内置变量及输入参数和输出参数</a:t>
            </a:r>
            <a:r>
              <a:rPr kumimoji="1" lang="zh-CN" altLang="en-US" sz="1200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配置</a:t>
            </a:r>
            <a:endParaRPr kumimoji="1" lang="zh-CN" altLang="en-US" sz="1200" dirty="0" smtClean="0">
              <a:latin typeface="微软雅黑" panose="020B0604030504040204" pitchFamily="34" charset="-122"/>
              <a:ea typeface="微软雅黑" panose="020B0604030504040204" pitchFamily="34" charset="-122"/>
            </a:endParaRPr>
          </a:p>
          <a:p>
            <a:pPr marL="171450" indent="-171450" algn="l" fontAlgn="auto">
              <a:lnSpc>
                <a:spcPct val="120000"/>
              </a:lnSpc>
              <a:buFont typeface="Wingdings" panose="05000000000000000000" charset="0"/>
              <a:buChar char=""/>
            </a:pPr>
            <a:r>
              <a:rPr kumimoji="1" lang="zh-CN" altLang="en-US" sz="1200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支持复杂业务工作流</a:t>
            </a:r>
            <a:r>
              <a:rPr kumimoji="1" lang="zh-CN" altLang="en-US" sz="1200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创建</a:t>
            </a:r>
            <a:endParaRPr kumimoji="1" lang="zh-CN" altLang="en-US" sz="1200" dirty="0" smtClean="0">
              <a:latin typeface="微软雅黑" panose="020B0604030504040204" pitchFamily="34" charset="-122"/>
              <a:ea typeface="微软雅黑" panose="020B0604030504040204" pitchFamily="34" charset="-122"/>
            </a:endParaRPr>
          </a:p>
          <a:p>
            <a:pPr marL="171450" indent="-171450" algn="l">
              <a:buFont typeface="Wingdings" panose="05000000000000000000" charset="0"/>
              <a:buChar char=""/>
            </a:pPr>
            <a:endParaRPr kumimoji="1" lang="zh-CN" altLang="en-US" sz="1200" dirty="0" smtClean="0">
              <a:latin typeface="微软雅黑" panose="020B0604030504040204" pitchFamily="34" charset="-122"/>
              <a:ea typeface="微软雅黑" panose="020B0604030504040204" pitchFamily="3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/>
        </p:nvSpPr>
        <p:spPr>
          <a:xfrm>
            <a:off x="508000" y="127635"/>
            <a:ext cx="8867140" cy="54229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b="0" i="0" kern="1200">
                <a:solidFill>
                  <a:srgbClr val="21212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altLang="zh-CN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4.4 DevOps</a:t>
            </a:r>
            <a:r>
              <a:rPr lang="zh-CN" altLang="en-US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平台核心功能</a:t>
            </a:r>
            <a:r>
              <a:rPr lang="en-US" altLang="zh-CN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 - </a:t>
            </a:r>
            <a:r>
              <a:rPr lang="zh-CN" altLang="en-US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持续集成</a:t>
            </a:r>
            <a:r>
              <a:rPr lang="en-US" altLang="zh-CN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/</a:t>
            </a:r>
            <a:r>
              <a:rPr lang="zh-CN" altLang="en-US" sz="2400" dirty="0">
                <a:latin typeface="微软雅黑" panose="020B0604030504040204" pitchFamily="34" charset="-122"/>
                <a:ea typeface="微软雅黑" panose="020B0604030504040204" pitchFamily="34" charset="-122"/>
                <a:sym typeface="+mn-ea"/>
              </a:rPr>
              <a:t>部署</a:t>
            </a:r>
            <a:endParaRPr lang="zh-CN" altLang="en-US" sz="2400" dirty="0">
              <a:latin typeface="微软雅黑" panose="020B0604030504040204" pitchFamily="34" charset="-122"/>
              <a:ea typeface="微软雅黑" panose="020B0604030504040204" pitchFamily="34" charset="-122"/>
              <a:sym typeface="+mn-ea"/>
            </a:endParaRPr>
          </a:p>
        </p:txBody>
      </p:sp>
      <p:sp>
        <p:nvSpPr>
          <p:cNvPr id="64" name="矩形 63"/>
          <p:cNvSpPr/>
          <p:nvPr>
            <p:custDataLst>
              <p:tags r:id="rId1"/>
            </p:custDataLst>
          </p:nvPr>
        </p:nvSpPr>
        <p:spPr>
          <a:xfrm>
            <a:off x="236855" y="4862195"/>
            <a:ext cx="1676400" cy="1473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0" tIns="71437" rIns="360000" bIns="71437" numCol="1" spcCol="38100" rtlCol="0" anchor="ctr">
            <a:noAutofit/>
          </a:bodyPr>
          <a:p>
            <a:pPr algn="r"/>
            <a:endParaRPr lang="en-US" altLang="zh-CN" sz="2800" dirty="0">
              <a:solidFill>
                <a:schemeClr val="tx2">
                  <a:lumMod val="50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</a:endParaRPr>
          </a:p>
        </p:txBody>
      </p:sp>
      <p:sp>
        <p:nvSpPr>
          <p:cNvPr id="5" name="流程图: 可选过程 4"/>
          <p:cNvSpPr/>
          <p:nvPr>
            <p:custDataLst>
              <p:tags r:id="rId2"/>
            </p:custDataLst>
          </p:nvPr>
        </p:nvSpPr>
        <p:spPr>
          <a:xfrm>
            <a:off x="506095" y="1115060"/>
            <a:ext cx="1171575" cy="496570"/>
          </a:xfrm>
          <a:prstGeom prst="flowChartAlternateProcess">
            <a:avLst/>
          </a:prstGeom>
          <a:solidFill>
            <a:srgbClr val="0084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latin typeface="微软雅黑" panose="020B0604030504040204" pitchFamily="34" charset="-122"/>
                <a:ea typeface="微软雅黑" panose="020B0604030504040204" pitchFamily="34" charset="-122"/>
              </a:rPr>
              <a:t>持续集成（</a:t>
            </a:r>
            <a:r>
              <a:rPr lang="en-US" altLang="zh-CN" sz="1600">
                <a:latin typeface="微软雅黑" panose="020B0604030504040204" pitchFamily="34" charset="-122"/>
                <a:ea typeface="微软雅黑" panose="020B0604030504040204" pitchFamily="34" charset="-122"/>
              </a:rPr>
              <a:t>CI</a:t>
            </a:r>
            <a:r>
              <a:rPr lang="zh-CN" altLang="en-US" sz="1600">
                <a:latin typeface="微软雅黑" panose="020B0604030504040204" pitchFamily="34" charset="-122"/>
                <a:ea typeface="微软雅黑" panose="020B0604030504040204" pitchFamily="34" charset="-122"/>
              </a:rPr>
              <a:t>）</a:t>
            </a:r>
            <a:endParaRPr lang="zh-CN" altLang="en-US" sz="1600">
              <a:latin typeface="微软雅黑" panose="020B0604030504040204" pitchFamily="34" charset="-122"/>
              <a:ea typeface="微软雅黑" panose="020B0604030504040204" pitchFamily="34" charset="-122"/>
            </a:endParaRPr>
          </a:p>
        </p:txBody>
      </p:sp>
      <p:sp>
        <p:nvSpPr>
          <p:cNvPr id="7" name="流程图: 可选过程 6"/>
          <p:cNvSpPr/>
          <p:nvPr>
            <p:custDataLst>
              <p:tags r:id="rId3"/>
            </p:custDataLst>
          </p:nvPr>
        </p:nvSpPr>
        <p:spPr>
          <a:xfrm>
            <a:off x="479425" y="2866390"/>
            <a:ext cx="1171575" cy="496570"/>
          </a:xfrm>
          <a:prstGeom prst="flowChartAlternateProcess">
            <a:avLst/>
          </a:prstGeom>
          <a:solidFill>
            <a:srgbClr val="75B73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dirty="0">
                <a:latin typeface="微软雅黑" panose="020B0604030504040204" pitchFamily="34" charset="-122"/>
                <a:ea typeface="微软雅黑" panose="020B0604030504040204" pitchFamily="34" charset="-122"/>
              </a:rPr>
              <a:t>CMDB</a:t>
            </a:r>
            <a:endParaRPr lang="en-US" altLang="zh-CN" sz="1600" dirty="0">
              <a:latin typeface="微软雅黑" panose="020B0604030504040204" pitchFamily="34" charset="-122"/>
              <a:ea typeface="微软雅黑" panose="020B0604030504040204" pitchFamily="34" charset="-122"/>
            </a:endParaRPr>
          </a:p>
        </p:txBody>
      </p:sp>
      <p:sp>
        <p:nvSpPr>
          <p:cNvPr id="67" name="流程图: 可选过程 66"/>
          <p:cNvSpPr/>
          <p:nvPr>
            <p:custDataLst>
              <p:tags r:id="rId4"/>
            </p:custDataLst>
          </p:nvPr>
        </p:nvSpPr>
        <p:spPr>
          <a:xfrm>
            <a:off x="3038475" y="2866390"/>
            <a:ext cx="1171575" cy="496570"/>
          </a:xfrm>
          <a:prstGeom prst="flowChartAlternateProcess">
            <a:avLst/>
          </a:prstGeom>
          <a:solidFill>
            <a:srgbClr val="0084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latin typeface="微软雅黑" panose="020B0604030504040204" pitchFamily="34" charset="-122"/>
                <a:ea typeface="微软雅黑" panose="020B0604030504040204" pitchFamily="34" charset="-122"/>
              </a:rPr>
              <a:t>应用部署（</a:t>
            </a:r>
            <a:r>
              <a:rPr lang="en-US" altLang="zh-CN" sz="1600">
                <a:latin typeface="微软雅黑" panose="020B0604030504040204" pitchFamily="34" charset="-122"/>
                <a:ea typeface="微软雅黑" panose="020B0604030504040204" pitchFamily="34" charset="-122"/>
              </a:rPr>
              <a:t>CD</a:t>
            </a:r>
            <a:r>
              <a:rPr lang="zh-CN" altLang="en-US" sz="1600">
                <a:latin typeface="微软雅黑" panose="020B0604030504040204" pitchFamily="34" charset="-122"/>
                <a:ea typeface="微软雅黑" panose="020B0604030504040204" pitchFamily="34" charset="-122"/>
              </a:rPr>
              <a:t>）</a:t>
            </a:r>
            <a:endParaRPr lang="zh-CN" altLang="en-US" sz="1600">
              <a:latin typeface="微软雅黑" panose="020B0604030504040204" pitchFamily="34" charset="-122"/>
              <a:ea typeface="微软雅黑" panose="020B0604030504040204" pitchFamily="34" charset="-122"/>
            </a:endParaRPr>
          </a:p>
        </p:txBody>
      </p:sp>
      <p:sp>
        <p:nvSpPr>
          <p:cNvPr id="68" name="流程图: 可选过程 67"/>
          <p:cNvSpPr/>
          <p:nvPr>
            <p:custDataLst>
              <p:tags r:id="rId5"/>
            </p:custDataLst>
          </p:nvPr>
        </p:nvSpPr>
        <p:spPr>
          <a:xfrm>
            <a:off x="3038475" y="1123315"/>
            <a:ext cx="1171575" cy="496570"/>
          </a:xfrm>
          <a:prstGeom prst="flowChartAlternateProcess">
            <a:avLst/>
          </a:prstGeom>
          <a:solidFill>
            <a:srgbClr val="0084C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latin typeface="微软雅黑" panose="020B0604030504040204" pitchFamily="34" charset="-122"/>
                <a:ea typeface="微软雅黑" panose="020B0604030504040204" pitchFamily="34" charset="-122"/>
              </a:rPr>
              <a:t>制品库</a:t>
            </a:r>
            <a:endParaRPr lang="zh-CN" altLang="en-US" sz="1600">
              <a:latin typeface="微软雅黑" panose="020B0604030504040204" pitchFamily="34" charset="-122"/>
              <a:ea typeface="微软雅黑" panose="020B0604030504040204" pitchFamily="34" charset="-122"/>
            </a:endParaRPr>
          </a:p>
        </p:txBody>
      </p:sp>
      <p:grpSp>
        <p:nvGrpSpPr>
          <p:cNvPr id="69" name="组合 68"/>
          <p:cNvGrpSpPr/>
          <p:nvPr/>
        </p:nvGrpSpPr>
        <p:grpSpPr>
          <a:xfrm>
            <a:off x="506095" y="5442585"/>
            <a:ext cx="470535" cy="757630"/>
            <a:chOff x="5702515" y="10927403"/>
            <a:chExt cx="1067599" cy="1477361"/>
          </a:xfrm>
        </p:grpSpPr>
        <p:sp>
          <p:nvSpPr>
            <p:cNvPr id="70" name="iconfont-11206-4016491"/>
            <p:cNvSpPr>
              <a:spLocks noChangeAspect="1"/>
            </p:cNvSpPr>
            <p:nvPr>
              <p:custDataLst>
                <p:tags r:id="rId6"/>
              </p:custDataLst>
            </p:nvPr>
          </p:nvSpPr>
          <p:spPr>
            <a:xfrm>
              <a:off x="5859174" y="10927403"/>
              <a:ext cx="754279" cy="720000"/>
            </a:xfrm>
            <a:custGeom>
              <a:avLst/>
              <a:gdLst>
                <a:gd name="T0" fmla="*/ 3200 w 11734"/>
                <a:gd name="T1" fmla="*/ 2133 h 11200"/>
                <a:gd name="T2" fmla="*/ 4800 w 11734"/>
                <a:gd name="T3" fmla="*/ 1067 h 11200"/>
                <a:gd name="T4" fmla="*/ 4800 w 11734"/>
                <a:gd name="T5" fmla="*/ 2133 h 11200"/>
                <a:gd name="T6" fmla="*/ 6134 w 11734"/>
                <a:gd name="T7" fmla="*/ 1333 h 11200"/>
                <a:gd name="T8" fmla="*/ 8534 w 11734"/>
                <a:gd name="T9" fmla="*/ 1333 h 11200"/>
                <a:gd name="T10" fmla="*/ 3200 w 11734"/>
                <a:gd name="T11" fmla="*/ 4800 h 11200"/>
                <a:gd name="T12" fmla="*/ 4800 w 11734"/>
                <a:gd name="T13" fmla="*/ 3733 h 11200"/>
                <a:gd name="T14" fmla="*/ 4800 w 11734"/>
                <a:gd name="T15" fmla="*/ 4800 h 11200"/>
                <a:gd name="T16" fmla="*/ 6134 w 11734"/>
                <a:gd name="T17" fmla="*/ 4000 h 11200"/>
                <a:gd name="T18" fmla="*/ 8534 w 11734"/>
                <a:gd name="T19" fmla="*/ 4000 h 11200"/>
                <a:gd name="T20" fmla="*/ 3200 w 11734"/>
                <a:gd name="T21" fmla="*/ 7467 h 11200"/>
                <a:gd name="T22" fmla="*/ 4800 w 11734"/>
                <a:gd name="T23" fmla="*/ 6400 h 11200"/>
                <a:gd name="T24" fmla="*/ 4800 w 11734"/>
                <a:gd name="T25" fmla="*/ 7467 h 11200"/>
                <a:gd name="T26" fmla="*/ 6134 w 11734"/>
                <a:gd name="T27" fmla="*/ 6667 h 11200"/>
                <a:gd name="T28" fmla="*/ 8534 w 11734"/>
                <a:gd name="T29" fmla="*/ 6667 h 11200"/>
                <a:gd name="T30" fmla="*/ 3200 w 11734"/>
                <a:gd name="T31" fmla="*/ 10133 h 11200"/>
                <a:gd name="T32" fmla="*/ 4800 w 11734"/>
                <a:gd name="T33" fmla="*/ 9067 h 11200"/>
                <a:gd name="T34" fmla="*/ 4800 w 11734"/>
                <a:gd name="T35" fmla="*/ 10133 h 11200"/>
                <a:gd name="T36" fmla="*/ 6134 w 11734"/>
                <a:gd name="T37" fmla="*/ 9333 h 11200"/>
                <a:gd name="T38" fmla="*/ 8534 w 11734"/>
                <a:gd name="T39" fmla="*/ 9333 h 11200"/>
                <a:gd name="T40" fmla="*/ 2134 w 11734"/>
                <a:gd name="T41" fmla="*/ 267 h 11200"/>
                <a:gd name="T42" fmla="*/ 9334 w 11734"/>
                <a:gd name="T43" fmla="*/ 11200 h 11200"/>
                <a:gd name="T44" fmla="*/ 9334 w 11734"/>
                <a:gd name="T45" fmla="*/ 0 h 11200"/>
                <a:gd name="T46" fmla="*/ 2667 w 11734"/>
                <a:gd name="T47" fmla="*/ 8533 h 11200"/>
                <a:gd name="T48" fmla="*/ 9067 w 11734"/>
                <a:gd name="T49" fmla="*/ 8000 h 11200"/>
                <a:gd name="T50" fmla="*/ 9067 w 11734"/>
                <a:gd name="T51" fmla="*/ 5867 h 11200"/>
                <a:gd name="T52" fmla="*/ 2667 w 11734"/>
                <a:gd name="T53" fmla="*/ 5333 h 11200"/>
                <a:gd name="T54" fmla="*/ 9067 w 11734"/>
                <a:gd name="T55" fmla="*/ 5333 h 11200"/>
                <a:gd name="T56" fmla="*/ 2667 w 11734"/>
                <a:gd name="T57" fmla="*/ 533 h 11200"/>
                <a:gd name="T58" fmla="*/ 0 w 11734"/>
                <a:gd name="T59" fmla="*/ 2400 h 11200"/>
                <a:gd name="T60" fmla="*/ 1600 w 11734"/>
                <a:gd name="T61" fmla="*/ 9067 h 11200"/>
                <a:gd name="T62" fmla="*/ 534 w 11734"/>
                <a:gd name="T63" fmla="*/ 7467 h 11200"/>
                <a:gd name="T64" fmla="*/ 534 w 11734"/>
                <a:gd name="T65" fmla="*/ 6933 h 11200"/>
                <a:gd name="T66" fmla="*/ 1600 w 11734"/>
                <a:gd name="T67" fmla="*/ 5333 h 11200"/>
                <a:gd name="T68" fmla="*/ 1600 w 11734"/>
                <a:gd name="T69" fmla="*/ 4267 h 11200"/>
                <a:gd name="T70" fmla="*/ 534 w 11734"/>
                <a:gd name="T71" fmla="*/ 2667 h 11200"/>
                <a:gd name="T72" fmla="*/ 267 w 11734"/>
                <a:gd name="T73" fmla="*/ 2133 h 11200"/>
                <a:gd name="T74" fmla="*/ 10134 w 11734"/>
                <a:gd name="T75" fmla="*/ 2133 h 11200"/>
                <a:gd name="T76" fmla="*/ 11200 w 11734"/>
                <a:gd name="T77" fmla="*/ 3733 h 11200"/>
                <a:gd name="T78" fmla="*/ 11200 w 11734"/>
                <a:gd name="T79" fmla="*/ 4267 h 11200"/>
                <a:gd name="T80" fmla="*/ 10134 w 11734"/>
                <a:gd name="T81" fmla="*/ 5867 h 11200"/>
                <a:gd name="T82" fmla="*/ 10134 w 11734"/>
                <a:gd name="T83" fmla="*/ 6933 h 11200"/>
                <a:gd name="T84" fmla="*/ 11200 w 11734"/>
                <a:gd name="T85" fmla="*/ 8533 h 11200"/>
                <a:gd name="T86" fmla="*/ 11467 w 11734"/>
                <a:gd name="T87" fmla="*/ 9067 h 11200"/>
                <a:gd name="T88" fmla="*/ 11467 w 11734"/>
                <a:gd name="T89" fmla="*/ 2133 h 1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34" h="11200">
                  <a:moveTo>
                    <a:pt x="3734" y="1067"/>
                  </a:moveTo>
                  <a:lnTo>
                    <a:pt x="3200" y="1067"/>
                  </a:lnTo>
                  <a:lnTo>
                    <a:pt x="3200" y="2133"/>
                  </a:lnTo>
                  <a:lnTo>
                    <a:pt x="3734" y="2133"/>
                  </a:lnTo>
                  <a:lnTo>
                    <a:pt x="3734" y="1067"/>
                  </a:lnTo>
                  <a:close/>
                  <a:moveTo>
                    <a:pt x="4800" y="1067"/>
                  </a:moveTo>
                  <a:lnTo>
                    <a:pt x="4267" y="1067"/>
                  </a:lnTo>
                  <a:lnTo>
                    <a:pt x="4267" y="2133"/>
                  </a:lnTo>
                  <a:lnTo>
                    <a:pt x="4800" y="2133"/>
                  </a:lnTo>
                  <a:lnTo>
                    <a:pt x="4800" y="1067"/>
                  </a:lnTo>
                  <a:close/>
                  <a:moveTo>
                    <a:pt x="8534" y="1333"/>
                  </a:moveTo>
                  <a:lnTo>
                    <a:pt x="6134" y="1333"/>
                  </a:lnTo>
                  <a:lnTo>
                    <a:pt x="6134" y="1867"/>
                  </a:lnTo>
                  <a:lnTo>
                    <a:pt x="8534" y="1867"/>
                  </a:lnTo>
                  <a:lnTo>
                    <a:pt x="8534" y="1333"/>
                  </a:lnTo>
                  <a:close/>
                  <a:moveTo>
                    <a:pt x="3734" y="3733"/>
                  </a:moveTo>
                  <a:lnTo>
                    <a:pt x="3200" y="3733"/>
                  </a:lnTo>
                  <a:lnTo>
                    <a:pt x="3200" y="4800"/>
                  </a:lnTo>
                  <a:lnTo>
                    <a:pt x="3734" y="4800"/>
                  </a:lnTo>
                  <a:lnTo>
                    <a:pt x="3734" y="3733"/>
                  </a:lnTo>
                  <a:close/>
                  <a:moveTo>
                    <a:pt x="4800" y="3733"/>
                  </a:moveTo>
                  <a:lnTo>
                    <a:pt x="4267" y="3733"/>
                  </a:lnTo>
                  <a:lnTo>
                    <a:pt x="4267" y="4800"/>
                  </a:lnTo>
                  <a:lnTo>
                    <a:pt x="4800" y="4800"/>
                  </a:lnTo>
                  <a:lnTo>
                    <a:pt x="4800" y="3733"/>
                  </a:lnTo>
                  <a:close/>
                  <a:moveTo>
                    <a:pt x="8534" y="4000"/>
                  </a:moveTo>
                  <a:lnTo>
                    <a:pt x="6134" y="4000"/>
                  </a:lnTo>
                  <a:lnTo>
                    <a:pt x="6134" y="4533"/>
                  </a:lnTo>
                  <a:lnTo>
                    <a:pt x="8534" y="4533"/>
                  </a:lnTo>
                  <a:lnTo>
                    <a:pt x="8534" y="4000"/>
                  </a:lnTo>
                  <a:close/>
                  <a:moveTo>
                    <a:pt x="3734" y="6400"/>
                  </a:moveTo>
                  <a:lnTo>
                    <a:pt x="3200" y="6400"/>
                  </a:lnTo>
                  <a:lnTo>
                    <a:pt x="3200" y="7467"/>
                  </a:lnTo>
                  <a:lnTo>
                    <a:pt x="3734" y="7467"/>
                  </a:lnTo>
                  <a:lnTo>
                    <a:pt x="3734" y="6400"/>
                  </a:lnTo>
                  <a:close/>
                  <a:moveTo>
                    <a:pt x="4800" y="6400"/>
                  </a:moveTo>
                  <a:lnTo>
                    <a:pt x="4267" y="6400"/>
                  </a:lnTo>
                  <a:lnTo>
                    <a:pt x="4267" y="7467"/>
                  </a:lnTo>
                  <a:lnTo>
                    <a:pt x="4800" y="7467"/>
                  </a:lnTo>
                  <a:lnTo>
                    <a:pt x="4800" y="6400"/>
                  </a:lnTo>
                  <a:close/>
                  <a:moveTo>
                    <a:pt x="8534" y="6667"/>
                  </a:moveTo>
                  <a:lnTo>
                    <a:pt x="6134" y="6667"/>
                  </a:lnTo>
                  <a:lnTo>
                    <a:pt x="6134" y="7200"/>
                  </a:lnTo>
                  <a:lnTo>
                    <a:pt x="8534" y="7200"/>
                  </a:lnTo>
                  <a:lnTo>
                    <a:pt x="8534" y="6667"/>
                  </a:lnTo>
                  <a:close/>
                  <a:moveTo>
                    <a:pt x="3734" y="9067"/>
                  </a:moveTo>
                  <a:lnTo>
                    <a:pt x="3200" y="9067"/>
                  </a:lnTo>
                  <a:lnTo>
                    <a:pt x="3200" y="10133"/>
                  </a:lnTo>
                  <a:lnTo>
                    <a:pt x="3734" y="10133"/>
                  </a:lnTo>
                  <a:lnTo>
                    <a:pt x="3734" y="9067"/>
                  </a:lnTo>
                  <a:close/>
                  <a:moveTo>
                    <a:pt x="4800" y="9067"/>
                  </a:moveTo>
                  <a:lnTo>
                    <a:pt x="4267" y="9067"/>
                  </a:lnTo>
                  <a:lnTo>
                    <a:pt x="4267" y="10133"/>
                  </a:lnTo>
                  <a:lnTo>
                    <a:pt x="4800" y="10133"/>
                  </a:lnTo>
                  <a:lnTo>
                    <a:pt x="4800" y="9067"/>
                  </a:lnTo>
                  <a:close/>
                  <a:moveTo>
                    <a:pt x="8534" y="9333"/>
                  </a:moveTo>
                  <a:lnTo>
                    <a:pt x="6134" y="9333"/>
                  </a:lnTo>
                  <a:lnTo>
                    <a:pt x="6134" y="9867"/>
                  </a:lnTo>
                  <a:lnTo>
                    <a:pt x="8534" y="9867"/>
                  </a:lnTo>
                  <a:lnTo>
                    <a:pt x="8534" y="9333"/>
                  </a:lnTo>
                  <a:close/>
                  <a:moveTo>
                    <a:pt x="9334" y="0"/>
                  </a:moveTo>
                  <a:lnTo>
                    <a:pt x="2400" y="0"/>
                  </a:lnTo>
                  <a:cubicBezTo>
                    <a:pt x="2240" y="0"/>
                    <a:pt x="2134" y="107"/>
                    <a:pt x="2134" y="267"/>
                  </a:cubicBezTo>
                  <a:lnTo>
                    <a:pt x="2134" y="10933"/>
                  </a:lnTo>
                  <a:cubicBezTo>
                    <a:pt x="2134" y="11093"/>
                    <a:pt x="2240" y="11200"/>
                    <a:pt x="2400" y="11200"/>
                  </a:cubicBezTo>
                  <a:lnTo>
                    <a:pt x="9334" y="11200"/>
                  </a:lnTo>
                  <a:cubicBezTo>
                    <a:pt x="9494" y="11200"/>
                    <a:pt x="9600" y="11093"/>
                    <a:pt x="9600" y="10933"/>
                  </a:cubicBezTo>
                  <a:lnTo>
                    <a:pt x="9600" y="267"/>
                  </a:lnTo>
                  <a:cubicBezTo>
                    <a:pt x="9600" y="107"/>
                    <a:pt x="9494" y="0"/>
                    <a:pt x="9334" y="0"/>
                  </a:cubicBezTo>
                  <a:close/>
                  <a:moveTo>
                    <a:pt x="9067" y="10667"/>
                  </a:moveTo>
                  <a:lnTo>
                    <a:pt x="2667" y="10667"/>
                  </a:lnTo>
                  <a:lnTo>
                    <a:pt x="2667" y="8533"/>
                  </a:lnTo>
                  <a:lnTo>
                    <a:pt x="9067" y="8533"/>
                  </a:lnTo>
                  <a:lnTo>
                    <a:pt x="9067" y="10667"/>
                  </a:lnTo>
                  <a:close/>
                  <a:moveTo>
                    <a:pt x="9067" y="8000"/>
                  </a:moveTo>
                  <a:lnTo>
                    <a:pt x="2667" y="8000"/>
                  </a:lnTo>
                  <a:lnTo>
                    <a:pt x="2667" y="5867"/>
                  </a:lnTo>
                  <a:lnTo>
                    <a:pt x="9067" y="5867"/>
                  </a:lnTo>
                  <a:lnTo>
                    <a:pt x="9067" y="8000"/>
                  </a:lnTo>
                  <a:close/>
                  <a:moveTo>
                    <a:pt x="9067" y="5333"/>
                  </a:moveTo>
                  <a:lnTo>
                    <a:pt x="2667" y="5333"/>
                  </a:lnTo>
                  <a:lnTo>
                    <a:pt x="2667" y="3200"/>
                  </a:lnTo>
                  <a:lnTo>
                    <a:pt x="9067" y="3200"/>
                  </a:lnTo>
                  <a:lnTo>
                    <a:pt x="9067" y="5333"/>
                  </a:lnTo>
                  <a:close/>
                  <a:moveTo>
                    <a:pt x="9067" y="2667"/>
                  </a:moveTo>
                  <a:lnTo>
                    <a:pt x="2667" y="2667"/>
                  </a:lnTo>
                  <a:lnTo>
                    <a:pt x="2667" y="533"/>
                  </a:lnTo>
                  <a:lnTo>
                    <a:pt x="9067" y="533"/>
                  </a:lnTo>
                  <a:lnTo>
                    <a:pt x="9067" y="2667"/>
                  </a:lnTo>
                  <a:close/>
                  <a:moveTo>
                    <a:pt x="0" y="2400"/>
                  </a:moveTo>
                  <a:lnTo>
                    <a:pt x="0" y="8800"/>
                  </a:lnTo>
                  <a:cubicBezTo>
                    <a:pt x="0" y="8960"/>
                    <a:pt x="107" y="9067"/>
                    <a:pt x="267" y="9067"/>
                  </a:cubicBezTo>
                  <a:lnTo>
                    <a:pt x="1600" y="9067"/>
                  </a:lnTo>
                  <a:lnTo>
                    <a:pt x="1600" y="8533"/>
                  </a:lnTo>
                  <a:lnTo>
                    <a:pt x="534" y="8533"/>
                  </a:lnTo>
                  <a:lnTo>
                    <a:pt x="534" y="7467"/>
                  </a:lnTo>
                  <a:lnTo>
                    <a:pt x="1600" y="7467"/>
                  </a:lnTo>
                  <a:lnTo>
                    <a:pt x="1600" y="6933"/>
                  </a:lnTo>
                  <a:lnTo>
                    <a:pt x="534" y="6933"/>
                  </a:lnTo>
                  <a:lnTo>
                    <a:pt x="534" y="5867"/>
                  </a:lnTo>
                  <a:lnTo>
                    <a:pt x="1600" y="5867"/>
                  </a:lnTo>
                  <a:lnTo>
                    <a:pt x="1600" y="5333"/>
                  </a:lnTo>
                  <a:lnTo>
                    <a:pt x="534" y="5333"/>
                  </a:lnTo>
                  <a:lnTo>
                    <a:pt x="534" y="4267"/>
                  </a:lnTo>
                  <a:lnTo>
                    <a:pt x="1600" y="4267"/>
                  </a:lnTo>
                  <a:lnTo>
                    <a:pt x="1600" y="3733"/>
                  </a:lnTo>
                  <a:lnTo>
                    <a:pt x="534" y="3733"/>
                  </a:lnTo>
                  <a:lnTo>
                    <a:pt x="534" y="2667"/>
                  </a:lnTo>
                  <a:lnTo>
                    <a:pt x="1600" y="2667"/>
                  </a:lnTo>
                  <a:lnTo>
                    <a:pt x="1600" y="2133"/>
                  </a:lnTo>
                  <a:lnTo>
                    <a:pt x="267" y="2133"/>
                  </a:lnTo>
                  <a:cubicBezTo>
                    <a:pt x="107" y="2133"/>
                    <a:pt x="0" y="2240"/>
                    <a:pt x="0" y="2400"/>
                  </a:cubicBezTo>
                  <a:close/>
                  <a:moveTo>
                    <a:pt x="11467" y="2133"/>
                  </a:moveTo>
                  <a:lnTo>
                    <a:pt x="10134" y="2133"/>
                  </a:lnTo>
                  <a:lnTo>
                    <a:pt x="10134" y="2667"/>
                  </a:lnTo>
                  <a:lnTo>
                    <a:pt x="11200" y="2667"/>
                  </a:lnTo>
                  <a:lnTo>
                    <a:pt x="11200" y="3733"/>
                  </a:lnTo>
                  <a:lnTo>
                    <a:pt x="10134" y="3733"/>
                  </a:lnTo>
                  <a:lnTo>
                    <a:pt x="10134" y="4267"/>
                  </a:lnTo>
                  <a:lnTo>
                    <a:pt x="11200" y="4267"/>
                  </a:lnTo>
                  <a:lnTo>
                    <a:pt x="11200" y="5333"/>
                  </a:lnTo>
                  <a:lnTo>
                    <a:pt x="10134" y="5333"/>
                  </a:lnTo>
                  <a:lnTo>
                    <a:pt x="10134" y="5867"/>
                  </a:lnTo>
                  <a:lnTo>
                    <a:pt x="11200" y="5867"/>
                  </a:lnTo>
                  <a:lnTo>
                    <a:pt x="11200" y="6933"/>
                  </a:lnTo>
                  <a:lnTo>
                    <a:pt x="10134" y="6933"/>
                  </a:lnTo>
                  <a:lnTo>
                    <a:pt x="10134" y="7467"/>
                  </a:lnTo>
                  <a:lnTo>
                    <a:pt x="11200" y="7467"/>
                  </a:lnTo>
                  <a:lnTo>
                    <a:pt x="11200" y="8533"/>
                  </a:lnTo>
                  <a:lnTo>
                    <a:pt x="10134" y="8533"/>
                  </a:lnTo>
                  <a:lnTo>
                    <a:pt x="10134" y="9067"/>
                  </a:lnTo>
                  <a:lnTo>
                    <a:pt x="11467" y="9067"/>
                  </a:lnTo>
                  <a:cubicBezTo>
                    <a:pt x="11627" y="9067"/>
                    <a:pt x="11734" y="8960"/>
                    <a:pt x="11734" y="8800"/>
                  </a:cubicBezTo>
                  <a:lnTo>
                    <a:pt x="11734" y="2400"/>
                  </a:lnTo>
                  <a:cubicBezTo>
                    <a:pt x="11734" y="2240"/>
                    <a:pt x="11627" y="2133"/>
                    <a:pt x="11467" y="21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71" name="文本框 70"/>
            <p:cNvSpPr txBox="1"/>
            <p:nvPr>
              <p:custDataLst>
                <p:tags r:id="rId7"/>
              </p:custDataLst>
            </p:nvPr>
          </p:nvSpPr>
          <p:spPr>
            <a:xfrm>
              <a:off x="5702515" y="11648203"/>
              <a:ext cx="1067599" cy="75656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p>
              <a:pPr marL="0" marR="0" indent="0" algn="ctr" defTabSz="82105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800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latin typeface="微软雅黑" panose="020B0604030504040204" pitchFamily="34" charset="-122"/>
                  <a:ea typeface="微软雅黑" panose="020B0604030504040204" pitchFamily="34" charset="-122"/>
                  <a:cs typeface="+mn-cs"/>
                  <a:sym typeface="微软雅黑" panose="020B0604030504040204" pitchFamily="34" charset="-122"/>
                </a:rPr>
                <a:t>虚拟机</a:t>
              </a:r>
              <a:endParaRPr kumimoji="0" lang="zh-CN" altLang="en-US" sz="800" b="1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n-cs"/>
                <a:sym typeface="微软雅黑" panose="020B0604030504040204" pitchFamily="34" charset="-122"/>
              </a:endParaRPr>
            </a:p>
            <a:p>
              <a:pPr marL="0" marR="0" indent="0" algn="ctr" defTabSz="82105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800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latin typeface="微软雅黑" panose="020B0604030504040204" pitchFamily="34" charset="-122"/>
                  <a:ea typeface="微软雅黑" panose="020B0604030504040204" pitchFamily="34" charset="-122"/>
                  <a:cs typeface="+mn-cs"/>
                  <a:sym typeface="微软雅黑" panose="020B0604030504040204" pitchFamily="34" charset="-122"/>
                </a:rPr>
                <a:t>Agent</a:t>
              </a:r>
              <a:endParaRPr kumimoji="0" lang="en-US" altLang="zh-CN" sz="800" b="1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n-cs"/>
                <a:sym typeface="微软雅黑" panose="020B0604030504040204" pitchFamily="34" charset="-122"/>
              </a:endParaRPr>
            </a:p>
          </p:txBody>
        </p:sp>
      </p:grp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418404" y="4877973"/>
            <a:ext cx="1312921" cy="3879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p>
            <a:pPr marL="0" marR="0" indent="0" algn="ctr" defTabSz="8210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 dirty="0">
                <a:ln>
                  <a:noFill/>
                </a:ln>
                <a:solidFill>
                  <a:srgbClr val="E30076"/>
                </a:solidFill>
                <a:effectLst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n-cs"/>
                <a:sym typeface="微软雅黑" panose="020B0604030504040204" pitchFamily="34" charset="-122"/>
              </a:rPr>
              <a:t>开发环境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E30076"/>
              </a:solidFill>
              <a:effectLst/>
              <a:uFillTx/>
              <a:latin typeface="微软雅黑" panose="020B0604030504040204" pitchFamily="34" charset="-122"/>
              <a:ea typeface="微软雅黑" panose="020B0604030504040204" pitchFamily="34" charset="-122"/>
              <a:cs typeface="+mn-cs"/>
              <a:sym typeface="微软雅黑" panose="020B0604030504040204" pitchFamily="34" charset="-122"/>
            </a:endParaRPr>
          </a:p>
        </p:txBody>
      </p:sp>
      <p:sp>
        <p:nvSpPr>
          <p:cNvPr id="73" name="矩形 72"/>
          <p:cNvSpPr/>
          <p:nvPr>
            <p:custDataLst>
              <p:tags r:id="rId9"/>
            </p:custDataLst>
          </p:nvPr>
        </p:nvSpPr>
        <p:spPr>
          <a:xfrm>
            <a:off x="2014855" y="4862195"/>
            <a:ext cx="1676400" cy="1473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0" tIns="71437" rIns="360000" bIns="71437" numCol="1" spcCol="38100" rtlCol="0" anchor="ctr">
            <a:noAutofit/>
          </a:bodyPr>
          <a:p>
            <a:pPr algn="r"/>
            <a:endParaRPr lang="en-US" altLang="zh-CN" sz="2800" dirty="0">
              <a:solidFill>
                <a:schemeClr val="tx2">
                  <a:lumMod val="50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2196404" y="4877973"/>
            <a:ext cx="1312921" cy="3879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p>
            <a:pPr marL="0" marR="0" indent="0" algn="ctr" defTabSz="8210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 dirty="0">
                <a:ln>
                  <a:noFill/>
                </a:ln>
                <a:solidFill>
                  <a:srgbClr val="E30076"/>
                </a:solidFill>
                <a:effectLst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n-cs"/>
                <a:sym typeface="微软雅黑" panose="020B0604030504040204" pitchFamily="34" charset="-122"/>
              </a:rPr>
              <a:t>测试环境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E30076"/>
              </a:solidFill>
              <a:effectLst/>
              <a:uFillTx/>
              <a:latin typeface="微软雅黑" panose="020B0604030504040204" pitchFamily="34" charset="-122"/>
              <a:ea typeface="微软雅黑" panose="020B0604030504040204" pitchFamily="34" charset="-122"/>
              <a:cs typeface="+mn-cs"/>
              <a:sym typeface="微软雅黑" panose="020B0604030504040204" pitchFamily="34" charset="-122"/>
            </a:endParaRPr>
          </a:p>
        </p:txBody>
      </p:sp>
      <p:sp>
        <p:nvSpPr>
          <p:cNvPr id="13" name="矩形 12"/>
          <p:cNvSpPr/>
          <p:nvPr>
            <p:custDataLst>
              <p:tags r:id="rId11"/>
            </p:custDataLst>
          </p:nvPr>
        </p:nvSpPr>
        <p:spPr>
          <a:xfrm>
            <a:off x="3792855" y="4862195"/>
            <a:ext cx="1676400" cy="1473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0" tIns="71437" rIns="360000" bIns="71437" numCol="1" spcCol="38100" rtlCol="0" anchor="ctr">
            <a:noAutofit/>
          </a:bodyPr>
          <a:p>
            <a:pPr algn="r"/>
            <a:endParaRPr lang="en-US" altLang="zh-CN" sz="2800" dirty="0">
              <a:solidFill>
                <a:schemeClr val="tx2">
                  <a:lumMod val="50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3974404" y="4877973"/>
            <a:ext cx="1312921" cy="3879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p>
            <a:pPr marL="0" marR="0" indent="0" algn="ctr" defTabSz="8210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 dirty="0">
                <a:ln>
                  <a:noFill/>
                </a:ln>
                <a:solidFill>
                  <a:srgbClr val="E30076"/>
                </a:solidFill>
                <a:effectLst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n-cs"/>
                <a:sym typeface="微软雅黑" panose="020B0604030504040204" pitchFamily="34" charset="-122"/>
              </a:rPr>
              <a:t>预发布环境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E30076"/>
              </a:solidFill>
              <a:effectLst/>
              <a:uFillTx/>
              <a:latin typeface="微软雅黑" panose="020B0604030504040204" pitchFamily="34" charset="-122"/>
              <a:ea typeface="微软雅黑" panose="020B0604030504040204" pitchFamily="34" charset="-122"/>
              <a:cs typeface="+mn-cs"/>
              <a:sym typeface="微软雅黑" panose="020B0604030504040204" pitchFamily="34" charset="-122"/>
            </a:endParaRPr>
          </a:p>
        </p:txBody>
      </p:sp>
      <p:sp>
        <p:nvSpPr>
          <p:cNvPr id="16" name="矩形 15"/>
          <p:cNvSpPr/>
          <p:nvPr>
            <p:custDataLst>
              <p:tags r:id="rId13"/>
            </p:custDataLst>
          </p:nvPr>
        </p:nvSpPr>
        <p:spPr>
          <a:xfrm>
            <a:off x="5570220" y="4862195"/>
            <a:ext cx="1676400" cy="14732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60000" tIns="71437" rIns="360000" bIns="71437" numCol="1" spcCol="38100" rtlCol="0" anchor="ctr">
            <a:noAutofit/>
          </a:bodyPr>
          <a:p>
            <a:pPr algn="r"/>
            <a:endParaRPr lang="en-US" altLang="zh-CN" sz="2800" dirty="0">
              <a:solidFill>
                <a:schemeClr val="tx2">
                  <a:lumMod val="50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5751769" y="4877973"/>
            <a:ext cx="1312921" cy="3879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p>
            <a:pPr marL="0" marR="0" indent="0" algn="ctr" defTabSz="8210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cap="none" spc="0" normalizeH="0" baseline="0" dirty="0">
                <a:ln>
                  <a:noFill/>
                </a:ln>
                <a:solidFill>
                  <a:srgbClr val="E30076"/>
                </a:solidFill>
                <a:effectLst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n-cs"/>
                <a:sym typeface="微软雅黑" panose="020B0604030504040204" pitchFamily="34" charset="-122"/>
              </a:rPr>
              <a:t>生产环境</a:t>
            </a:r>
            <a:endParaRPr kumimoji="0" lang="zh-CN" altLang="en-US" sz="1600" b="1" i="0" u="none" strike="noStrike" cap="none" spc="0" normalizeH="0" baseline="0" dirty="0">
              <a:ln>
                <a:noFill/>
              </a:ln>
              <a:solidFill>
                <a:srgbClr val="E30076"/>
              </a:solidFill>
              <a:effectLst/>
              <a:uFillTx/>
              <a:latin typeface="微软雅黑" panose="020B0604030504040204" pitchFamily="34" charset="-122"/>
              <a:ea typeface="微软雅黑" panose="020B0604030504040204" pitchFamily="34" charset="-122"/>
              <a:cs typeface="+mn-cs"/>
              <a:sym typeface="微软雅黑" panose="020B0604030504040204" pitchFamily="34" charset="-122"/>
            </a:endParaRPr>
          </a:p>
        </p:txBody>
      </p:sp>
      <p:cxnSp>
        <p:nvCxnSpPr>
          <p:cNvPr id="18" name="直接箭头连接符 17"/>
          <p:cNvCxnSpPr>
            <a:endCxn id="11" idx="0"/>
          </p:cNvCxnSpPr>
          <p:nvPr>
            <p:custDataLst>
              <p:tags r:id="rId15"/>
            </p:custDataLst>
          </p:nvPr>
        </p:nvCxnSpPr>
        <p:spPr>
          <a:xfrm flipH="1">
            <a:off x="1075055" y="3820160"/>
            <a:ext cx="635" cy="1057910"/>
          </a:xfrm>
          <a:prstGeom prst="straightConnector1">
            <a:avLst/>
          </a:prstGeom>
          <a:ln w="22225">
            <a:solidFill>
              <a:srgbClr val="0084CF">
                <a:alpha val="91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endCxn id="12" idx="0"/>
          </p:cNvCxnSpPr>
          <p:nvPr>
            <p:custDataLst>
              <p:tags r:id="rId16"/>
            </p:custDataLst>
          </p:nvPr>
        </p:nvCxnSpPr>
        <p:spPr>
          <a:xfrm>
            <a:off x="2853055" y="4004945"/>
            <a:ext cx="0" cy="873125"/>
          </a:xfrm>
          <a:prstGeom prst="straightConnector1">
            <a:avLst/>
          </a:prstGeom>
          <a:ln w="22225">
            <a:solidFill>
              <a:srgbClr val="0084CF">
                <a:alpha val="91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endCxn id="15" idx="0"/>
          </p:cNvCxnSpPr>
          <p:nvPr>
            <p:custDataLst>
              <p:tags r:id="rId17"/>
            </p:custDataLst>
          </p:nvPr>
        </p:nvCxnSpPr>
        <p:spPr>
          <a:xfrm>
            <a:off x="4631055" y="3982085"/>
            <a:ext cx="0" cy="895985"/>
          </a:xfrm>
          <a:prstGeom prst="straightConnector1">
            <a:avLst/>
          </a:prstGeom>
          <a:ln w="22225">
            <a:solidFill>
              <a:srgbClr val="0084CF">
                <a:alpha val="91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22" idx="3"/>
            <a:endCxn id="17" idx="0"/>
          </p:cNvCxnSpPr>
          <p:nvPr>
            <p:custDataLst>
              <p:tags r:id="rId18"/>
            </p:custDataLst>
          </p:nvPr>
        </p:nvCxnSpPr>
        <p:spPr>
          <a:xfrm>
            <a:off x="6407785" y="3824909"/>
            <a:ext cx="635" cy="1053465"/>
          </a:xfrm>
          <a:prstGeom prst="straightConnector1">
            <a:avLst/>
          </a:prstGeom>
          <a:ln w="22225">
            <a:solidFill>
              <a:srgbClr val="0084CF">
                <a:alpha val="91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>
            <p:custDataLst>
              <p:tags r:id="rId19"/>
            </p:custDataLst>
          </p:nvPr>
        </p:nvCxnSpPr>
        <p:spPr>
          <a:xfrm>
            <a:off x="1677670" y="1363345"/>
            <a:ext cx="1360805" cy="8255"/>
          </a:xfrm>
          <a:prstGeom prst="straightConnector1">
            <a:avLst/>
          </a:prstGeom>
          <a:ln w="22225">
            <a:solidFill>
              <a:srgbClr val="0084CF">
                <a:alpha val="91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>
            <p:custDataLst>
              <p:tags r:id="rId20"/>
            </p:custDataLst>
          </p:nvPr>
        </p:nvCxnSpPr>
        <p:spPr>
          <a:xfrm>
            <a:off x="3624580" y="1619885"/>
            <a:ext cx="0" cy="1246505"/>
          </a:xfrm>
          <a:prstGeom prst="straightConnector1">
            <a:avLst/>
          </a:prstGeom>
          <a:ln w="22225">
            <a:solidFill>
              <a:srgbClr val="0084CF">
                <a:alpha val="91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>
            <p:custDataLst>
              <p:tags r:id="rId21"/>
            </p:custDataLst>
          </p:nvPr>
        </p:nvCxnSpPr>
        <p:spPr>
          <a:xfrm>
            <a:off x="1651000" y="3114675"/>
            <a:ext cx="1387475" cy="0"/>
          </a:xfrm>
          <a:prstGeom prst="straightConnector1">
            <a:avLst/>
          </a:prstGeom>
          <a:ln w="22225">
            <a:solidFill>
              <a:srgbClr val="0084CF">
                <a:alpha val="91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>
            <p:custDataLst>
              <p:tags r:id="rId22"/>
            </p:custDataLst>
          </p:nvPr>
        </p:nvSpPr>
        <p:spPr>
          <a:xfrm>
            <a:off x="1877695" y="1177925"/>
            <a:ext cx="934085" cy="387985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p>
            <a:pPr marL="0" marR="0" indent="0" algn="l" defTabSz="821055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1.</a:t>
            </a: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</a:rPr>
              <a:t>代码构建，上传制品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cs typeface="微软雅黑" panose="020B0604030504040204" pitchFamily="34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23"/>
            </p:custDataLst>
          </p:nvPr>
        </p:nvSpPr>
        <p:spPr>
          <a:xfrm>
            <a:off x="1820545" y="2920365"/>
            <a:ext cx="934085" cy="387985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fromWordArt="0" anchor="ctr" anchorCtr="0" forceAA="0" compatLnSpc="1">
            <a:spAutoFit/>
          </a:bodyPr>
          <a:p>
            <a:pPr lvl="0" algn="l" defTabSz="821055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2.获取应用环境信息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cs typeface="微软雅黑" panose="020B0604030504040204" pitchFamily="34" charset="-122"/>
              <a:sym typeface="+mn-ea"/>
            </a:endParaRPr>
          </a:p>
        </p:txBody>
      </p:sp>
      <p:sp>
        <p:nvSpPr>
          <p:cNvPr id="33" name="文本框 32"/>
          <p:cNvSpPr txBox="1"/>
          <p:nvPr>
            <p:custDataLst>
              <p:tags r:id="rId24"/>
            </p:custDataLst>
          </p:nvPr>
        </p:nvSpPr>
        <p:spPr>
          <a:xfrm>
            <a:off x="506095" y="4279265"/>
            <a:ext cx="934085" cy="387985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fromWordArt="0" anchor="ctr" anchorCtr="0" forceAA="0" compatLnSpc="1">
            <a:spAutoFit/>
          </a:bodyPr>
          <a:p>
            <a:pPr lvl="0" algn="l" defTabSz="821055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4.部署到开发环境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cs typeface="微软雅黑" panose="020B0604030504040204" pitchFamily="34" charset="-122"/>
              <a:sym typeface="+mn-ea"/>
            </a:endParaRPr>
          </a:p>
        </p:txBody>
      </p:sp>
      <p:sp>
        <p:nvSpPr>
          <p:cNvPr id="34" name="文本框 33"/>
          <p:cNvSpPr txBox="1"/>
          <p:nvPr>
            <p:custDataLst>
              <p:tags r:id="rId25"/>
            </p:custDataLst>
          </p:nvPr>
        </p:nvSpPr>
        <p:spPr>
          <a:xfrm>
            <a:off x="4625974" y="1959669"/>
            <a:ext cx="774065" cy="511175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fromWordArt="0" anchor="ctr" anchorCtr="0" forceAA="0" compatLnSpc="1">
            <a:spAutoFit/>
          </a:bodyPr>
          <a:p>
            <a:pPr lvl="0" algn="l" defTabSz="821055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5.部署验证后，进行制品晋级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cs typeface="微软雅黑" panose="020B0604030504040204" pitchFamily="34" charset="-122"/>
              <a:sym typeface="+mn-ea"/>
            </a:endParaRPr>
          </a:p>
        </p:txBody>
      </p:sp>
      <p:sp>
        <p:nvSpPr>
          <p:cNvPr id="35" name="文本框 34"/>
          <p:cNvSpPr txBox="1"/>
          <p:nvPr>
            <p:custDataLst>
              <p:tags r:id="rId26"/>
            </p:custDataLst>
          </p:nvPr>
        </p:nvSpPr>
        <p:spPr>
          <a:xfrm>
            <a:off x="2364105" y="4279265"/>
            <a:ext cx="934085" cy="387985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fromWordArt="0" anchor="ctr" anchorCtr="0" forceAA="0" compatLnSpc="1">
            <a:spAutoFit/>
          </a:bodyPr>
          <a:p>
            <a:pPr lvl="0" algn="l" defTabSz="821055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6.部署到开发环境，制品晋级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cs typeface="微软雅黑" panose="020B0604030504040204" pitchFamily="34" charset="-122"/>
              <a:sym typeface="+mn-ea"/>
            </a:endParaRPr>
          </a:p>
        </p:txBody>
      </p:sp>
      <p:sp>
        <p:nvSpPr>
          <p:cNvPr id="36" name="文本框 35"/>
          <p:cNvSpPr txBox="1"/>
          <p:nvPr>
            <p:custDataLst>
              <p:tags r:id="rId27"/>
            </p:custDataLst>
          </p:nvPr>
        </p:nvSpPr>
        <p:spPr>
          <a:xfrm>
            <a:off x="4010025" y="4279265"/>
            <a:ext cx="934085" cy="387985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fromWordArt="0" anchor="ctr" anchorCtr="0" forceAA="0" compatLnSpc="1">
            <a:spAutoFit/>
          </a:bodyPr>
          <a:p>
            <a:pPr lvl="0" algn="l" defTabSz="821055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7.部署到预发布环境，制品晋级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cs typeface="微软雅黑" panose="020B0604030504040204" pitchFamily="34" charset="-122"/>
              <a:sym typeface="+mn-ea"/>
            </a:endParaRPr>
          </a:p>
        </p:txBody>
      </p:sp>
      <p:sp>
        <p:nvSpPr>
          <p:cNvPr id="37" name="文本框 36"/>
          <p:cNvSpPr txBox="1"/>
          <p:nvPr>
            <p:custDataLst>
              <p:tags r:id="rId28"/>
            </p:custDataLst>
          </p:nvPr>
        </p:nvSpPr>
        <p:spPr>
          <a:xfrm>
            <a:off x="5909945" y="4279265"/>
            <a:ext cx="934085" cy="387985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fromWordArt="0" anchor="ctr" anchorCtr="0" forceAA="0" compatLnSpc="1">
            <a:spAutoFit/>
          </a:bodyPr>
          <a:p>
            <a:pPr lvl="0" algn="l" defTabSz="821055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8.部署到生产环境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cs typeface="微软雅黑" panose="020B060403050404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>
            <p:custDataLst>
              <p:tags r:id="rId29"/>
            </p:custDataLst>
          </p:nvPr>
        </p:nvSpPr>
        <p:spPr>
          <a:xfrm>
            <a:off x="3107690" y="1987550"/>
            <a:ext cx="934085" cy="511175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fromWordArt="0" anchor="ctr" anchorCtr="0" forceAA="0" compatLnSpc="1">
            <a:spAutoFit/>
          </a:bodyPr>
          <a:p>
            <a:pPr lvl="0" algn="l" defTabSz="821055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3.获取应用制品信息，制定部署策略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cs typeface="微软雅黑" panose="020B0604030504040204" pitchFamily="34" charset="-122"/>
              <a:sym typeface="+mn-ea"/>
            </a:endParaRPr>
          </a:p>
        </p:txBody>
      </p:sp>
      <p:sp>
        <p:nvSpPr>
          <p:cNvPr id="39" name="流程图: 可选过程 38"/>
          <p:cNvSpPr/>
          <p:nvPr>
            <p:custDataLst>
              <p:tags r:id="rId30"/>
            </p:custDataLst>
          </p:nvPr>
        </p:nvSpPr>
        <p:spPr>
          <a:xfrm>
            <a:off x="5672455" y="2866390"/>
            <a:ext cx="1171575" cy="496570"/>
          </a:xfrm>
          <a:prstGeom prst="flowChartAlternateProcess">
            <a:avLst/>
          </a:prstGeom>
          <a:solidFill>
            <a:srgbClr val="E30076"/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dirty="0">
                <a:latin typeface="微软雅黑" panose="020B0604030504040204" pitchFamily="34" charset="-122"/>
                <a:ea typeface="微软雅黑" panose="020B0604030504040204" pitchFamily="34" charset="-122"/>
              </a:rPr>
              <a:t>ITSM</a:t>
            </a:r>
            <a:endParaRPr lang="en-US" altLang="zh-CN" sz="1600" dirty="0">
              <a:latin typeface="微软雅黑" panose="020B0604030504040204" pitchFamily="34" charset="-122"/>
              <a:ea typeface="微软雅黑" panose="020B0604030504040204" pitchFamily="34" charset="-122"/>
            </a:endParaRPr>
          </a:p>
        </p:txBody>
      </p:sp>
      <p:cxnSp>
        <p:nvCxnSpPr>
          <p:cNvPr id="40" name="直接箭头连接符 39"/>
          <p:cNvCxnSpPr/>
          <p:nvPr>
            <p:custDataLst>
              <p:tags r:id="rId31"/>
            </p:custDataLst>
          </p:nvPr>
        </p:nvCxnSpPr>
        <p:spPr>
          <a:xfrm flipH="1">
            <a:off x="4210050" y="3114675"/>
            <a:ext cx="1462405" cy="0"/>
          </a:xfrm>
          <a:prstGeom prst="straightConnector1">
            <a:avLst/>
          </a:prstGeom>
          <a:ln w="22225">
            <a:solidFill>
              <a:srgbClr val="0084C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>
            <p:custDataLst>
              <p:tags r:id="rId32"/>
            </p:custDataLst>
          </p:nvPr>
        </p:nvSpPr>
        <p:spPr>
          <a:xfrm>
            <a:off x="4545965" y="2921000"/>
            <a:ext cx="934085" cy="387985"/>
          </a:xfrm>
          <a:prstGeom prst="rect">
            <a:avLst/>
          </a:prstGeom>
          <a:solidFill>
            <a:schemeClr val="bg2"/>
          </a:solidFill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fromWordArt="0" anchor="ctr" anchorCtr="0" forceAA="0" compatLnSpc="1">
            <a:spAutoFit/>
          </a:bodyPr>
          <a:p>
            <a:pPr lvl="0" algn="l" defTabSz="821055" hangingPunct="0">
              <a:spcBef>
                <a:spcPts val="0"/>
              </a:spcBef>
              <a:spcAft>
                <a:spcPts val="0"/>
              </a:spcAft>
              <a:buClrTx/>
              <a:buSzTx/>
              <a:buFontTx/>
            </a:pP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通过部署工单自动发布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cs typeface="微软雅黑" panose="020B0604030504040204" pitchFamily="34" charset="-122"/>
              <a:sym typeface="+mn-ea"/>
            </a:endParaRPr>
          </a:p>
        </p:txBody>
      </p:sp>
      <p:sp>
        <p:nvSpPr>
          <p:cNvPr id="42" name="Rectangle 8"/>
          <p:cNvSpPr/>
          <p:nvPr>
            <p:custDataLst>
              <p:tags r:id="rId33"/>
            </p:custDataLst>
          </p:nvPr>
        </p:nvSpPr>
        <p:spPr>
          <a:xfrm>
            <a:off x="7374219" y="1177925"/>
            <a:ext cx="4602480" cy="2308224"/>
          </a:xfrm>
          <a:prstGeom prst="rect">
            <a:avLst/>
          </a:prstGeom>
          <a:solidFill>
            <a:schemeClr val="bg1">
              <a:lumMod val="95000"/>
              <a:alpha val="42000"/>
            </a:schemeClr>
          </a:solidFill>
          <a:ln>
            <a:solidFill>
              <a:srgbClr val="E30076"/>
            </a:solidFill>
          </a:ln>
        </p:spPr>
        <p:txBody>
          <a:bodyPr wrap="square" anchor="t" anchorCtr="0">
            <a:noAutofit/>
          </a:bodyPr>
          <a:p>
            <a:pPr algn="ctr">
              <a:lnSpc>
                <a:spcPct val="150000"/>
              </a:lnSpc>
              <a:buClr>
                <a:srgbClr val="FF0000"/>
              </a:buClr>
            </a:pPr>
            <a:endParaRPr lang="en-US" altLang="zh-CN" sz="1400" dirty="0">
              <a:latin typeface="微软雅黑" panose="020B0604030504040204" pitchFamily="34" charset="-122"/>
              <a:ea typeface="微软雅黑" panose="020B0604030504040204" pitchFamily="34" charset="-122"/>
            </a:endParaRPr>
          </a:p>
        </p:txBody>
      </p:sp>
      <p:sp>
        <p:nvSpPr>
          <p:cNvPr id="100" name="文本框 99"/>
          <p:cNvSpPr txBox="1"/>
          <p:nvPr>
            <p:custDataLst>
              <p:tags r:id="rId34"/>
            </p:custDataLst>
          </p:nvPr>
        </p:nvSpPr>
        <p:spPr>
          <a:xfrm>
            <a:off x="7421245" y="1219835"/>
            <a:ext cx="4469765" cy="2209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indent="0" fontAlgn="auto"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、与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ITSM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CMDB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对接，实现了各业务资源信息同步与纳管，保障业务主机环境的资源覆盖率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cs typeface="微软雅黑" panose="020B0604030504040204" pitchFamily="34" charset="-122"/>
              <a:sym typeface="+mn-ea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2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、对接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ITSM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，流程驱动发布，提升应用发布的安全性与规范性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cs typeface="微软雅黑" panose="020B0604030504040204" pitchFamily="34" charset="-122"/>
              <a:sym typeface="+mn-ea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、完整制品管理、启停脚本管理、自定义流水线管理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cs typeface="微软雅黑" panose="020B0604030504040204" pitchFamily="34" charset="-122"/>
              <a:sym typeface="+mn-ea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、支持传统主机部署和容器部署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cs typeface="微软雅黑" panose="020B0604030504040204" pitchFamily="34" charset="-122"/>
              <a:sym typeface="+mn-ea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、支持不同环境间配置参数动态管理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cs typeface="微软雅黑" panose="020B0604030504040204" pitchFamily="34" charset="-122"/>
              <a:sym typeface="+mn-ea"/>
            </a:endParaRPr>
          </a:p>
          <a:p>
            <a:pPr lvl="0" indent="0" fontAlgn="auto">
              <a:lnSpc>
                <a:spcPct val="12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5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、支持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sql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604030504040204" pitchFamily="34" charset="-122"/>
                <a:ea typeface="微软雅黑" panose="020B0604030504040204" pitchFamily="34" charset="-122"/>
                <a:cs typeface="微软雅黑" panose="020B0604030504040204" pitchFamily="34" charset="-122"/>
                <a:sym typeface="+mn-ea"/>
              </a:rPr>
              <a:t>文件发布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604030504040204" pitchFamily="34" charset="-122"/>
              <a:ea typeface="微软雅黑" panose="020B0604030504040204" pitchFamily="34" charset="-122"/>
              <a:cs typeface="微软雅黑" panose="020B0604030504040204" pitchFamily="34" charset="-122"/>
              <a:sym typeface="+mn-ea"/>
            </a:endParaRPr>
          </a:p>
        </p:txBody>
      </p:sp>
      <p:grpSp>
        <p:nvGrpSpPr>
          <p:cNvPr id="101" name="组合 100"/>
          <p:cNvGrpSpPr/>
          <p:nvPr/>
        </p:nvGrpSpPr>
        <p:grpSpPr>
          <a:xfrm>
            <a:off x="1180465" y="5442585"/>
            <a:ext cx="470535" cy="757630"/>
            <a:chOff x="5702515" y="10927403"/>
            <a:chExt cx="1067599" cy="1477361"/>
          </a:xfrm>
        </p:grpSpPr>
        <p:sp>
          <p:nvSpPr>
            <p:cNvPr id="102" name="iconfont-11206-4016491"/>
            <p:cNvSpPr>
              <a:spLocks noChangeAspect="1"/>
            </p:cNvSpPr>
            <p:nvPr>
              <p:custDataLst>
                <p:tags r:id="rId35"/>
              </p:custDataLst>
            </p:nvPr>
          </p:nvSpPr>
          <p:spPr>
            <a:xfrm>
              <a:off x="5859174" y="10927403"/>
              <a:ext cx="754279" cy="720000"/>
            </a:xfrm>
            <a:custGeom>
              <a:avLst/>
              <a:gdLst>
                <a:gd name="T0" fmla="*/ 3200 w 11734"/>
                <a:gd name="T1" fmla="*/ 2133 h 11200"/>
                <a:gd name="T2" fmla="*/ 4800 w 11734"/>
                <a:gd name="T3" fmla="*/ 1067 h 11200"/>
                <a:gd name="T4" fmla="*/ 4800 w 11734"/>
                <a:gd name="T5" fmla="*/ 2133 h 11200"/>
                <a:gd name="T6" fmla="*/ 6134 w 11734"/>
                <a:gd name="T7" fmla="*/ 1333 h 11200"/>
                <a:gd name="T8" fmla="*/ 8534 w 11734"/>
                <a:gd name="T9" fmla="*/ 1333 h 11200"/>
                <a:gd name="T10" fmla="*/ 3200 w 11734"/>
                <a:gd name="T11" fmla="*/ 4800 h 11200"/>
                <a:gd name="T12" fmla="*/ 4800 w 11734"/>
                <a:gd name="T13" fmla="*/ 3733 h 11200"/>
                <a:gd name="T14" fmla="*/ 4800 w 11734"/>
                <a:gd name="T15" fmla="*/ 4800 h 11200"/>
                <a:gd name="T16" fmla="*/ 6134 w 11734"/>
                <a:gd name="T17" fmla="*/ 4000 h 11200"/>
                <a:gd name="T18" fmla="*/ 8534 w 11734"/>
                <a:gd name="T19" fmla="*/ 4000 h 11200"/>
                <a:gd name="T20" fmla="*/ 3200 w 11734"/>
                <a:gd name="T21" fmla="*/ 7467 h 11200"/>
                <a:gd name="T22" fmla="*/ 4800 w 11734"/>
                <a:gd name="T23" fmla="*/ 6400 h 11200"/>
                <a:gd name="T24" fmla="*/ 4800 w 11734"/>
                <a:gd name="T25" fmla="*/ 7467 h 11200"/>
                <a:gd name="T26" fmla="*/ 6134 w 11734"/>
                <a:gd name="T27" fmla="*/ 6667 h 11200"/>
                <a:gd name="T28" fmla="*/ 8534 w 11734"/>
                <a:gd name="T29" fmla="*/ 6667 h 11200"/>
                <a:gd name="T30" fmla="*/ 3200 w 11734"/>
                <a:gd name="T31" fmla="*/ 10133 h 11200"/>
                <a:gd name="T32" fmla="*/ 4800 w 11734"/>
                <a:gd name="T33" fmla="*/ 9067 h 11200"/>
                <a:gd name="T34" fmla="*/ 4800 w 11734"/>
                <a:gd name="T35" fmla="*/ 10133 h 11200"/>
                <a:gd name="T36" fmla="*/ 6134 w 11734"/>
                <a:gd name="T37" fmla="*/ 9333 h 11200"/>
                <a:gd name="T38" fmla="*/ 8534 w 11734"/>
                <a:gd name="T39" fmla="*/ 9333 h 11200"/>
                <a:gd name="T40" fmla="*/ 2134 w 11734"/>
                <a:gd name="T41" fmla="*/ 267 h 11200"/>
                <a:gd name="T42" fmla="*/ 9334 w 11734"/>
                <a:gd name="T43" fmla="*/ 11200 h 11200"/>
                <a:gd name="T44" fmla="*/ 9334 w 11734"/>
                <a:gd name="T45" fmla="*/ 0 h 11200"/>
                <a:gd name="T46" fmla="*/ 2667 w 11734"/>
                <a:gd name="T47" fmla="*/ 8533 h 11200"/>
                <a:gd name="T48" fmla="*/ 9067 w 11734"/>
                <a:gd name="T49" fmla="*/ 8000 h 11200"/>
                <a:gd name="T50" fmla="*/ 9067 w 11734"/>
                <a:gd name="T51" fmla="*/ 5867 h 11200"/>
                <a:gd name="T52" fmla="*/ 2667 w 11734"/>
                <a:gd name="T53" fmla="*/ 5333 h 11200"/>
                <a:gd name="T54" fmla="*/ 9067 w 11734"/>
                <a:gd name="T55" fmla="*/ 5333 h 11200"/>
                <a:gd name="T56" fmla="*/ 2667 w 11734"/>
                <a:gd name="T57" fmla="*/ 533 h 11200"/>
                <a:gd name="T58" fmla="*/ 0 w 11734"/>
                <a:gd name="T59" fmla="*/ 2400 h 11200"/>
                <a:gd name="T60" fmla="*/ 1600 w 11734"/>
                <a:gd name="T61" fmla="*/ 9067 h 11200"/>
                <a:gd name="T62" fmla="*/ 534 w 11734"/>
                <a:gd name="T63" fmla="*/ 7467 h 11200"/>
                <a:gd name="T64" fmla="*/ 534 w 11734"/>
                <a:gd name="T65" fmla="*/ 6933 h 11200"/>
                <a:gd name="T66" fmla="*/ 1600 w 11734"/>
                <a:gd name="T67" fmla="*/ 5333 h 11200"/>
                <a:gd name="T68" fmla="*/ 1600 w 11734"/>
                <a:gd name="T69" fmla="*/ 4267 h 11200"/>
                <a:gd name="T70" fmla="*/ 534 w 11734"/>
                <a:gd name="T71" fmla="*/ 2667 h 11200"/>
                <a:gd name="T72" fmla="*/ 267 w 11734"/>
                <a:gd name="T73" fmla="*/ 2133 h 11200"/>
                <a:gd name="T74" fmla="*/ 10134 w 11734"/>
                <a:gd name="T75" fmla="*/ 2133 h 11200"/>
                <a:gd name="T76" fmla="*/ 11200 w 11734"/>
                <a:gd name="T77" fmla="*/ 3733 h 11200"/>
                <a:gd name="T78" fmla="*/ 11200 w 11734"/>
                <a:gd name="T79" fmla="*/ 4267 h 11200"/>
                <a:gd name="T80" fmla="*/ 10134 w 11734"/>
                <a:gd name="T81" fmla="*/ 5867 h 11200"/>
                <a:gd name="T82" fmla="*/ 10134 w 11734"/>
                <a:gd name="T83" fmla="*/ 6933 h 11200"/>
                <a:gd name="T84" fmla="*/ 11200 w 11734"/>
                <a:gd name="T85" fmla="*/ 8533 h 11200"/>
                <a:gd name="T86" fmla="*/ 11467 w 11734"/>
                <a:gd name="T87" fmla="*/ 9067 h 11200"/>
                <a:gd name="T88" fmla="*/ 11467 w 11734"/>
                <a:gd name="T89" fmla="*/ 2133 h 1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34" h="11200">
                  <a:moveTo>
                    <a:pt x="3734" y="1067"/>
                  </a:moveTo>
                  <a:lnTo>
                    <a:pt x="3200" y="1067"/>
                  </a:lnTo>
                  <a:lnTo>
                    <a:pt x="3200" y="2133"/>
                  </a:lnTo>
                  <a:lnTo>
                    <a:pt x="3734" y="2133"/>
                  </a:lnTo>
                  <a:lnTo>
                    <a:pt x="3734" y="1067"/>
                  </a:lnTo>
                  <a:close/>
                  <a:moveTo>
                    <a:pt x="4800" y="1067"/>
                  </a:moveTo>
                  <a:lnTo>
                    <a:pt x="4267" y="1067"/>
                  </a:lnTo>
                  <a:lnTo>
                    <a:pt x="4267" y="2133"/>
                  </a:lnTo>
                  <a:lnTo>
                    <a:pt x="4800" y="2133"/>
                  </a:lnTo>
                  <a:lnTo>
                    <a:pt x="4800" y="1067"/>
                  </a:lnTo>
                  <a:close/>
                  <a:moveTo>
                    <a:pt x="8534" y="1333"/>
                  </a:moveTo>
                  <a:lnTo>
                    <a:pt x="6134" y="1333"/>
                  </a:lnTo>
                  <a:lnTo>
                    <a:pt x="6134" y="1867"/>
                  </a:lnTo>
                  <a:lnTo>
                    <a:pt x="8534" y="1867"/>
                  </a:lnTo>
                  <a:lnTo>
                    <a:pt x="8534" y="1333"/>
                  </a:lnTo>
                  <a:close/>
                  <a:moveTo>
                    <a:pt x="3734" y="3733"/>
                  </a:moveTo>
                  <a:lnTo>
                    <a:pt x="3200" y="3733"/>
                  </a:lnTo>
                  <a:lnTo>
                    <a:pt x="3200" y="4800"/>
                  </a:lnTo>
                  <a:lnTo>
                    <a:pt x="3734" y="4800"/>
                  </a:lnTo>
                  <a:lnTo>
                    <a:pt x="3734" y="3733"/>
                  </a:lnTo>
                  <a:close/>
                  <a:moveTo>
                    <a:pt x="4800" y="3733"/>
                  </a:moveTo>
                  <a:lnTo>
                    <a:pt x="4267" y="3733"/>
                  </a:lnTo>
                  <a:lnTo>
                    <a:pt x="4267" y="4800"/>
                  </a:lnTo>
                  <a:lnTo>
                    <a:pt x="4800" y="4800"/>
                  </a:lnTo>
                  <a:lnTo>
                    <a:pt x="4800" y="3733"/>
                  </a:lnTo>
                  <a:close/>
                  <a:moveTo>
                    <a:pt x="8534" y="4000"/>
                  </a:moveTo>
                  <a:lnTo>
                    <a:pt x="6134" y="4000"/>
                  </a:lnTo>
                  <a:lnTo>
                    <a:pt x="6134" y="4533"/>
                  </a:lnTo>
                  <a:lnTo>
                    <a:pt x="8534" y="4533"/>
                  </a:lnTo>
                  <a:lnTo>
                    <a:pt x="8534" y="4000"/>
                  </a:lnTo>
                  <a:close/>
                  <a:moveTo>
                    <a:pt x="3734" y="6400"/>
                  </a:moveTo>
                  <a:lnTo>
                    <a:pt x="3200" y="6400"/>
                  </a:lnTo>
                  <a:lnTo>
                    <a:pt x="3200" y="7467"/>
                  </a:lnTo>
                  <a:lnTo>
                    <a:pt x="3734" y="7467"/>
                  </a:lnTo>
                  <a:lnTo>
                    <a:pt x="3734" y="6400"/>
                  </a:lnTo>
                  <a:close/>
                  <a:moveTo>
                    <a:pt x="4800" y="6400"/>
                  </a:moveTo>
                  <a:lnTo>
                    <a:pt x="4267" y="6400"/>
                  </a:lnTo>
                  <a:lnTo>
                    <a:pt x="4267" y="7467"/>
                  </a:lnTo>
                  <a:lnTo>
                    <a:pt x="4800" y="7467"/>
                  </a:lnTo>
                  <a:lnTo>
                    <a:pt x="4800" y="6400"/>
                  </a:lnTo>
                  <a:close/>
                  <a:moveTo>
                    <a:pt x="8534" y="6667"/>
                  </a:moveTo>
                  <a:lnTo>
                    <a:pt x="6134" y="6667"/>
                  </a:lnTo>
                  <a:lnTo>
                    <a:pt x="6134" y="7200"/>
                  </a:lnTo>
                  <a:lnTo>
                    <a:pt x="8534" y="7200"/>
                  </a:lnTo>
                  <a:lnTo>
                    <a:pt x="8534" y="6667"/>
                  </a:lnTo>
                  <a:close/>
                  <a:moveTo>
                    <a:pt x="3734" y="9067"/>
                  </a:moveTo>
                  <a:lnTo>
                    <a:pt x="3200" y="9067"/>
                  </a:lnTo>
                  <a:lnTo>
                    <a:pt x="3200" y="10133"/>
                  </a:lnTo>
                  <a:lnTo>
                    <a:pt x="3734" y="10133"/>
                  </a:lnTo>
                  <a:lnTo>
                    <a:pt x="3734" y="9067"/>
                  </a:lnTo>
                  <a:close/>
                  <a:moveTo>
                    <a:pt x="4800" y="9067"/>
                  </a:moveTo>
                  <a:lnTo>
                    <a:pt x="4267" y="9067"/>
                  </a:lnTo>
                  <a:lnTo>
                    <a:pt x="4267" y="10133"/>
                  </a:lnTo>
                  <a:lnTo>
                    <a:pt x="4800" y="10133"/>
                  </a:lnTo>
                  <a:lnTo>
                    <a:pt x="4800" y="9067"/>
                  </a:lnTo>
                  <a:close/>
                  <a:moveTo>
                    <a:pt x="8534" y="9333"/>
                  </a:moveTo>
                  <a:lnTo>
                    <a:pt x="6134" y="9333"/>
                  </a:lnTo>
                  <a:lnTo>
                    <a:pt x="6134" y="9867"/>
                  </a:lnTo>
                  <a:lnTo>
                    <a:pt x="8534" y="9867"/>
                  </a:lnTo>
                  <a:lnTo>
                    <a:pt x="8534" y="9333"/>
                  </a:lnTo>
                  <a:close/>
                  <a:moveTo>
                    <a:pt x="9334" y="0"/>
                  </a:moveTo>
                  <a:lnTo>
                    <a:pt x="2400" y="0"/>
                  </a:lnTo>
                  <a:cubicBezTo>
                    <a:pt x="2240" y="0"/>
                    <a:pt x="2134" y="107"/>
                    <a:pt x="2134" y="267"/>
                  </a:cubicBezTo>
                  <a:lnTo>
                    <a:pt x="2134" y="10933"/>
                  </a:lnTo>
                  <a:cubicBezTo>
                    <a:pt x="2134" y="11093"/>
                    <a:pt x="2240" y="11200"/>
                    <a:pt x="2400" y="11200"/>
                  </a:cubicBezTo>
                  <a:lnTo>
                    <a:pt x="9334" y="11200"/>
                  </a:lnTo>
                  <a:cubicBezTo>
                    <a:pt x="9494" y="11200"/>
                    <a:pt x="9600" y="11093"/>
                    <a:pt x="9600" y="10933"/>
                  </a:cubicBezTo>
                  <a:lnTo>
                    <a:pt x="9600" y="267"/>
                  </a:lnTo>
                  <a:cubicBezTo>
                    <a:pt x="9600" y="107"/>
                    <a:pt x="9494" y="0"/>
                    <a:pt x="9334" y="0"/>
                  </a:cubicBezTo>
                  <a:close/>
                  <a:moveTo>
                    <a:pt x="9067" y="10667"/>
                  </a:moveTo>
                  <a:lnTo>
                    <a:pt x="2667" y="10667"/>
                  </a:lnTo>
                  <a:lnTo>
                    <a:pt x="2667" y="8533"/>
                  </a:lnTo>
                  <a:lnTo>
                    <a:pt x="9067" y="8533"/>
                  </a:lnTo>
                  <a:lnTo>
                    <a:pt x="9067" y="10667"/>
                  </a:lnTo>
                  <a:close/>
                  <a:moveTo>
                    <a:pt x="9067" y="8000"/>
                  </a:moveTo>
                  <a:lnTo>
                    <a:pt x="2667" y="8000"/>
                  </a:lnTo>
                  <a:lnTo>
                    <a:pt x="2667" y="5867"/>
                  </a:lnTo>
                  <a:lnTo>
                    <a:pt x="9067" y="5867"/>
                  </a:lnTo>
                  <a:lnTo>
                    <a:pt x="9067" y="8000"/>
                  </a:lnTo>
                  <a:close/>
                  <a:moveTo>
                    <a:pt x="9067" y="5333"/>
                  </a:moveTo>
                  <a:lnTo>
                    <a:pt x="2667" y="5333"/>
                  </a:lnTo>
                  <a:lnTo>
                    <a:pt x="2667" y="3200"/>
                  </a:lnTo>
                  <a:lnTo>
                    <a:pt x="9067" y="3200"/>
                  </a:lnTo>
                  <a:lnTo>
                    <a:pt x="9067" y="5333"/>
                  </a:lnTo>
                  <a:close/>
                  <a:moveTo>
                    <a:pt x="9067" y="2667"/>
                  </a:moveTo>
                  <a:lnTo>
                    <a:pt x="2667" y="2667"/>
                  </a:lnTo>
                  <a:lnTo>
                    <a:pt x="2667" y="533"/>
                  </a:lnTo>
                  <a:lnTo>
                    <a:pt x="9067" y="533"/>
                  </a:lnTo>
                  <a:lnTo>
                    <a:pt x="9067" y="2667"/>
                  </a:lnTo>
                  <a:close/>
                  <a:moveTo>
                    <a:pt x="0" y="2400"/>
                  </a:moveTo>
                  <a:lnTo>
                    <a:pt x="0" y="8800"/>
                  </a:lnTo>
                  <a:cubicBezTo>
                    <a:pt x="0" y="8960"/>
                    <a:pt x="107" y="9067"/>
                    <a:pt x="267" y="9067"/>
                  </a:cubicBezTo>
                  <a:lnTo>
                    <a:pt x="1600" y="9067"/>
                  </a:lnTo>
                  <a:lnTo>
                    <a:pt x="1600" y="8533"/>
                  </a:lnTo>
                  <a:lnTo>
                    <a:pt x="534" y="8533"/>
                  </a:lnTo>
                  <a:lnTo>
                    <a:pt x="534" y="7467"/>
                  </a:lnTo>
                  <a:lnTo>
                    <a:pt x="1600" y="7467"/>
                  </a:lnTo>
                  <a:lnTo>
                    <a:pt x="1600" y="6933"/>
                  </a:lnTo>
                  <a:lnTo>
                    <a:pt x="534" y="6933"/>
                  </a:lnTo>
                  <a:lnTo>
                    <a:pt x="534" y="5867"/>
                  </a:lnTo>
                  <a:lnTo>
                    <a:pt x="1600" y="5867"/>
                  </a:lnTo>
                  <a:lnTo>
                    <a:pt x="1600" y="5333"/>
                  </a:lnTo>
                  <a:lnTo>
                    <a:pt x="534" y="5333"/>
                  </a:lnTo>
                  <a:lnTo>
                    <a:pt x="534" y="4267"/>
                  </a:lnTo>
                  <a:lnTo>
                    <a:pt x="1600" y="4267"/>
                  </a:lnTo>
                  <a:lnTo>
                    <a:pt x="1600" y="3733"/>
                  </a:lnTo>
                  <a:lnTo>
                    <a:pt x="534" y="3733"/>
                  </a:lnTo>
                  <a:lnTo>
                    <a:pt x="534" y="2667"/>
                  </a:lnTo>
                  <a:lnTo>
                    <a:pt x="1600" y="2667"/>
                  </a:lnTo>
                  <a:lnTo>
                    <a:pt x="1600" y="2133"/>
                  </a:lnTo>
                  <a:lnTo>
                    <a:pt x="267" y="2133"/>
                  </a:lnTo>
                  <a:cubicBezTo>
                    <a:pt x="107" y="2133"/>
                    <a:pt x="0" y="2240"/>
                    <a:pt x="0" y="2400"/>
                  </a:cubicBezTo>
                  <a:close/>
                  <a:moveTo>
                    <a:pt x="11467" y="2133"/>
                  </a:moveTo>
                  <a:lnTo>
                    <a:pt x="10134" y="2133"/>
                  </a:lnTo>
                  <a:lnTo>
                    <a:pt x="10134" y="2667"/>
                  </a:lnTo>
                  <a:lnTo>
                    <a:pt x="11200" y="2667"/>
                  </a:lnTo>
                  <a:lnTo>
                    <a:pt x="11200" y="3733"/>
                  </a:lnTo>
                  <a:lnTo>
                    <a:pt x="10134" y="3733"/>
                  </a:lnTo>
                  <a:lnTo>
                    <a:pt x="10134" y="4267"/>
                  </a:lnTo>
                  <a:lnTo>
                    <a:pt x="11200" y="4267"/>
                  </a:lnTo>
                  <a:lnTo>
                    <a:pt x="11200" y="5333"/>
                  </a:lnTo>
                  <a:lnTo>
                    <a:pt x="10134" y="5333"/>
                  </a:lnTo>
                  <a:lnTo>
                    <a:pt x="10134" y="5867"/>
                  </a:lnTo>
                  <a:lnTo>
                    <a:pt x="11200" y="5867"/>
                  </a:lnTo>
                  <a:lnTo>
                    <a:pt x="11200" y="6933"/>
                  </a:lnTo>
                  <a:lnTo>
                    <a:pt x="10134" y="6933"/>
                  </a:lnTo>
                  <a:lnTo>
                    <a:pt x="10134" y="7467"/>
                  </a:lnTo>
                  <a:lnTo>
                    <a:pt x="11200" y="7467"/>
                  </a:lnTo>
                  <a:lnTo>
                    <a:pt x="11200" y="8533"/>
                  </a:lnTo>
                  <a:lnTo>
                    <a:pt x="10134" y="8533"/>
                  </a:lnTo>
                  <a:lnTo>
                    <a:pt x="10134" y="9067"/>
                  </a:lnTo>
                  <a:lnTo>
                    <a:pt x="11467" y="9067"/>
                  </a:lnTo>
                  <a:cubicBezTo>
                    <a:pt x="11627" y="9067"/>
                    <a:pt x="11734" y="8960"/>
                    <a:pt x="11734" y="8800"/>
                  </a:cubicBezTo>
                  <a:lnTo>
                    <a:pt x="11734" y="2400"/>
                  </a:lnTo>
                  <a:cubicBezTo>
                    <a:pt x="11734" y="2240"/>
                    <a:pt x="11627" y="2133"/>
                    <a:pt x="11467" y="21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03" name="文本框 102"/>
            <p:cNvSpPr txBox="1"/>
            <p:nvPr>
              <p:custDataLst>
                <p:tags r:id="rId36"/>
              </p:custDataLst>
            </p:nvPr>
          </p:nvSpPr>
          <p:spPr>
            <a:xfrm>
              <a:off x="5702515" y="11648203"/>
              <a:ext cx="1067599" cy="75656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p>
              <a:pPr marL="0" marR="0" indent="0" algn="ctr" defTabSz="82105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800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latin typeface="微软雅黑" panose="020B0604030504040204" pitchFamily="34" charset="-122"/>
                  <a:ea typeface="微软雅黑" panose="020B0604030504040204" pitchFamily="34" charset="-122"/>
                  <a:cs typeface="+mn-cs"/>
                  <a:sym typeface="微软雅黑" panose="020B0604030504040204" pitchFamily="34" charset="-122"/>
                </a:rPr>
                <a:t>虚拟机</a:t>
              </a:r>
              <a:endParaRPr kumimoji="0" lang="zh-CN" altLang="en-US" sz="800" b="1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n-cs"/>
                <a:sym typeface="微软雅黑" panose="020B0604030504040204" pitchFamily="34" charset="-122"/>
              </a:endParaRPr>
            </a:p>
            <a:p>
              <a:pPr marL="0" marR="0" indent="0" algn="ctr" defTabSz="82105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800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latin typeface="微软雅黑" panose="020B0604030504040204" pitchFamily="34" charset="-122"/>
                  <a:ea typeface="微软雅黑" panose="020B0604030504040204" pitchFamily="34" charset="-122"/>
                  <a:cs typeface="+mn-cs"/>
                  <a:sym typeface="微软雅黑" panose="020B0604030504040204" pitchFamily="34" charset="-122"/>
                </a:rPr>
                <a:t>Agent</a:t>
              </a:r>
              <a:endParaRPr kumimoji="0" lang="en-US" altLang="zh-CN" sz="800" b="1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n-cs"/>
                <a:sym typeface="微软雅黑" panose="020B0604030504040204" pitchFamily="34" charset="-122"/>
              </a:endParaRP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2294890" y="5442585"/>
            <a:ext cx="470535" cy="757630"/>
            <a:chOff x="5702515" y="10927403"/>
            <a:chExt cx="1067599" cy="1477361"/>
          </a:xfrm>
        </p:grpSpPr>
        <p:sp>
          <p:nvSpPr>
            <p:cNvPr id="105" name="iconfont-11206-4016491"/>
            <p:cNvSpPr>
              <a:spLocks noChangeAspect="1"/>
            </p:cNvSpPr>
            <p:nvPr>
              <p:custDataLst>
                <p:tags r:id="rId37"/>
              </p:custDataLst>
            </p:nvPr>
          </p:nvSpPr>
          <p:spPr>
            <a:xfrm>
              <a:off x="5859174" y="10927403"/>
              <a:ext cx="754279" cy="720000"/>
            </a:xfrm>
            <a:custGeom>
              <a:avLst/>
              <a:gdLst>
                <a:gd name="T0" fmla="*/ 3200 w 11734"/>
                <a:gd name="T1" fmla="*/ 2133 h 11200"/>
                <a:gd name="T2" fmla="*/ 4800 w 11734"/>
                <a:gd name="T3" fmla="*/ 1067 h 11200"/>
                <a:gd name="T4" fmla="*/ 4800 w 11734"/>
                <a:gd name="T5" fmla="*/ 2133 h 11200"/>
                <a:gd name="T6" fmla="*/ 6134 w 11734"/>
                <a:gd name="T7" fmla="*/ 1333 h 11200"/>
                <a:gd name="T8" fmla="*/ 8534 w 11734"/>
                <a:gd name="T9" fmla="*/ 1333 h 11200"/>
                <a:gd name="T10" fmla="*/ 3200 w 11734"/>
                <a:gd name="T11" fmla="*/ 4800 h 11200"/>
                <a:gd name="T12" fmla="*/ 4800 w 11734"/>
                <a:gd name="T13" fmla="*/ 3733 h 11200"/>
                <a:gd name="T14" fmla="*/ 4800 w 11734"/>
                <a:gd name="T15" fmla="*/ 4800 h 11200"/>
                <a:gd name="T16" fmla="*/ 6134 w 11734"/>
                <a:gd name="T17" fmla="*/ 4000 h 11200"/>
                <a:gd name="T18" fmla="*/ 8534 w 11734"/>
                <a:gd name="T19" fmla="*/ 4000 h 11200"/>
                <a:gd name="T20" fmla="*/ 3200 w 11734"/>
                <a:gd name="T21" fmla="*/ 7467 h 11200"/>
                <a:gd name="T22" fmla="*/ 4800 w 11734"/>
                <a:gd name="T23" fmla="*/ 6400 h 11200"/>
                <a:gd name="T24" fmla="*/ 4800 w 11734"/>
                <a:gd name="T25" fmla="*/ 7467 h 11200"/>
                <a:gd name="T26" fmla="*/ 6134 w 11734"/>
                <a:gd name="T27" fmla="*/ 6667 h 11200"/>
                <a:gd name="T28" fmla="*/ 8534 w 11734"/>
                <a:gd name="T29" fmla="*/ 6667 h 11200"/>
                <a:gd name="T30" fmla="*/ 3200 w 11734"/>
                <a:gd name="T31" fmla="*/ 10133 h 11200"/>
                <a:gd name="T32" fmla="*/ 4800 w 11734"/>
                <a:gd name="T33" fmla="*/ 9067 h 11200"/>
                <a:gd name="T34" fmla="*/ 4800 w 11734"/>
                <a:gd name="T35" fmla="*/ 10133 h 11200"/>
                <a:gd name="T36" fmla="*/ 6134 w 11734"/>
                <a:gd name="T37" fmla="*/ 9333 h 11200"/>
                <a:gd name="T38" fmla="*/ 8534 w 11734"/>
                <a:gd name="T39" fmla="*/ 9333 h 11200"/>
                <a:gd name="T40" fmla="*/ 2134 w 11734"/>
                <a:gd name="T41" fmla="*/ 267 h 11200"/>
                <a:gd name="T42" fmla="*/ 9334 w 11734"/>
                <a:gd name="T43" fmla="*/ 11200 h 11200"/>
                <a:gd name="T44" fmla="*/ 9334 w 11734"/>
                <a:gd name="T45" fmla="*/ 0 h 11200"/>
                <a:gd name="T46" fmla="*/ 2667 w 11734"/>
                <a:gd name="T47" fmla="*/ 8533 h 11200"/>
                <a:gd name="T48" fmla="*/ 9067 w 11734"/>
                <a:gd name="T49" fmla="*/ 8000 h 11200"/>
                <a:gd name="T50" fmla="*/ 9067 w 11734"/>
                <a:gd name="T51" fmla="*/ 5867 h 11200"/>
                <a:gd name="T52" fmla="*/ 2667 w 11734"/>
                <a:gd name="T53" fmla="*/ 5333 h 11200"/>
                <a:gd name="T54" fmla="*/ 9067 w 11734"/>
                <a:gd name="T55" fmla="*/ 5333 h 11200"/>
                <a:gd name="T56" fmla="*/ 2667 w 11734"/>
                <a:gd name="T57" fmla="*/ 533 h 11200"/>
                <a:gd name="T58" fmla="*/ 0 w 11734"/>
                <a:gd name="T59" fmla="*/ 2400 h 11200"/>
                <a:gd name="T60" fmla="*/ 1600 w 11734"/>
                <a:gd name="T61" fmla="*/ 9067 h 11200"/>
                <a:gd name="T62" fmla="*/ 534 w 11734"/>
                <a:gd name="T63" fmla="*/ 7467 h 11200"/>
                <a:gd name="T64" fmla="*/ 534 w 11734"/>
                <a:gd name="T65" fmla="*/ 6933 h 11200"/>
                <a:gd name="T66" fmla="*/ 1600 w 11734"/>
                <a:gd name="T67" fmla="*/ 5333 h 11200"/>
                <a:gd name="T68" fmla="*/ 1600 w 11734"/>
                <a:gd name="T69" fmla="*/ 4267 h 11200"/>
                <a:gd name="T70" fmla="*/ 534 w 11734"/>
                <a:gd name="T71" fmla="*/ 2667 h 11200"/>
                <a:gd name="T72" fmla="*/ 267 w 11734"/>
                <a:gd name="T73" fmla="*/ 2133 h 11200"/>
                <a:gd name="T74" fmla="*/ 10134 w 11734"/>
                <a:gd name="T75" fmla="*/ 2133 h 11200"/>
                <a:gd name="T76" fmla="*/ 11200 w 11734"/>
                <a:gd name="T77" fmla="*/ 3733 h 11200"/>
                <a:gd name="T78" fmla="*/ 11200 w 11734"/>
                <a:gd name="T79" fmla="*/ 4267 h 11200"/>
                <a:gd name="T80" fmla="*/ 10134 w 11734"/>
                <a:gd name="T81" fmla="*/ 5867 h 11200"/>
                <a:gd name="T82" fmla="*/ 10134 w 11734"/>
                <a:gd name="T83" fmla="*/ 6933 h 11200"/>
                <a:gd name="T84" fmla="*/ 11200 w 11734"/>
                <a:gd name="T85" fmla="*/ 8533 h 11200"/>
                <a:gd name="T86" fmla="*/ 11467 w 11734"/>
                <a:gd name="T87" fmla="*/ 9067 h 11200"/>
                <a:gd name="T88" fmla="*/ 11467 w 11734"/>
                <a:gd name="T89" fmla="*/ 2133 h 1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34" h="11200">
                  <a:moveTo>
                    <a:pt x="3734" y="1067"/>
                  </a:moveTo>
                  <a:lnTo>
                    <a:pt x="3200" y="1067"/>
                  </a:lnTo>
                  <a:lnTo>
                    <a:pt x="3200" y="2133"/>
                  </a:lnTo>
                  <a:lnTo>
                    <a:pt x="3734" y="2133"/>
                  </a:lnTo>
                  <a:lnTo>
                    <a:pt x="3734" y="1067"/>
                  </a:lnTo>
                  <a:close/>
                  <a:moveTo>
                    <a:pt x="4800" y="1067"/>
                  </a:moveTo>
                  <a:lnTo>
                    <a:pt x="4267" y="1067"/>
                  </a:lnTo>
                  <a:lnTo>
                    <a:pt x="4267" y="2133"/>
                  </a:lnTo>
                  <a:lnTo>
                    <a:pt x="4800" y="2133"/>
                  </a:lnTo>
                  <a:lnTo>
                    <a:pt x="4800" y="1067"/>
                  </a:lnTo>
                  <a:close/>
                  <a:moveTo>
                    <a:pt x="8534" y="1333"/>
                  </a:moveTo>
                  <a:lnTo>
                    <a:pt x="6134" y="1333"/>
                  </a:lnTo>
                  <a:lnTo>
                    <a:pt x="6134" y="1867"/>
                  </a:lnTo>
                  <a:lnTo>
                    <a:pt x="8534" y="1867"/>
                  </a:lnTo>
                  <a:lnTo>
                    <a:pt x="8534" y="1333"/>
                  </a:lnTo>
                  <a:close/>
                  <a:moveTo>
                    <a:pt x="3734" y="3733"/>
                  </a:moveTo>
                  <a:lnTo>
                    <a:pt x="3200" y="3733"/>
                  </a:lnTo>
                  <a:lnTo>
                    <a:pt x="3200" y="4800"/>
                  </a:lnTo>
                  <a:lnTo>
                    <a:pt x="3734" y="4800"/>
                  </a:lnTo>
                  <a:lnTo>
                    <a:pt x="3734" y="3733"/>
                  </a:lnTo>
                  <a:close/>
                  <a:moveTo>
                    <a:pt x="4800" y="3733"/>
                  </a:moveTo>
                  <a:lnTo>
                    <a:pt x="4267" y="3733"/>
                  </a:lnTo>
                  <a:lnTo>
                    <a:pt x="4267" y="4800"/>
                  </a:lnTo>
                  <a:lnTo>
                    <a:pt x="4800" y="4800"/>
                  </a:lnTo>
                  <a:lnTo>
                    <a:pt x="4800" y="3733"/>
                  </a:lnTo>
                  <a:close/>
                  <a:moveTo>
                    <a:pt x="8534" y="4000"/>
                  </a:moveTo>
                  <a:lnTo>
                    <a:pt x="6134" y="4000"/>
                  </a:lnTo>
                  <a:lnTo>
                    <a:pt x="6134" y="4533"/>
                  </a:lnTo>
                  <a:lnTo>
                    <a:pt x="8534" y="4533"/>
                  </a:lnTo>
                  <a:lnTo>
                    <a:pt x="8534" y="4000"/>
                  </a:lnTo>
                  <a:close/>
                  <a:moveTo>
                    <a:pt x="3734" y="6400"/>
                  </a:moveTo>
                  <a:lnTo>
                    <a:pt x="3200" y="6400"/>
                  </a:lnTo>
                  <a:lnTo>
                    <a:pt x="3200" y="7467"/>
                  </a:lnTo>
                  <a:lnTo>
                    <a:pt x="3734" y="7467"/>
                  </a:lnTo>
                  <a:lnTo>
                    <a:pt x="3734" y="6400"/>
                  </a:lnTo>
                  <a:close/>
                  <a:moveTo>
                    <a:pt x="4800" y="6400"/>
                  </a:moveTo>
                  <a:lnTo>
                    <a:pt x="4267" y="6400"/>
                  </a:lnTo>
                  <a:lnTo>
                    <a:pt x="4267" y="7467"/>
                  </a:lnTo>
                  <a:lnTo>
                    <a:pt x="4800" y="7467"/>
                  </a:lnTo>
                  <a:lnTo>
                    <a:pt x="4800" y="6400"/>
                  </a:lnTo>
                  <a:close/>
                  <a:moveTo>
                    <a:pt x="8534" y="6667"/>
                  </a:moveTo>
                  <a:lnTo>
                    <a:pt x="6134" y="6667"/>
                  </a:lnTo>
                  <a:lnTo>
                    <a:pt x="6134" y="7200"/>
                  </a:lnTo>
                  <a:lnTo>
                    <a:pt x="8534" y="7200"/>
                  </a:lnTo>
                  <a:lnTo>
                    <a:pt x="8534" y="6667"/>
                  </a:lnTo>
                  <a:close/>
                  <a:moveTo>
                    <a:pt x="3734" y="9067"/>
                  </a:moveTo>
                  <a:lnTo>
                    <a:pt x="3200" y="9067"/>
                  </a:lnTo>
                  <a:lnTo>
                    <a:pt x="3200" y="10133"/>
                  </a:lnTo>
                  <a:lnTo>
                    <a:pt x="3734" y="10133"/>
                  </a:lnTo>
                  <a:lnTo>
                    <a:pt x="3734" y="9067"/>
                  </a:lnTo>
                  <a:close/>
                  <a:moveTo>
                    <a:pt x="4800" y="9067"/>
                  </a:moveTo>
                  <a:lnTo>
                    <a:pt x="4267" y="9067"/>
                  </a:lnTo>
                  <a:lnTo>
                    <a:pt x="4267" y="10133"/>
                  </a:lnTo>
                  <a:lnTo>
                    <a:pt x="4800" y="10133"/>
                  </a:lnTo>
                  <a:lnTo>
                    <a:pt x="4800" y="9067"/>
                  </a:lnTo>
                  <a:close/>
                  <a:moveTo>
                    <a:pt x="8534" y="9333"/>
                  </a:moveTo>
                  <a:lnTo>
                    <a:pt x="6134" y="9333"/>
                  </a:lnTo>
                  <a:lnTo>
                    <a:pt x="6134" y="9867"/>
                  </a:lnTo>
                  <a:lnTo>
                    <a:pt x="8534" y="9867"/>
                  </a:lnTo>
                  <a:lnTo>
                    <a:pt x="8534" y="9333"/>
                  </a:lnTo>
                  <a:close/>
                  <a:moveTo>
                    <a:pt x="9334" y="0"/>
                  </a:moveTo>
                  <a:lnTo>
                    <a:pt x="2400" y="0"/>
                  </a:lnTo>
                  <a:cubicBezTo>
                    <a:pt x="2240" y="0"/>
                    <a:pt x="2134" y="107"/>
                    <a:pt x="2134" y="267"/>
                  </a:cubicBezTo>
                  <a:lnTo>
                    <a:pt x="2134" y="10933"/>
                  </a:lnTo>
                  <a:cubicBezTo>
                    <a:pt x="2134" y="11093"/>
                    <a:pt x="2240" y="11200"/>
                    <a:pt x="2400" y="11200"/>
                  </a:cubicBezTo>
                  <a:lnTo>
                    <a:pt x="9334" y="11200"/>
                  </a:lnTo>
                  <a:cubicBezTo>
                    <a:pt x="9494" y="11200"/>
                    <a:pt x="9600" y="11093"/>
                    <a:pt x="9600" y="10933"/>
                  </a:cubicBezTo>
                  <a:lnTo>
                    <a:pt x="9600" y="267"/>
                  </a:lnTo>
                  <a:cubicBezTo>
                    <a:pt x="9600" y="107"/>
                    <a:pt x="9494" y="0"/>
                    <a:pt x="9334" y="0"/>
                  </a:cubicBezTo>
                  <a:close/>
                  <a:moveTo>
                    <a:pt x="9067" y="10667"/>
                  </a:moveTo>
                  <a:lnTo>
                    <a:pt x="2667" y="10667"/>
                  </a:lnTo>
                  <a:lnTo>
                    <a:pt x="2667" y="8533"/>
                  </a:lnTo>
                  <a:lnTo>
                    <a:pt x="9067" y="8533"/>
                  </a:lnTo>
                  <a:lnTo>
                    <a:pt x="9067" y="10667"/>
                  </a:lnTo>
                  <a:close/>
                  <a:moveTo>
                    <a:pt x="9067" y="8000"/>
                  </a:moveTo>
                  <a:lnTo>
                    <a:pt x="2667" y="8000"/>
                  </a:lnTo>
                  <a:lnTo>
                    <a:pt x="2667" y="5867"/>
                  </a:lnTo>
                  <a:lnTo>
                    <a:pt x="9067" y="5867"/>
                  </a:lnTo>
                  <a:lnTo>
                    <a:pt x="9067" y="8000"/>
                  </a:lnTo>
                  <a:close/>
                  <a:moveTo>
                    <a:pt x="9067" y="5333"/>
                  </a:moveTo>
                  <a:lnTo>
                    <a:pt x="2667" y="5333"/>
                  </a:lnTo>
                  <a:lnTo>
                    <a:pt x="2667" y="3200"/>
                  </a:lnTo>
                  <a:lnTo>
                    <a:pt x="9067" y="3200"/>
                  </a:lnTo>
                  <a:lnTo>
                    <a:pt x="9067" y="5333"/>
                  </a:lnTo>
                  <a:close/>
                  <a:moveTo>
                    <a:pt x="9067" y="2667"/>
                  </a:moveTo>
                  <a:lnTo>
                    <a:pt x="2667" y="2667"/>
                  </a:lnTo>
                  <a:lnTo>
                    <a:pt x="2667" y="533"/>
                  </a:lnTo>
                  <a:lnTo>
                    <a:pt x="9067" y="533"/>
                  </a:lnTo>
                  <a:lnTo>
                    <a:pt x="9067" y="2667"/>
                  </a:lnTo>
                  <a:close/>
                  <a:moveTo>
                    <a:pt x="0" y="2400"/>
                  </a:moveTo>
                  <a:lnTo>
                    <a:pt x="0" y="8800"/>
                  </a:lnTo>
                  <a:cubicBezTo>
                    <a:pt x="0" y="8960"/>
                    <a:pt x="107" y="9067"/>
                    <a:pt x="267" y="9067"/>
                  </a:cubicBezTo>
                  <a:lnTo>
                    <a:pt x="1600" y="9067"/>
                  </a:lnTo>
                  <a:lnTo>
                    <a:pt x="1600" y="8533"/>
                  </a:lnTo>
                  <a:lnTo>
                    <a:pt x="534" y="8533"/>
                  </a:lnTo>
                  <a:lnTo>
                    <a:pt x="534" y="7467"/>
                  </a:lnTo>
                  <a:lnTo>
                    <a:pt x="1600" y="7467"/>
                  </a:lnTo>
                  <a:lnTo>
                    <a:pt x="1600" y="6933"/>
                  </a:lnTo>
                  <a:lnTo>
                    <a:pt x="534" y="6933"/>
                  </a:lnTo>
                  <a:lnTo>
                    <a:pt x="534" y="5867"/>
                  </a:lnTo>
                  <a:lnTo>
                    <a:pt x="1600" y="5867"/>
                  </a:lnTo>
                  <a:lnTo>
                    <a:pt x="1600" y="5333"/>
                  </a:lnTo>
                  <a:lnTo>
                    <a:pt x="534" y="5333"/>
                  </a:lnTo>
                  <a:lnTo>
                    <a:pt x="534" y="4267"/>
                  </a:lnTo>
                  <a:lnTo>
                    <a:pt x="1600" y="4267"/>
                  </a:lnTo>
                  <a:lnTo>
                    <a:pt x="1600" y="3733"/>
                  </a:lnTo>
                  <a:lnTo>
                    <a:pt x="534" y="3733"/>
                  </a:lnTo>
                  <a:lnTo>
                    <a:pt x="534" y="2667"/>
                  </a:lnTo>
                  <a:lnTo>
                    <a:pt x="1600" y="2667"/>
                  </a:lnTo>
                  <a:lnTo>
                    <a:pt x="1600" y="2133"/>
                  </a:lnTo>
                  <a:lnTo>
                    <a:pt x="267" y="2133"/>
                  </a:lnTo>
                  <a:cubicBezTo>
                    <a:pt x="107" y="2133"/>
                    <a:pt x="0" y="2240"/>
                    <a:pt x="0" y="2400"/>
                  </a:cubicBezTo>
                  <a:close/>
                  <a:moveTo>
                    <a:pt x="11467" y="2133"/>
                  </a:moveTo>
                  <a:lnTo>
                    <a:pt x="10134" y="2133"/>
                  </a:lnTo>
                  <a:lnTo>
                    <a:pt x="10134" y="2667"/>
                  </a:lnTo>
                  <a:lnTo>
                    <a:pt x="11200" y="2667"/>
                  </a:lnTo>
                  <a:lnTo>
                    <a:pt x="11200" y="3733"/>
                  </a:lnTo>
                  <a:lnTo>
                    <a:pt x="10134" y="3733"/>
                  </a:lnTo>
                  <a:lnTo>
                    <a:pt x="10134" y="4267"/>
                  </a:lnTo>
                  <a:lnTo>
                    <a:pt x="11200" y="4267"/>
                  </a:lnTo>
                  <a:lnTo>
                    <a:pt x="11200" y="5333"/>
                  </a:lnTo>
                  <a:lnTo>
                    <a:pt x="10134" y="5333"/>
                  </a:lnTo>
                  <a:lnTo>
                    <a:pt x="10134" y="5867"/>
                  </a:lnTo>
                  <a:lnTo>
                    <a:pt x="11200" y="5867"/>
                  </a:lnTo>
                  <a:lnTo>
                    <a:pt x="11200" y="6933"/>
                  </a:lnTo>
                  <a:lnTo>
                    <a:pt x="10134" y="6933"/>
                  </a:lnTo>
                  <a:lnTo>
                    <a:pt x="10134" y="7467"/>
                  </a:lnTo>
                  <a:lnTo>
                    <a:pt x="11200" y="7467"/>
                  </a:lnTo>
                  <a:lnTo>
                    <a:pt x="11200" y="8533"/>
                  </a:lnTo>
                  <a:lnTo>
                    <a:pt x="10134" y="8533"/>
                  </a:lnTo>
                  <a:lnTo>
                    <a:pt x="10134" y="9067"/>
                  </a:lnTo>
                  <a:lnTo>
                    <a:pt x="11467" y="9067"/>
                  </a:lnTo>
                  <a:cubicBezTo>
                    <a:pt x="11627" y="9067"/>
                    <a:pt x="11734" y="8960"/>
                    <a:pt x="11734" y="8800"/>
                  </a:cubicBezTo>
                  <a:lnTo>
                    <a:pt x="11734" y="2400"/>
                  </a:lnTo>
                  <a:cubicBezTo>
                    <a:pt x="11734" y="2240"/>
                    <a:pt x="11627" y="2133"/>
                    <a:pt x="11467" y="21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06" name="文本框 105"/>
            <p:cNvSpPr txBox="1"/>
            <p:nvPr>
              <p:custDataLst>
                <p:tags r:id="rId38"/>
              </p:custDataLst>
            </p:nvPr>
          </p:nvSpPr>
          <p:spPr>
            <a:xfrm>
              <a:off x="5702515" y="11648203"/>
              <a:ext cx="1067599" cy="75656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p>
              <a:pPr marL="0" marR="0" indent="0" algn="ctr" defTabSz="82105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800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latin typeface="微软雅黑" panose="020B0604030504040204" pitchFamily="34" charset="-122"/>
                  <a:ea typeface="微软雅黑" panose="020B0604030504040204" pitchFamily="34" charset="-122"/>
                  <a:cs typeface="+mn-cs"/>
                  <a:sym typeface="微软雅黑" panose="020B0604030504040204" pitchFamily="34" charset="-122"/>
                </a:rPr>
                <a:t>虚拟机</a:t>
              </a:r>
              <a:endParaRPr kumimoji="0" lang="zh-CN" altLang="en-US" sz="800" b="1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n-cs"/>
                <a:sym typeface="微软雅黑" panose="020B0604030504040204" pitchFamily="34" charset="-122"/>
              </a:endParaRPr>
            </a:p>
            <a:p>
              <a:pPr marL="0" marR="0" indent="0" algn="ctr" defTabSz="82105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800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latin typeface="微软雅黑" panose="020B0604030504040204" pitchFamily="34" charset="-122"/>
                  <a:ea typeface="微软雅黑" panose="020B0604030504040204" pitchFamily="34" charset="-122"/>
                  <a:cs typeface="+mn-cs"/>
                  <a:sym typeface="微软雅黑" panose="020B0604030504040204" pitchFamily="34" charset="-122"/>
                </a:rPr>
                <a:t>Agent</a:t>
              </a:r>
              <a:endParaRPr kumimoji="0" lang="en-US" altLang="zh-CN" sz="800" b="1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n-cs"/>
                <a:sym typeface="微软雅黑" panose="020B0604030504040204" pitchFamily="34" charset="-122"/>
              </a:endParaRP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2969260" y="5442585"/>
            <a:ext cx="470535" cy="757630"/>
            <a:chOff x="5702515" y="10927403"/>
            <a:chExt cx="1067599" cy="1477361"/>
          </a:xfrm>
        </p:grpSpPr>
        <p:sp>
          <p:nvSpPr>
            <p:cNvPr id="108" name="iconfont-11206-4016491"/>
            <p:cNvSpPr>
              <a:spLocks noChangeAspect="1"/>
            </p:cNvSpPr>
            <p:nvPr>
              <p:custDataLst>
                <p:tags r:id="rId39"/>
              </p:custDataLst>
            </p:nvPr>
          </p:nvSpPr>
          <p:spPr>
            <a:xfrm>
              <a:off x="5859174" y="10927403"/>
              <a:ext cx="754279" cy="720000"/>
            </a:xfrm>
            <a:custGeom>
              <a:avLst/>
              <a:gdLst>
                <a:gd name="T0" fmla="*/ 3200 w 11734"/>
                <a:gd name="T1" fmla="*/ 2133 h 11200"/>
                <a:gd name="T2" fmla="*/ 4800 w 11734"/>
                <a:gd name="T3" fmla="*/ 1067 h 11200"/>
                <a:gd name="T4" fmla="*/ 4800 w 11734"/>
                <a:gd name="T5" fmla="*/ 2133 h 11200"/>
                <a:gd name="T6" fmla="*/ 6134 w 11734"/>
                <a:gd name="T7" fmla="*/ 1333 h 11200"/>
                <a:gd name="T8" fmla="*/ 8534 w 11734"/>
                <a:gd name="T9" fmla="*/ 1333 h 11200"/>
                <a:gd name="T10" fmla="*/ 3200 w 11734"/>
                <a:gd name="T11" fmla="*/ 4800 h 11200"/>
                <a:gd name="T12" fmla="*/ 4800 w 11734"/>
                <a:gd name="T13" fmla="*/ 3733 h 11200"/>
                <a:gd name="T14" fmla="*/ 4800 w 11734"/>
                <a:gd name="T15" fmla="*/ 4800 h 11200"/>
                <a:gd name="T16" fmla="*/ 6134 w 11734"/>
                <a:gd name="T17" fmla="*/ 4000 h 11200"/>
                <a:gd name="T18" fmla="*/ 8534 w 11734"/>
                <a:gd name="T19" fmla="*/ 4000 h 11200"/>
                <a:gd name="T20" fmla="*/ 3200 w 11734"/>
                <a:gd name="T21" fmla="*/ 7467 h 11200"/>
                <a:gd name="T22" fmla="*/ 4800 w 11734"/>
                <a:gd name="T23" fmla="*/ 6400 h 11200"/>
                <a:gd name="T24" fmla="*/ 4800 w 11734"/>
                <a:gd name="T25" fmla="*/ 7467 h 11200"/>
                <a:gd name="T26" fmla="*/ 6134 w 11734"/>
                <a:gd name="T27" fmla="*/ 6667 h 11200"/>
                <a:gd name="T28" fmla="*/ 8534 w 11734"/>
                <a:gd name="T29" fmla="*/ 6667 h 11200"/>
                <a:gd name="T30" fmla="*/ 3200 w 11734"/>
                <a:gd name="T31" fmla="*/ 10133 h 11200"/>
                <a:gd name="T32" fmla="*/ 4800 w 11734"/>
                <a:gd name="T33" fmla="*/ 9067 h 11200"/>
                <a:gd name="T34" fmla="*/ 4800 w 11734"/>
                <a:gd name="T35" fmla="*/ 10133 h 11200"/>
                <a:gd name="T36" fmla="*/ 6134 w 11734"/>
                <a:gd name="T37" fmla="*/ 9333 h 11200"/>
                <a:gd name="T38" fmla="*/ 8534 w 11734"/>
                <a:gd name="T39" fmla="*/ 9333 h 11200"/>
                <a:gd name="T40" fmla="*/ 2134 w 11734"/>
                <a:gd name="T41" fmla="*/ 267 h 11200"/>
                <a:gd name="T42" fmla="*/ 9334 w 11734"/>
                <a:gd name="T43" fmla="*/ 11200 h 11200"/>
                <a:gd name="T44" fmla="*/ 9334 w 11734"/>
                <a:gd name="T45" fmla="*/ 0 h 11200"/>
                <a:gd name="T46" fmla="*/ 2667 w 11734"/>
                <a:gd name="T47" fmla="*/ 8533 h 11200"/>
                <a:gd name="T48" fmla="*/ 9067 w 11734"/>
                <a:gd name="T49" fmla="*/ 8000 h 11200"/>
                <a:gd name="T50" fmla="*/ 9067 w 11734"/>
                <a:gd name="T51" fmla="*/ 5867 h 11200"/>
                <a:gd name="T52" fmla="*/ 2667 w 11734"/>
                <a:gd name="T53" fmla="*/ 5333 h 11200"/>
                <a:gd name="T54" fmla="*/ 9067 w 11734"/>
                <a:gd name="T55" fmla="*/ 5333 h 11200"/>
                <a:gd name="T56" fmla="*/ 2667 w 11734"/>
                <a:gd name="T57" fmla="*/ 533 h 11200"/>
                <a:gd name="T58" fmla="*/ 0 w 11734"/>
                <a:gd name="T59" fmla="*/ 2400 h 11200"/>
                <a:gd name="T60" fmla="*/ 1600 w 11734"/>
                <a:gd name="T61" fmla="*/ 9067 h 11200"/>
                <a:gd name="T62" fmla="*/ 534 w 11734"/>
                <a:gd name="T63" fmla="*/ 7467 h 11200"/>
                <a:gd name="T64" fmla="*/ 534 w 11734"/>
                <a:gd name="T65" fmla="*/ 6933 h 11200"/>
                <a:gd name="T66" fmla="*/ 1600 w 11734"/>
                <a:gd name="T67" fmla="*/ 5333 h 11200"/>
                <a:gd name="T68" fmla="*/ 1600 w 11734"/>
                <a:gd name="T69" fmla="*/ 4267 h 11200"/>
                <a:gd name="T70" fmla="*/ 534 w 11734"/>
                <a:gd name="T71" fmla="*/ 2667 h 11200"/>
                <a:gd name="T72" fmla="*/ 267 w 11734"/>
                <a:gd name="T73" fmla="*/ 2133 h 11200"/>
                <a:gd name="T74" fmla="*/ 10134 w 11734"/>
                <a:gd name="T75" fmla="*/ 2133 h 11200"/>
                <a:gd name="T76" fmla="*/ 11200 w 11734"/>
                <a:gd name="T77" fmla="*/ 3733 h 11200"/>
                <a:gd name="T78" fmla="*/ 11200 w 11734"/>
                <a:gd name="T79" fmla="*/ 4267 h 11200"/>
                <a:gd name="T80" fmla="*/ 10134 w 11734"/>
                <a:gd name="T81" fmla="*/ 5867 h 11200"/>
                <a:gd name="T82" fmla="*/ 10134 w 11734"/>
                <a:gd name="T83" fmla="*/ 6933 h 11200"/>
                <a:gd name="T84" fmla="*/ 11200 w 11734"/>
                <a:gd name="T85" fmla="*/ 8533 h 11200"/>
                <a:gd name="T86" fmla="*/ 11467 w 11734"/>
                <a:gd name="T87" fmla="*/ 9067 h 11200"/>
                <a:gd name="T88" fmla="*/ 11467 w 11734"/>
                <a:gd name="T89" fmla="*/ 2133 h 1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34" h="11200">
                  <a:moveTo>
                    <a:pt x="3734" y="1067"/>
                  </a:moveTo>
                  <a:lnTo>
                    <a:pt x="3200" y="1067"/>
                  </a:lnTo>
                  <a:lnTo>
                    <a:pt x="3200" y="2133"/>
                  </a:lnTo>
                  <a:lnTo>
                    <a:pt x="3734" y="2133"/>
                  </a:lnTo>
                  <a:lnTo>
                    <a:pt x="3734" y="1067"/>
                  </a:lnTo>
                  <a:close/>
                  <a:moveTo>
                    <a:pt x="4800" y="1067"/>
                  </a:moveTo>
                  <a:lnTo>
                    <a:pt x="4267" y="1067"/>
                  </a:lnTo>
                  <a:lnTo>
                    <a:pt x="4267" y="2133"/>
                  </a:lnTo>
                  <a:lnTo>
                    <a:pt x="4800" y="2133"/>
                  </a:lnTo>
                  <a:lnTo>
                    <a:pt x="4800" y="1067"/>
                  </a:lnTo>
                  <a:close/>
                  <a:moveTo>
                    <a:pt x="8534" y="1333"/>
                  </a:moveTo>
                  <a:lnTo>
                    <a:pt x="6134" y="1333"/>
                  </a:lnTo>
                  <a:lnTo>
                    <a:pt x="6134" y="1867"/>
                  </a:lnTo>
                  <a:lnTo>
                    <a:pt x="8534" y="1867"/>
                  </a:lnTo>
                  <a:lnTo>
                    <a:pt x="8534" y="1333"/>
                  </a:lnTo>
                  <a:close/>
                  <a:moveTo>
                    <a:pt x="3734" y="3733"/>
                  </a:moveTo>
                  <a:lnTo>
                    <a:pt x="3200" y="3733"/>
                  </a:lnTo>
                  <a:lnTo>
                    <a:pt x="3200" y="4800"/>
                  </a:lnTo>
                  <a:lnTo>
                    <a:pt x="3734" y="4800"/>
                  </a:lnTo>
                  <a:lnTo>
                    <a:pt x="3734" y="3733"/>
                  </a:lnTo>
                  <a:close/>
                  <a:moveTo>
                    <a:pt x="4800" y="3733"/>
                  </a:moveTo>
                  <a:lnTo>
                    <a:pt x="4267" y="3733"/>
                  </a:lnTo>
                  <a:lnTo>
                    <a:pt x="4267" y="4800"/>
                  </a:lnTo>
                  <a:lnTo>
                    <a:pt x="4800" y="4800"/>
                  </a:lnTo>
                  <a:lnTo>
                    <a:pt x="4800" y="3733"/>
                  </a:lnTo>
                  <a:close/>
                  <a:moveTo>
                    <a:pt x="8534" y="4000"/>
                  </a:moveTo>
                  <a:lnTo>
                    <a:pt x="6134" y="4000"/>
                  </a:lnTo>
                  <a:lnTo>
                    <a:pt x="6134" y="4533"/>
                  </a:lnTo>
                  <a:lnTo>
                    <a:pt x="8534" y="4533"/>
                  </a:lnTo>
                  <a:lnTo>
                    <a:pt x="8534" y="4000"/>
                  </a:lnTo>
                  <a:close/>
                  <a:moveTo>
                    <a:pt x="3734" y="6400"/>
                  </a:moveTo>
                  <a:lnTo>
                    <a:pt x="3200" y="6400"/>
                  </a:lnTo>
                  <a:lnTo>
                    <a:pt x="3200" y="7467"/>
                  </a:lnTo>
                  <a:lnTo>
                    <a:pt x="3734" y="7467"/>
                  </a:lnTo>
                  <a:lnTo>
                    <a:pt x="3734" y="6400"/>
                  </a:lnTo>
                  <a:close/>
                  <a:moveTo>
                    <a:pt x="4800" y="6400"/>
                  </a:moveTo>
                  <a:lnTo>
                    <a:pt x="4267" y="6400"/>
                  </a:lnTo>
                  <a:lnTo>
                    <a:pt x="4267" y="7467"/>
                  </a:lnTo>
                  <a:lnTo>
                    <a:pt x="4800" y="7467"/>
                  </a:lnTo>
                  <a:lnTo>
                    <a:pt x="4800" y="6400"/>
                  </a:lnTo>
                  <a:close/>
                  <a:moveTo>
                    <a:pt x="8534" y="6667"/>
                  </a:moveTo>
                  <a:lnTo>
                    <a:pt x="6134" y="6667"/>
                  </a:lnTo>
                  <a:lnTo>
                    <a:pt x="6134" y="7200"/>
                  </a:lnTo>
                  <a:lnTo>
                    <a:pt x="8534" y="7200"/>
                  </a:lnTo>
                  <a:lnTo>
                    <a:pt x="8534" y="6667"/>
                  </a:lnTo>
                  <a:close/>
                  <a:moveTo>
                    <a:pt x="3734" y="9067"/>
                  </a:moveTo>
                  <a:lnTo>
                    <a:pt x="3200" y="9067"/>
                  </a:lnTo>
                  <a:lnTo>
                    <a:pt x="3200" y="10133"/>
                  </a:lnTo>
                  <a:lnTo>
                    <a:pt x="3734" y="10133"/>
                  </a:lnTo>
                  <a:lnTo>
                    <a:pt x="3734" y="9067"/>
                  </a:lnTo>
                  <a:close/>
                  <a:moveTo>
                    <a:pt x="4800" y="9067"/>
                  </a:moveTo>
                  <a:lnTo>
                    <a:pt x="4267" y="9067"/>
                  </a:lnTo>
                  <a:lnTo>
                    <a:pt x="4267" y="10133"/>
                  </a:lnTo>
                  <a:lnTo>
                    <a:pt x="4800" y="10133"/>
                  </a:lnTo>
                  <a:lnTo>
                    <a:pt x="4800" y="9067"/>
                  </a:lnTo>
                  <a:close/>
                  <a:moveTo>
                    <a:pt x="8534" y="9333"/>
                  </a:moveTo>
                  <a:lnTo>
                    <a:pt x="6134" y="9333"/>
                  </a:lnTo>
                  <a:lnTo>
                    <a:pt x="6134" y="9867"/>
                  </a:lnTo>
                  <a:lnTo>
                    <a:pt x="8534" y="9867"/>
                  </a:lnTo>
                  <a:lnTo>
                    <a:pt x="8534" y="9333"/>
                  </a:lnTo>
                  <a:close/>
                  <a:moveTo>
                    <a:pt x="9334" y="0"/>
                  </a:moveTo>
                  <a:lnTo>
                    <a:pt x="2400" y="0"/>
                  </a:lnTo>
                  <a:cubicBezTo>
                    <a:pt x="2240" y="0"/>
                    <a:pt x="2134" y="107"/>
                    <a:pt x="2134" y="267"/>
                  </a:cubicBezTo>
                  <a:lnTo>
                    <a:pt x="2134" y="10933"/>
                  </a:lnTo>
                  <a:cubicBezTo>
                    <a:pt x="2134" y="11093"/>
                    <a:pt x="2240" y="11200"/>
                    <a:pt x="2400" y="11200"/>
                  </a:cubicBezTo>
                  <a:lnTo>
                    <a:pt x="9334" y="11200"/>
                  </a:lnTo>
                  <a:cubicBezTo>
                    <a:pt x="9494" y="11200"/>
                    <a:pt x="9600" y="11093"/>
                    <a:pt x="9600" y="10933"/>
                  </a:cubicBezTo>
                  <a:lnTo>
                    <a:pt x="9600" y="267"/>
                  </a:lnTo>
                  <a:cubicBezTo>
                    <a:pt x="9600" y="107"/>
                    <a:pt x="9494" y="0"/>
                    <a:pt x="9334" y="0"/>
                  </a:cubicBezTo>
                  <a:close/>
                  <a:moveTo>
                    <a:pt x="9067" y="10667"/>
                  </a:moveTo>
                  <a:lnTo>
                    <a:pt x="2667" y="10667"/>
                  </a:lnTo>
                  <a:lnTo>
                    <a:pt x="2667" y="8533"/>
                  </a:lnTo>
                  <a:lnTo>
                    <a:pt x="9067" y="8533"/>
                  </a:lnTo>
                  <a:lnTo>
                    <a:pt x="9067" y="10667"/>
                  </a:lnTo>
                  <a:close/>
                  <a:moveTo>
                    <a:pt x="9067" y="8000"/>
                  </a:moveTo>
                  <a:lnTo>
                    <a:pt x="2667" y="8000"/>
                  </a:lnTo>
                  <a:lnTo>
                    <a:pt x="2667" y="5867"/>
                  </a:lnTo>
                  <a:lnTo>
                    <a:pt x="9067" y="5867"/>
                  </a:lnTo>
                  <a:lnTo>
                    <a:pt x="9067" y="8000"/>
                  </a:lnTo>
                  <a:close/>
                  <a:moveTo>
                    <a:pt x="9067" y="5333"/>
                  </a:moveTo>
                  <a:lnTo>
                    <a:pt x="2667" y="5333"/>
                  </a:lnTo>
                  <a:lnTo>
                    <a:pt x="2667" y="3200"/>
                  </a:lnTo>
                  <a:lnTo>
                    <a:pt x="9067" y="3200"/>
                  </a:lnTo>
                  <a:lnTo>
                    <a:pt x="9067" y="5333"/>
                  </a:lnTo>
                  <a:close/>
                  <a:moveTo>
                    <a:pt x="9067" y="2667"/>
                  </a:moveTo>
                  <a:lnTo>
                    <a:pt x="2667" y="2667"/>
                  </a:lnTo>
                  <a:lnTo>
                    <a:pt x="2667" y="533"/>
                  </a:lnTo>
                  <a:lnTo>
                    <a:pt x="9067" y="533"/>
                  </a:lnTo>
                  <a:lnTo>
                    <a:pt x="9067" y="2667"/>
                  </a:lnTo>
                  <a:close/>
                  <a:moveTo>
                    <a:pt x="0" y="2400"/>
                  </a:moveTo>
                  <a:lnTo>
                    <a:pt x="0" y="8800"/>
                  </a:lnTo>
                  <a:cubicBezTo>
                    <a:pt x="0" y="8960"/>
                    <a:pt x="107" y="9067"/>
                    <a:pt x="267" y="9067"/>
                  </a:cubicBezTo>
                  <a:lnTo>
                    <a:pt x="1600" y="9067"/>
                  </a:lnTo>
                  <a:lnTo>
                    <a:pt x="1600" y="8533"/>
                  </a:lnTo>
                  <a:lnTo>
                    <a:pt x="534" y="8533"/>
                  </a:lnTo>
                  <a:lnTo>
                    <a:pt x="534" y="7467"/>
                  </a:lnTo>
                  <a:lnTo>
                    <a:pt x="1600" y="7467"/>
                  </a:lnTo>
                  <a:lnTo>
                    <a:pt x="1600" y="6933"/>
                  </a:lnTo>
                  <a:lnTo>
                    <a:pt x="534" y="6933"/>
                  </a:lnTo>
                  <a:lnTo>
                    <a:pt x="534" y="5867"/>
                  </a:lnTo>
                  <a:lnTo>
                    <a:pt x="1600" y="5867"/>
                  </a:lnTo>
                  <a:lnTo>
                    <a:pt x="1600" y="5333"/>
                  </a:lnTo>
                  <a:lnTo>
                    <a:pt x="534" y="5333"/>
                  </a:lnTo>
                  <a:lnTo>
                    <a:pt x="534" y="4267"/>
                  </a:lnTo>
                  <a:lnTo>
                    <a:pt x="1600" y="4267"/>
                  </a:lnTo>
                  <a:lnTo>
                    <a:pt x="1600" y="3733"/>
                  </a:lnTo>
                  <a:lnTo>
                    <a:pt x="534" y="3733"/>
                  </a:lnTo>
                  <a:lnTo>
                    <a:pt x="534" y="2667"/>
                  </a:lnTo>
                  <a:lnTo>
                    <a:pt x="1600" y="2667"/>
                  </a:lnTo>
                  <a:lnTo>
                    <a:pt x="1600" y="2133"/>
                  </a:lnTo>
                  <a:lnTo>
                    <a:pt x="267" y="2133"/>
                  </a:lnTo>
                  <a:cubicBezTo>
                    <a:pt x="107" y="2133"/>
                    <a:pt x="0" y="2240"/>
                    <a:pt x="0" y="2400"/>
                  </a:cubicBezTo>
                  <a:close/>
                  <a:moveTo>
                    <a:pt x="11467" y="2133"/>
                  </a:moveTo>
                  <a:lnTo>
                    <a:pt x="10134" y="2133"/>
                  </a:lnTo>
                  <a:lnTo>
                    <a:pt x="10134" y="2667"/>
                  </a:lnTo>
                  <a:lnTo>
                    <a:pt x="11200" y="2667"/>
                  </a:lnTo>
                  <a:lnTo>
                    <a:pt x="11200" y="3733"/>
                  </a:lnTo>
                  <a:lnTo>
                    <a:pt x="10134" y="3733"/>
                  </a:lnTo>
                  <a:lnTo>
                    <a:pt x="10134" y="4267"/>
                  </a:lnTo>
                  <a:lnTo>
                    <a:pt x="11200" y="4267"/>
                  </a:lnTo>
                  <a:lnTo>
                    <a:pt x="11200" y="5333"/>
                  </a:lnTo>
                  <a:lnTo>
                    <a:pt x="10134" y="5333"/>
                  </a:lnTo>
                  <a:lnTo>
                    <a:pt x="10134" y="5867"/>
                  </a:lnTo>
                  <a:lnTo>
                    <a:pt x="11200" y="5867"/>
                  </a:lnTo>
                  <a:lnTo>
                    <a:pt x="11200" y="6933"/>
                  </a:lnTo>
                  <a:lnTo>
                    <a:pt x="10134" y="6933"/>
                  </a:lnTo>
                  <a:lnTo>
                    <a:pt x="10134" y="7467"/>
                  </a:lnTo>
                  <a:lnTo>
                    <a:pt x="11200" y="7467"/>
                  </a:lnTo>
                  <a:lnTo>
                    <a:pt x="11200" y="8533"/>
                  </a:lnTo>
                  <a:lnTo>
                    <a:pt x="10134" y="8533"/>
                  </a:lnTo>
                  <a:lnTo>
                    <a:pt x="10134" y="9067"/>
                  </a:lnTo>
                  <a:lnTo>
                    <a:pt x="11467" y="9067"/>
                  </a:lnTo>
                  <a:cubicBezTo>
                    <a:pt x="11627" y="9067"/>
                    <a:pt x="11734" y="8960"/>
                    <a:pt x="11734" y="8800"/>
                  </a:cubicBezTo>
                  <a:lnTo>
                    <a:pt x="11734" y="2400"/>
                  </a:lnTo>
                  <a:cubicBezTo>
                    <a:pt x="11734" y="2240"/>
                    <a:pt x="11627" y="2133"/>
                    <a:pt x="11467" y="21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40"/>
              </p:custDataLst>
            </p:nvPr>
          </p:nvSpPr>
          <p:spPr>
            <a:xfrm>
              <a:off x="5702515" y="11648203"/>
              <a:ext cx="1067599" cy="75656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p>
              <a:pPr marL="0" marR="0" indent="0" algn="ctr" defTabSz="82105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800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latin typeface="微软雅黑" panose="020B0604030504040204" pitchFamily="34" charset="-122"/>
                  <a:ea typeface="微软雅黑" panose="020B0604030504040204" pitchFamily="34" charset="-122"/>
                  <a:cs typeface="+mn-cs"/>
                  <a:sym typeface="微软雅黑" panose="020B0604030504040204" pitchFamily="34" charset="-122"/>
                </a:rPr>
                <a:t>虚拟机</a:t>
              </a:r>
              <a:endParaRPr kumimoji="0" lang="zh-CN" altLang="en-US" sz="800" b="1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n-cs"/>
                <a:sym typeface="微软雅黑" panose="020B0604030504040204" pitchFamily="34" charset="-122"/>
              </a:endParaRPr>
            </a:p>
            <a:p>
              <a:pPr marL="0" marR="0" indent="0" algn="ctr" defTabSz="82105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800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latin typeface="微软雅黑" panose="020B0604030504040204" pitchFamily="34" charset="-122"/>
                  <a:ea typeface="微软雅黑" panose="020B0604030504040204" pitchFamily="34" charset="-122"/>
                  <a:cs typeface="+mn-cs"/>
                  <a:sym typeface="微软雅黑" panose="020B0604030504040204" pitchFamily="34" charset="-122"/>
                </a:rPr>
                <a:t>Agent</a:t>
              </a:r>
              <a:endParaRPr kumimoji="0" lang="en-US" altLang="zh-CN" sz="800" b="1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n-cs"/>
                <a:sym typeface="微软雅黑" panose="020B0604030504040204" pitchFamily="34" charset="-122"/>
              </a:endParaRPr>
            </a:p>
          </p:txBody>
        </p:sp>
      </p:grpSp>
      <p:grpSp>
        <p:nvGrpSpPr>
          <p:cNvPr id="110" name="组合 109"/>
          <p:cNvGrpSpPr/>
          <p:nvPr/>
        </p:nvGrpSpPr>
        <p:grpSpPr>
          <a:xfrm>
            <a:off x="4010025" y="5442585"/>
            <a:ext cx="470535" cy="757630"/>
            <a:chOff x="5702515" y="10927403"/>
            <a:chExt cx="1067599" cy="1477361"/>
          </a:xfrm>
        </p:grpSpPr>
        <p:sp>
          <p:nvSpPr>
            <p:cNvPr id="111" name="iconfont-11206-4016491"/>
            <p:cNvSpPr>
              <a:spLocks noChangeAspect="1"/>
            </p:cNvSpPr>
            <p:nvPr>
              <p:custDataLst>
                <p:tags r:id="rId41"/>
              </p:custDataLst>
            </p:nvPr>
          </p:nvSpPr>
          <p:spPr>
            <a:xfrm>
              <a:off x="5859174" y="10927403"/>
              <a:ext cx="754279" cy="720000"/>
            </a:xfrm>
            <a:custGeom>
              <a:avLst/>
              <a:gdLst>
                <a:gd name="T0" fmla="*/ 3200 w 11734"/>
                <a:gd name="T1" fmla="*/ 2133 h 11200"/>
                <a:gd name="T2" fmla="*/ 4800 w 11734"/>
                <a:gd name="T3" fmla="*/ 1067 h 11200"/>
                <a:gd name="T4" fmla="*/ 4800 w 11734"/>
                <a:gd name="T5" fmla="*/ 2133 h 11200"/>
                <a:gd name="T6" fmla="*/ 6134 w 11734"/>
                <a:gd name="T7" fmla="*/ 1333 h 11200"/>
                <a:gd name="T8" fmla="*/ 8534 w 11734"/>
                <a:gd name="T9" fmla="*/ 1333 h 11200"/>
                <a:gd name="T10" fmla="*/ 3200 w 11734"/>
                <a:gd name="T11" fmla="*/ 4800 h 11200"/>
                <a:gd name="T12" fmla="*/ 4800 w 11734"/>
                <a:gd name="T13" fmla="*/ 3733 h 11200"/>
                <a:gd name="T14" fmla="*/ 4800 w 11734"/>
                <a:gd name="T15" fmla="*/ 4800 h 11200"/>
                <a:gd name="T16" fmla="*/ 6134 w 11734"/>
                <a:gd name="T17" fmla="*/ 4000 h 11200"/>
                <a:gd name="T18" fmla="*/ 8534 w 11734"/>
                <a:gd name="T19" fmla="*/ 4000 h 11200"/>
                <a:gd name="T20" fmla="*/ 3200 w 11734"/>
                <a:gd name="T21" fmla="*/ 7467 h 11200"/>
                <a:gd name="T22" fmla="*/ 4800 w 11734"/>
                <a:gd name="T23" fmla="*/ 6400 h 11200"/>
                <a:gd name="T24" fmla="*/ 4800 w 11734"/>
                <a:gd name="T25" fmla="*/ 7467 h 11200"/>
                <a:gd name="T26" fmla="*/ 6134 w 11734"/>
                <a:gd name="T27" fmla="*/ 6667 h 11200"/>
                <a:gd name="T28" fmla="*/ 8534 w 11734"/>
                <a:gd name="T29" fmla="*/ 6667 h 11200"/>
                <a:gd name="T30" fmla="*/ 3200 w 11734"/>
                <a:gd name="T31" fmla="*/ 10133 h 11200"/>
                <a:gd name="T32" fmla="*/ 4800 w 11734"/>
                <a:gd name="T33" fmla="*/ 9067 h 11200"/>
                <a:gd name="T34" fmla="*/ 4800 w 11734"/>
                <a:gd name="T35" fmla="*/ 10133 h 11200"/>
                <a:gd name="T36" fmla="*/ 6134 w 11734"/>
                <a:gd name="T37" fmla="*/ 9333 h 11200"/>
                <a:gd name="T38" fmla="*/ 8534 w 11734"/>
                <a:gd name="T39" fmla="*/ 9333 h 11200"/>
                <a:gd name="T40" fmla="*/ 2134 w 11734"/>
                <a:gd name="T41" fmla="*/ 267 h 11200"/>
                <a:gd name="T42" fmla="*/ 9334 w 11734"/>
                <a:gd name="T43" fmla="*/ 11200 h 11200"/>
                <a:gd name="T44" fmla="*/ 9334 w 11734"/>
                <a:gd name="T45" fmla="*/ 0 h 11200"/>
                <a:gd name="T46" fmla="*/ 2667 w 11734"/>
                <a:gd name="T47" fmla="*/ 8533 h 11200"/>
                <a:gd name="T48" fmla="*/ 9067 w 11734"/>
                <a:gd name="T49" fmla="*/ 8000 h 11200"/>
                <a:gd name="T50" fmla="*/ 9067 w 11734"/>
                <a:gd name="T51" fmla="*/ 5867 h 11200"/>
                <a:gd name="T52" fmla="*/ 2667 w 11734"/>
                <a:gd name="T53" fmla="*/ 5333 h 11200"/>
                <a:gd name="T54" fmla="*/ 9067 w 11734"/>
                <a:gd name="T55" fmla="*/ 5333 h 11200"/>
                <a:gd name="T56" fmla="*/ 2667 w 11734"/>
                <a:gd name="T57" fmla="*/ 533 h 11200"/>
                <a:gd name="T58" fmla="*/ 0 w 11734"/>
                <a:gd name="T59" fmla="*/ 2400 h 11200"/>
                <a:gd name="T60" fmla="*/ 1600 w 11734"/>
                <a:gd name="T61" fmla="*/ 9067 h 11200"/>
                <a:gd name="T62" fmla="*/ 534 w 11734"/>
                <a:gd name="T63" fmla="*/ 7467 h 11200"/>
                <a:gd name="T64" fmla="*/ 534 w 11734"/>
                <a:gd name="T65" fmla="*/ 6933 h 11200"/>
                <a:gd name="T66" fmla="*/ 1600 w 11734"/>
                <a:gd name="T67" fmla="*/ 5333 h 11200"/>
                <a:gd name="T68" fmla="*/ 1600 w 11734"/>
                <a:gd name="T69" fmla="*/ 4267 h 11200"/>
                <a:gd name="T70" fmla="*/ 534 w 11734"/>
                <a:gd name="T71" fmla="*/ 2667 h 11200"/>
                <a:gd name="T72" fmla="*/ 267 w 11734"/>
                <a:gd name="T73" fmla="*/ 2133 h 11200"/>
                <a:gd name="T74" fmla="*/ 10134 w 11734"/>
                <a:gd name="T75" fmla="*/ 2133 h 11200"/>
                <a:gd name="T76" fmla="*/ 11200 w 11734"/>
                <a:gd name="T77" fmla="*/ 3733 h 11200"/>
                <a:gd name="T78" fmla="*/ 11200 w 11734"/>
                <a:gd name="T79" fmla="*/ 4267 h 11200"/>
                <a:gd name="T80" fmla="*/ 10134 w 11734"/>
                <a:gd name="T81" fmla="*/ 5867 h 11200"/>
                <a:gd name="T82" fmla="*/ 10134 w 11734"/>
                <a:gd name="T83" fmla="*/ 6933 h 11200"/>
                <a:gd name="T84" fmla="*/ 11200 w 11734"/>
                <a:gd name="T85" fmla="*/ 8533 h 11200"/>
                <a:gd name="T86" fmla="*/ 11467 w 11734"/>
                <a:gd name="T87" fmla="*/ 9067 h 11200"/>
                <a:gd name="T88" fmla="*/ 11467 w 11734"/>
                <a:gd name="T89" fmla="*/ 2133 h 1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34" h="11200">
                  <a:moveTo>
                    <a:pt x="3734" y="1067"/>
                  </a:moveTo>
                  <a:lnTo>
                    <a:pt x="3200" y="1067"/>
                  </a:lnTo>
                  <a:lnTo>
                    <a:pt x="3200" y="2133"/>
                  </a:lnTo>
                  <a:lnTo>
                    <a:pt x="3734" y="2133"/>
                  </a:lnTo>
                  <a:lnTo>
                    <a:pt x="3734" y="1067"/>
                  </a:lnTo>
                  <a:close/>
                  <a:moveTo>
                    <a:pt x="4800" y="1067"/>
                  </a:moveTo>
                  <a:lnTo>
                    <a:pt x="4267" y="1067"/>
                  </a:lnTo>
                  <a:lnTo>
                    <a:pt x="4267" y="2133"/>
                  </a:lnTo>
                  <a:lnTo>
                    <a:pt x="4800" y="2133"/>
                  </a:lnTo>
                  <a:lnTo>
                    <a:pt x="4800" y="1067"/>
                  </a:lnTo>
                  <a:close/>
                  <a:moveTo>
                    <a:pt x="8534" y="1333"/>
                  </a:moveTo>
                  <a:lnTo>
                    <a:pt x="6134" y="1333"/>
                  </a:lnTo>
                  <a:lnTo>
                    <a:pt x="6134" y="1867"/>
                  </a:lnTo>
                  <a:lnTo>
                    <a:pt x="8534" y="1867"/>
                  </a:lnTo>
                  <a:lnTo>
                    <a:pt x="8534" y="1333"/>
                  </a:lnTo>
                  <a:close/>
                  <a:moveTo>
                    <a:pt x="3734" y="3733"/>
                  </a:moveTo>
                  <a:lnTo>
                    <a:pt x="3200" y="3733"/>
                  </a:lnTo>
                  <a:lnTo>
                    <a:pt x="3200" y="4800"/>
                  </a:lnTo>
                  <a:lnTo>
                    <a:pt x="3734" y="4800"/>
                  </a:lnTo>
                  <a:lnTo>
                    <a:pt x="3734" y="3733"/>
                  </a:lnTo>
                  <a:close/>
                  <a:moveTo>
                    <a:pt x="4800" y="3733"/>
                  </a:moveTo>
                  <a:lnTo>
                    <a:pt x="4267" y="3733"/>
                  </a:lnTo>
                  <a:lnTo>
                    <a:pt x="4267" y="4800"/>
                  </a:lnTo>
                  <a:lnTo>
                    <a:pt x="4800" y="4800"/>
                  </a:lnTo>
                  <a:lnTo>
                    <a:pt x="4800" y="3733"/>
                  </a:lnTo>
                  <a:close/>
                  <a:moveTo>
                    <a:pt x="8534" y="4000"/>
                  </a:moveTo>
                  <a:lnTo>
                    <a:pt x="6134" y="4000"/>
                  </a:lnTo>
                  <a:lnTo>
                    <a:pt x="6134" y="4533"/>
                  </a:lnTo>
                  <a:lnTo>
                    <a:pt x="8534" y="4533"/>
                  </a:lnTo>
                  <a:lnTo>
                    <a:pt x="8534" y="4000"/>
                  </a:lnTo>
                  <a:close/>
                  <a:moveTo>
                    <a:pt x="3734" y="6400"/>
                  </a:moveTo>
                  <a:lnTo>
                    <a:pt x="3200" y="6400"/>
                  </a:lnTo>
                  <a:lnTo>
                    <a:pt x="3200" y="7467"/>
                  </a:lnTo>
                  <a:lnTo>
                    <a:pt x="3734" y="7467"/>
                  </a:lnTo>
                  <a:lnTo>
                    <a:pt x="3734" y="6400"/>
                  </a:lnTo>
                  <a:close/>
                  <a:moveTo>
                    <a:pt x="4800" y="6400"/>
                  </a:moveTo>
                  <a:lnTo>
                    <a:pt x="4267" y="6400"/>
                  </a:lnTo>
                  <a:lnTo>
                    <a:pt x="4267" y="7467"/>
                  </a:lnTo>
                  <a:lnTo>
                    <a:pt x="4800" y="7467"/>
                  </a:lnTo>
                  <a:lnTo>
                    <a:pt x="4800" y="6400"/>
                  </a:lnTo>
                  <a:close/>
                  <a:moveTo>
                    <a:pt x="8534" y="6667"/>
                  </a:moveTo>
                  <a:lnTo>
                    <a:pt x="6134" y="6667"/>
                  </a:lnTo>
                  <a:lnTo>
                    <a:pt x="6134" y="7200"/>
                  </a:lnTo>
                  <a:lnTo>
                    <a:pt x="8534" y="7200"/>
                  </a:lnTo>
                  <a:lnTo>
                    <a:pt x="8534" y="6667"/>
                  </a:lnTo>
                  <a:close/>
                  <a:moveTo>
                    <a:pt x="3734" y="9067"/>
                  </a:moveTo>
                  <a:lnTo>
                    <a:pt x="3200" y="9067"/>
                  </a:lnTo>
                  <a:lnTo>
                    <a:pt x="3200" y="10133"/>
                  </a:lnTo>
                  <a:lnTo>
                    <a:pt x="3734" y="10133"/>
                  </a:lnTo>
                  <a:lnTo>
                    <a:pt x="3734" y="9067"/>
                  </a:lnTo>
                  <a:close/>
                  <a:moveTo>
                    <a:pt x="4800" y="9067"/>
                  </a:moveTo>
                  <a:lnTo>
                    <a:pt x="4267" y="9067"/>
                  </a:lnTo>
                  <a:lnTo>
                    <a:pt x="4267" y="10133"/>
                  </a:lnTo>
                  <a:lnTo>
                    <a:pt x="4800" y="10133"/>
                  </a:lnTo>
                  <a:lnTo>
                    <a:pt x="4800" y="9067"/>
                  </a:lnTo>
                  <a:close/>
                  <a:moveTo>
                    <a:pt x="8534" y="9333"/>
                  </a:moveTo>
                  <a:lnTo>
                    <a:pt x="6134" y="9333"/>
                  </a:lnTo>
                  <a:lnTo>
                    <a:pt x="6134" y="9867"/>
                  </a:lnTo>
                  <a:lnTo>
                    <a:pt x="8534" y="9867"/>
                  </a:lnTo>
                  <a:lnTo>
                    <a:pt x="8534" y="9333"/>
                  </a:lnTo>
                  <a:close/>
                  <a:moveTo>
                    <a:pt x="9334" y="0"/>
                  </a:moveTo>
                  <a:lnTo>
                    <a:pt x="2400" y="0"/>
                  </a:lnTo>
                  <a:cubicBezTo>
                    <a:pt x="2240" y="0"/>
                    <a:pt x="2134" y="107"/>
                    <a:pt x="2134" y="267"/>
                  </a:cubicBezTo>
                  <a:lnTo>
                    <a:pt x="2134" y="10933"/>
                  </a:lnTo>
                  <a:cubicBezTo>
                    <a:pt x="2134" y="11093"/>
                    <a:pt x="2240" y="11200"/>
                    <a:pt x="2400" y="11200"/>
                  </a:cubicBezTo>
                  <a:lnTo>
                    <a:pt x="9334" y="11200"/>
                  </a:lnTo>
                  <a:cubicBezTo>
                    <a:pt x="9494" y="11200"/>
                    <a:pt x="9600" y="11093"/>
                    <a:pt x="9600" y="10933"/>
                  </a:cubicBezTo>
                  <a:lnTo>
                    <a:pt x="9600" y="267"/>
                  </a:lnTo>
                  <a:cubicBezTo>
                    <a:pt x="9600" y="107"/>
                    <a:pt x="9494" y="0"/>
                    <a:pt x="9334" y="0"/>
                  </a:cubicBezTo>
                  <a:close/>
                  <a:moveTo>
                    <a:pt x="9067" y="10667"/>
                  </a:moveTo>
                  <a:lnTo>
                    <a:pt x="2667" y="10667"/>
                  </a:lnTo>
                  <a:lnTo>
                    <a:pt x="2667" y="8533"/>
                  </a:lnTo>
                  <a:lnTo>
                    <a:pt x="9067" y="8533"/>
                  </a:lnTo>
                  <a:lnTo>
                    <a:pt x="9067" y="10667"/>
                  </a:lnTo>
                  <a:close/>
                  <a:moveTo>
                    <a:pt x="9067" y="8000"/>
                  </a:moveTo>
                  <a:lnTo>
                    <a:pt x="2667" y="8000"/>
                  </a:lnTo>
                  <a:lnTo>
                    <a:pt x="2667" y="5867"/>
                  </a:lnTo>
                  <a:lnTo>
                    <a:pt x="9067" y="5867"/>
                  </a:lnTo>
                  <a:lnTo>
                    <a:pt x="9067" y="8000"/>
                  </a:lnTo>
                  <a:close/>
                  <a:moveTo>
                    <a:pt x="9067" y="5333"/>
                  </a:moveTo>
                  <a:lnTo>
                    <a:pt x="2667" y="5333"/>
                  </a:lnTo>
                  <a:lnTo>
                    <a:pt x="2667" y="3200"/>
                  </a:lnTo>
                  <a:lnTo>
                    <a:pt x="9067" y="3200"/>
                  </a:lnTo>
                  <a:lnTo>
                    <a:pt x="9067" y="5333"/>
                  </a:lnTo>
                  <a:close/>
                  <a:moveTo>
                    <a:pt x="9067" y="2667"/>
                  </a:moveTo>
                  <a:lnTo>
                    <a:pt x="2667" y="2667"/>
                  </a:lnTo>
                  <a:lnTo>
                    <a:pt x="2667" y="533"/>
                  </a:lnTo>
                  <a:lnTo>
                    <a:pt x="9067" y="533"/>
                  </a:lnTo>
                  <a:lnTo>
                    <a:pt x="9067" y="2667"/>
                  </a:lnTo>
                  <a:close/>
                  <a:moveTo>
                    <a:pt x="0" y="2400"/>
                  </a:moveTo>
                  <a:lnTo>
                    <a:pt x="0" y="8800"/>
                  </a:lnTo>
                  <a:cubicBezTo>
                    <a:pt x="0" y="8960"/>
                    <a:pt x="107" y="9067"/>
                    <a:pt x="267" y="9067"/>
                  </a:cubicBezTo>
                  <a:lnTo>
                    <a:pt x="1600" y="9067"/>
                  </a:lnTo>
                  <a:lnTo>
                    <a:pt x="1600" y="8533"/>
                  </a:lnTo>
                  <a:lnTo>
                    <a:pt x="534" y="8533"/>
                  </a:lnTo>
                  <a:lnTo>
                    <a:pt x="534" y="7467"/>
                  </a:lnTo>
                  <a:lnTo>
                    <a:pt x="1600" y="7467"/>
                  </a:lnTo>
                  <a:lnTo>
                    <a:pt x="1600" y="6933"/>
                  </a:lnTo>
                  <a:lnTo>
                    <a:pt x="534" y="6933"/>
                  </a:lnTo>
                  <a:lnTo>
                    <a:pt x="534" y="5867"/>
                  </a:lnTo>
                  <a:lnTo>
                    <a:pt x="1600" y="5867"/>
                  </a:lnTo>
                  <a:lnTo>
                    <a:pt x="1600" y="5333"/>
                  </a:lnTo>
                  <a:lnTo>
                    <a:pt x="534" y="5333"/>
                  </a:lnTo>
                  <a:lnTo>
                    <a:pt x="534" y="4267"/>
                  </a:lnTo>
                  <a:lnTo>
                    <a:pt x="1600" y="4267"/>
                  </a:lnTo>
                  <a:lnTo>
                    <a:pt x="1600" y="3733"/>
                  </a:lnTo>
                  <a:lnTo>
                    <a:pt x="534" y="3733"/>
                  </a:lnTo>
                  <a:lnTo>
                    <a:pt x="534" y="2667"/>
                  </a:lnTo>
                  <a:lnTo>
                    <a:pt x="1600" y="2667"/>
                  </a:lnTo>
                  <a:lnTo>
                    <a:pt x="1600" y="2133"/>
                  </a:lnTo>
                  <a:lnTo>
                    <a:pt x="267" y="2133"/>
                  </a:lnTo>
                  <a:cubicBezTo>
                    <a:pt x="107" y="2133"/>
                    <a:pt x="0" y="2240"/>
                    <a:pt x="0" y="2400"/>
                  </a:cubicBezTo>
                  <a:close/>
                  <a:moveTo>
                    <a:pt x="11467" y="2133"/>
                  </a:moveTo>
                  <a:lnTo>
                    <a:pt x="10134" y="2133"/>
                  </a:lnTo>
                  <a:lnTo>
                    <a:pt x="10134" y="2667"/>
                  </a:lnTo>
                  <a:lnTo>
                    <a:pt x="11200" y="2667"/>
                  </a:lnTo>
                  <a:lnTo>
                    <a:pt x="11200" y="3733"/>
                  </a:lnTo>
                  <a:lnTo>
                    <a:pt x="10134" y="3733"/>
                  </a:lnTo>
                  <a:lnTo>
                    <a:pt x="10134" y="4267"/>
                  </a:lnTo>
                  <a:lnTo>
                    <a:pt x="11200" y="4267"/>
                  </a:lnTo>
                  <a:lnTo>
                    <a:pt x="11200" y="5333"/>
                  </a:lnTo>
                  <a:lnTo>
                    <a:pt x="10134" y="5333"/>
                  </a:lnTo>
                  <a:lnTo>
                    <a:pt x="10134" y="5867"/>
                  </a:lnTo>
                  <a:lnTo>
                    <a:pt x="11200" y="5867"/>
                  </a:lnTo>
                  <a:lnTo>
                    <a:pt x="11200" y="6933"/>
                  </a:lnTo>
                  <a:lnTo>
                    <a:pt x="10134" y="6933"/>
                  </a:lnTo>
                  <a:lnTo>
                    <a:pt x="10134" y="7467"/>
                  </a:lnTo>
                  <a:lnTo>
                    <a:pt x="11200" y="7467"/>
                  </a:lnTo>
                  <a:lnTo>
                    <a:pt x="11200" y="8533"/>
                  </a:lnTo>
                  <a:lnTo>
                    <a:pt x="10134" y="8533"/>
                  </a:lnTo>
                  <a:lnTo>
                    <a:pt x="10134" y="9067"/>
                  </a:lnTo>
                  <a:lnTo>
                    <a:pt x="11467" y="9067"/>
                  </a:lnTo>
                  <a:cubicBezTo>
                    <a:pt x="11627" y="9067"/>
                    <a:pt x="11734" y="8960"/>
                    <a:pt x="11734" y="8800"/>
                  </a:cubicBezTo>
                  <a:lnTo>
                    <a:pt x="11734" y="2400"/>
                  </a:lnTo>
                  <a:cubicBezTo>
                    <a:pt x="11734" y="2240"/>
                    <a:pt x="11627" y="2133"/>
                    <a:pt x="11467" y="21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12" name="文本框 111"/>
            <p:cNvSpPr txBox="1"/>
            <p:nvPr>
              <p:custDataLst>
                <p:tags r:id="rId42"/>
              </p:custDataLst>
            </p:nvPr>
          </p:nvSpPr>
          <p:spPr>
            <a:xfrm>
              <a:off x="5702515" y="11648203"/>
              <a:ext cx="1067599" cy="75656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p>
              <a:pPr marL="0" marR="0" indent="0" algn="ctr" defTabSz="82105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800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latin typeface="微软雅黑" panose="020B0604030504040204" pitchFamily="34" charset="-122"/>
                  <a:ea typeface="微软雅黑" panose="020B0604030504040204" pitchFamily="34" charset="-122"/>
                  <a:cs typeface="+mn-cs"/>
                  <a:sym typeface="微软雅黑" panose="020B0604030504040204" pitchFamily="34" charset="-122"/>
                </a:rPr>
                <a:t>虚拟机</a:t>
              </a:r>
              <a:endParaRPr kumimoji="0" lang="zh-CN" altLang="en-US" sz="800" b="1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n-cs"/>
                <a:sym typeface="微软雅黑" panose="020B0604030504040204" pitchFamily="34" charset="-122"/>
              </a:endParaRPr>
            </a:p>
            <a:p>
              <a:pPr marL="0" marR="0" indent="0" algn="ctr" defTabSz="82105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800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latin typeface="微软雅黑" panose="020B0604030504040204" pitchFamily="34" charset="-122"/>
                  <a:ea typeface="微软雅黑" panose="020B0604030504040204" pitchFamily="34" charset="-122"/>
                  <a:cs typeface="+mn-cs"/>
                  <a:sym typeface="微软雅黑" panose="020B0604030504040204" pitchFamily="34" charset="-122"/>
                </a:rPr>
                <a:t>Agent</a:t>
              </a:r>
              <a:endParaRPr kumimoji="0" lang="en-US" altLang="zh-CN" sz="800" b="1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n-cs"/>
                <a:sym typeface="微软雅黑" panose="020B0604030504040204" pitchFamily="34" charset="-122"/>
              </a:endParaRPr>
            </a:p>
          </p:txBody>
        </p:sp>
      </p:grpSp>
      <p:grpSp>
        <p:nvGrpSpPr>
          <p:cNvPr id="113" name="组合 112"/>
          <p:cNvGrpSpPr/>
          <p:nvPr/>
        </p:nvGrpSpPr>
        <p:grpSpPr>
          <a:xfrm>
            <a:off x="4684395" y="5442585"/>
            <a:ext cx="470535" cy="757630"/>
            <a:chOff x="5702515" y="10927403"/>
            <a:chExt cx="1067599" cy="1477361"/>
          </a:xfrm>
        </p:grpSpPr>
        <p:sp>
          <p:nvSpPr>
            <p:cNvPr id="114" name="iconfont-11206-4016491"/>
            <p:cNvSpPr>
              <a:spLocks noChangeAspect="1"/>
            </p:cNvSpPr>
            <p:nvPr>
              <p:custDataLst>
                <p:tags r:id="rId43"/>
              </p:custDataLst>
            </p:nvPr>
          </p:nvSpPr>
          <p:spPr>
            <a:xfrm>
              <a:off x="5859174" y="10927403"/>
              <a:ext cx="754279" cy="720000"/>
            </a:xfrm>
            <a:custGeom>
              <a:avLst/>
              <a:gdLst>
                <a:gd name="T0" fmla="*/ 3200 w 11734"/>
                <a:gd name="T1" fmla="*/ 2133 h 11200"/>
                <a:gd name="T2" fmla="*/ 4800 w 11734"/>
                <a:gd name="T3" fmla="*/ 1067 h 11200"/>
                <a:gd name="T4" fmla="*/ 4800 w 11734"/>
                <a:gd name="T5" fmla="*/ 2133 h 11200"/>
                <a:gd name="T6" fmla="*/ 6134 w 11734"/>
                <a:gd name="T7" fmla="*/ 1333 h 11200"/>
                <a:gd name="T8" fmla="*/ 8534 w 11734"/>
                <a:gd name="T9" fmla="*/ 1333 h 11200"/>
                <a:gd name="T10" fmla="*/ 3200 w 11734"/>
                <a:gd name="T11" fmla="*/ 4800 h 11200"/>
                <a:gd name="T12" fmla="*/ 4800 w 11734"/>
                <a:gd name="T13" fmla="*/ 3733 h 11200"/>
                <a:gd name="T14" fmla="*/ 4800 w 11734"/>
                <a:gd name="T15" fmla="*/ 4800 h 11200"/>
                <a:gd name="T16" fmla="*/ 6134 w 11734"/>
                <a:gd name="T17" fmla="*/ 4000 h 11200"/>
                <a:gd name="T18" fmla="*/ 8534 w 11734"/>
                <a:gd name="T19" fmla="*/ 4000 h 11200"/>
                <a:gd name="T20" fmla="*/ 3200 w 11734"/>
                <a:gd name="T21" fmla="*/ 7467 h 11200"/>
                <a:gd name="T22" fmla="*/ 4800 w 11734"/>
                <a:gd name="T23" fmla="*/ 6400 h 11200"/>
                <a:gd name="T24" fmla="*/ 4800 w 11734"/>
                <a:gd name="T25" fmla="*/ 7467 h 11200"/>
                <a:gd name="T26" fmla="*/ 6134 w 11734"/>
                <a:gd name="T27" fmla="*/ 6667 h 11200"/>
                <a:gd name="T28" fmla="*/ 8534 w 11734"/>
                <a:gd name="T29" fmla="*/ 6667 h 11200"/>
                <a:gd name="T30" fmla="*/ 3200 w 11734"/>
                <a:gd name="T31" fmla="*/ 10133 h 11200"/>
                <a:gd name="T32" fmla="*/ 4800 w 11734"/>
                <a:gd name="T33" fmla="*/ 9067 h 11200"/>
                <a:gd name="T34" fmla="*/ 4800 w 11734"/>
                <a:gd name="T35" fmla="*/ 10133 h 11200"/>
                <a:gd name="T36" fmla="*/ 6134 w 11734"/>
                <a:gd name="T37" fmla="*/ 9333 h 11200"/>
                <a:gd name="T38" fmla="*/ 8534 w 11734"/>
                <a:gd name="T39" fmla="*/ 9333 h 11200"/>
                <a:gd name="T40" fmla="*/ 2134 w 11734"/>
                <a:gd name="T41" fmla="*/ 267 h 11200"/>
                <a:gd name="T42" fmla="*/ 9334 w 11734"/>
                <a:gd name="T43" fmla="*/ 11200 h 11200"/>
                <a:gd name="T44" fmla="*/ 9334 w 11734"/>
                <a:gd name="T45" fmla="*/ 0 h 11200"/>
                <a:gd name="T46" fmla="*/ 2667 w 11734"/>
                <a:gd name="T47" fmla="*/ 8533 h 11200"/>
                <a:gd name="T48" fmla="*/ 9067 w 11734"/>
                <a:gd name="T49" fmla="*/ 8000 h 11200"/>
                <a:gd name="T50" fmla="*/ 9067 w 11734"/>
                <a:gd name="T51" fmla="*/ 5867 h 11200"/>
                <a:gd name="T52" fmla="*/ 2667 w 11734"/>
                <a:gd name="T53" fmla="*/ 5333 h 11200"/>
                <a:gd name="T54" fmla="*/ 9067 w 11734"/>
                <a:gd name="T55" fmla="*/ 5333 h 11200"/>
                <a:gd name="T56" fmla="*/ 2667 w 11734"/>
                <a:gd name="T57" fmla="*/ 533 h 11200"/>
                <a:gd name="T58" fmla="*/ 0 w 11734"/>
                <a:gd name="T59" fmla="*/ 2400 h 11200"/>
                <a:gd name="T60" fmla="*/ 1600 w 11734"/>
                <a:gd name="T61" fmla="*/ 9067 h 11200"/>
                <a:gd name="T62" fmla="*/ 534 w 11734"/>
                <a:gd name="T63" fmla="*/ 7467 h 11200"/>
                <a:gd name="T64" fmla="*/ 534 w 11734"/>
                <a:gd name="T65" fmla="*/ 6933 h 11200"/>
                <a:gd name="T66" fmla="*/ 1600 w 11734"/>
                <a:gd name="T67" fmla="*/ 5333 h 11200"/>
                <a:gd name="T68" fmla="*/ 1600 w 11734"/>
                <a:gd name="T69" fmla="*/ 4267 h 11200"/>
                <a:gd name="T70" fmla="*/ 534 w 11734"/>
                <a:gd name="T71" fmla="*/ 2667 h 11200"/>
                <a:gd name="T72" fmla="*/ 267 w 11734"/>
                <a:gd name="T73" fmla="*/ 2133 h 11200"/>
                <a:gd name="T74" fmla="*/ 10134 w 11734"/>
                <a:gd name="T75" fmla="*/ 2133 h 11200"/>
                <a:gd name="T76" fmla="*/ 11200 w 11734"/>
                <a:gd name="T77" fmla="*/ 3733 h 11200"/>
                <a:gd name="T78" fmla="*/ 11200 w 11734"/>
                <a:gd name="T79" fmla="*/ 4267 h 11200"/>
                <a:gd name="T80" fmla="*/ 10134 w 11734"/>
                <a:gd name="T81" fmla="*/ 5867 h 11200"/>
                <a:gd name="T82" fmla="*/ 10134 w 11734"/>
                <a:gd name="T83" fmla="*/ 6933 h 11200"/>
                <a:gd name="T84" fmla="*/ 11200 w 11734"/>
                <a:gd name="T85" fmla="*/ 8533 h 11200"/>
                <a:gd name="T86" fmla="*/ 11467 w 11734"/>
                <a:gd name="T87" fmla="*/ 9067 h 11200"/>
                <a:gd name="T88" fmla="*/ 11467 w 11734"/>
                <a:gd name="T89" fmla="*/ 2133 h 1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34" h="11200">
                  <a:moveTo>
                    <a:pt x="3734" y="1067"/>
                  </a:moveTo>
                  <a:lnTo>
                    <a:pt x="3200" y="1067"/>
                  </a:lnTo>
                  <a:lnTo>
                    <a:pt x="3200" y="2133"/>
                  </a:lnTo>
                  <a:lnTo>
                    <a:pt x="3734" y="2133"/>
                  </a:lnTo>
                  <a:lnTo>
                    <a:pt x="3734" y="1067"/>
                  </a:lnTo>
                  <a:close/>
                  <a:moveTo>
                    <a:pt x="4800" y="1067"/>
                  </a:moveTo>
                  <a:lnTo>
                    <a:pt x="4267" y="1067"/>
                  </a:lnTo>
                  <a:lnTo>
                    <a:pt x="4267" y="2133"/>
                  </a:lnTo>
                  <a:lnTo>
                    <a:pt x="4800" y="2133"/>
                  </a:lnTo>
                  <a:lnTo>
                    <a:pt x="4800" y="1067"/>
                  </a:lnTo>
                  <a:close/>
                  <a:moveTo>
                    <a:pt x="8534" y="1333"/>
                  </a:moveTo>
                  <a:lnTo>
                    <a:pt x="6134" y="1333"/>
                  </a:lnTo>
                  <a:lnTo>
                    <a:pt x="6134" y="1867"/>
                  </a:lnTo>
                  <a:lnTo>
                    <a:pt x="8534" y="1867"/>
                  </a:lnTo>
                  <a:lnTo>
                    <a:pt x="8534" y="1333"/>
                  </a:lnTo>
                  <a:close/>
                  <a:moveTo>
                    <a:pt x="3734" y="3733"/>
                  </a:moveTo>
                  <a:lnTo>
                    <a:pt x="3200" y="3733"/>
                  </a:lnTo>
                  <a:lnTo>
                    <a:pt x="3200" y="4800"/>
                  </a:lnTo>
                  <a:lnTo>
                    <a:pt x="3734" y="4800"/>
                  </a:lnTo>
                  <a:lnTo>
                    <a:pt x="3734" y="3733"/>
                  </a:lnTo>
                  <a:close/>
                  <a:moveTo>
                    <a:pt x="4800" y="3733"/>
                  </a:moveTo>
                  <a:lnTo>
                    <a:pt x="4267" y="3733"/>
                  </a:lnTo>
                  <a:lnTo>
                    <a:pt x="4267" y="4800"/>
                  </a:lnTo>
                  <a:lnTo>
                    <a:pt x="4800" y="4800"/>
                  </a:lnTo>
                  <a:lnTo>
                    <a:pt x="4800" y="3733"/>
                  </a:lnTo>
                  <a:close/>
                  <a:moveTo>
                    <a:pt x="8534" y="4000"/>
                  </a:moveTo>
                  <a:lnTo>
                    <a:pt x="6134" y="4000"/>
                  </a:lnTo>
                  <a:lnTo>
                    <a:pt x="6134" y="4533"/>
                  </a:lnTo>
                  <a:lnTo>
                    <a:pt x="8534" y="4533"/>
                  </a:lnTo>
                  <a:lnTo>
                    <a:pt x="8534" y="4000"/>
                  </a:lnTo>
                  <a:close/>
                  <a:moveTo>
                    <a:pt x="3734" y="6400"/>
                  </a:moveTo>
                  <a:lnTo>
                    <a:pt x="3200" y="6400"/>
                  </a:lnTo>
                  <a:lnTo>
                    <a:pt x="3200" y="7467"/>
                  </a:lnTo>
                  <a:lnTo>
                    <a:pt x="3734" y="7467"/>
                  </a:lnTo>
                  <a:lnTo>
                    <a:pt x="3734" y="6400"/>
                  </a:lnTo>
                  <a:close/>
                  <a:moveTo>
                    <a:pt x="4800" y="6400"/>
                  </a:moveTo>
                  <a:lnTo>
                    <a:pt x="4267" y="6400"/>
                  </a:lnTo>
                  <a:lnTo>
                    <a:pt x="4267" y="7467"/>
                  </a:lnTo>
                  <a:lnTo>
                    <a:pt x="4800" y="7467"/>
                  </a:lnTo>
                  <a:lnTo>
                    <a:pt x="4800" y="6400"/>
                  </a:lnTo>
                  <a:close/>
                  <a:moveTo>
                    <a:pt x="8534" y="6667"/>
                  </a:moveTo>
                  <a:lnTo>
                    <a:pt x="6134" y="6667"/>
                  </a:lnTo>
                  <a:lnTo>
                    <a:pt x="6134" y="7200"/>
                  </a:lnTo>
                  <a:lnTo>
                    <a:pt x="8534" y="7200"/>
                  </a:lnTo>
                  <a:lnTo>
                    <a:pt x="8534" y="6667"/>
                  </a:lnTo>
                  <a:close/>
                  <a:moveTo>
                    <a:pt x="3734" y="9067"/>
                  </a:moveTo>
                  <a:lnTo>
                    <a:pt x="3200" y="9067"/>
                  </a:lnTo>
                  <a:lnTo>
                    <a:pt x="3200" y="10133"/>
                  </a:lnTo>
                  <a:lnTo>
                    <a:pt x="3734" y="10133"/>
                  </a:lnTo>
                  <a:lnTo>
                    <a:pt x="3734" y="9067"/>
                  </a:lnTo>
                  <a:close/>
                  <a:moveTo>
                    <a:pt x="4800" y="9067"/>
                  </a:moveTo>
                  <a:lnTo>
                    <a:pt x="4267" y="9067"/>
                  </a:lnTo>
                  <a:lnTo>
                    <a:pt x="4267" y="10133"/>
                  </a:lnTo>
                  <a:lnTo>
                    <a:pt x="4800" y="10133"/>
                  </a:lnTo>
                  <a:lnTo>
                    <a:pt x="4800" y="9067"/>
                  </a:lnTo>
                  <a:close/>
                  <a:moveTo>
                    <a:pt x="8534" y="9333"/>
                  </a:moveTo>
                  <a:lnTo>
                    <a:pt x="6134" y="9333"/>
                  </a:lnTo>
                  <a:lnTo>
                    <a:pt x="6134" y="9867"/>
                  </a:lnTo>
                  <a:lnTo>
                    <a:pt x="8534" y="9867"/>
                  </a:lnTo>
                  <a:lnTo>
                    <a:pt x="8534" y="9333"/>
                  </a:lnTo>
                  <a:close/>
                  <a:moveTo>
                    <a:pt x="9334" y="0"/>
                  </a:moveTo>
                  <a:lnTo>
                    <a:pt x="2400" y="0"/>
                  </a:lnTo>
                  <a:cubicBezTo>
                    <a:pt x="2240" y="0"/>
                    <a:pt x="2134" y="107"/>
                    <a:pt x="2134" y="267"/>
                  </a:cubicBezTo>
                  <a:lnTo>
                    <a:pt x="2134" y="10933"/>
                  </a:lnTo>
                  <a:cubicBezTo>
                    <a:pt x="2134" y="11093"/>
                    <a:pt x="2240" y="11200"/>
                    <a:pt x="2400" y="11200"/>
                  </a:cubicBezTo>
                  <a:lnTo>
                    <a:pt x="9334" y="11200"/>
                  </a:lnTo>
                  <a:cubicBezTo>
                    <a:pt x="9494" y="11200"/>
                    <a:pt x="9600" y="11093"/>
                    <a:pt x="9600" y="10933"/>
                  </a:cubicBezTo>
                  <a:lnTo>
                    <a:pt x="9600" y="267"/>
                  </a:lnTo>
                  <a:cubicBezTo>
                    <a:pt x="9600" y="107"/>
                    <a:pt x="9494" y="0"/>
                    <a:pt x="9334" y="0"/>
                  </a:cubicBezTo>
                  <a:close/>
                  <a:moveTo>
                    <a:pt x="9067" y="10667"/>
                  </a:moveTo>
                  <a:lnTo>
                    <a:pt x="2667" y="10667"/>
                  </a:lnTo>
                  <a:lnTo>
                    <a:pt x="2667" y="8533"/>
                  </a:lnTo>
                  <a:lnTo>
                    <a:pt x="9067" y="8533"/>
                  </a:lnTo>
                  <a:lnTo>
                    <a:pt x="9067" y="10667"/>
                  </a:lnTo>
                  <a:close/>
                  <a:moveTo>
                    <a:pt x="9067" y="8000"/>
                  </a:moveTo>
                  <a:lnTo>
                    <a:pt x="2667" y="8000"/>
                  </a:lnTo>
                  <a:lnTo>
                    <a:pt x="2667" y="5867"/>
                  </a:lnTo>
                  <a:lnTo>
                    <a:pt x="9067" y="5867"/>
                  </a:lnTo>
                  <a:lnTo>
                    <a:pt x="9067" y="8000"/>
                  </a:lnTo>
                  <a:close/>
                  <a:moveTo>
                    <a:pt x="9067" y="5333"/>
                  </a:moveTo>
                  <a:lnTo>
                    <a:pt x="2667" y="5333"/>
                  </a:lnTo>
                  <a:lnTo>
                    <a:pt x="2667" y="3200"/>
                  </a:lnTo>
                  <a:lnTo>
                    <a:pt x="9067" y="3200"/>
                  </a:lnTo>
                  <a:lnTo>
                    <a:pt x="9067" y="5333"/>
                  </a:lnTo>
                  <a:close/>
                  <a:moveTo>
                    <a:pt x="9067" y="2667"/>
                  </a:moveTo>
                  <a:lnTo>
                    <a:pt x="2667" y="2667"/>
                  </a:lnTo>
                  <a:lnTo>
                    <a:pt x="2667" y="533"/>
                  </a:lnTo>
                  <a:lnTo>
                    <a:pt x="9067" y="533"/>
                  </a:lnTo>
                  <a:lnTo>
                    <a:pt x="9067" y="2667"/>
                  </a:lnTo>
                  <a:close/>
                  <a:moveTo>
                    <a:pt x="0" y="2400"/>
                  </a:moveTo>
                  <a:lnTo>
                    <a:pt x="0" y="8800"/>
                  </a:lnTo>
                  <a:cubicBezTo>
                    <a:pt x="0" y="8960"/>
                    <a:pt x="107" y="9067"/>
                    <a:pt x="267" y="9067"/>
                  </a:cubicBezTo>
                  <a:lnTo>
                    <a:pt x="1600" y="9067"/>
                  </a:lnTo>
                  <a:lnTo>
                    <a:pt x="1600" y="8533"/>
                  </a:lnTo>
                  <a:lnTo>
                    <a:pt x="534" y="8533"/>
                  </a:lnTo>
                  <a:lnTo>
                    <a:pt x="534" y="7467"/>
                  </a:lnTo>
                  <a:lnTo>
                    <a:pt x="1600" y="7467"/>
                  </a:lnTo>
                  <a:lnTo>
                    <a:pt x="1600" y="6933"/>
                  </a:lnTo>
                  <a:lnTo>
                    <a:pt x="534" y="6933"/>
                  </a:lnTo>
                  <a:lnTo>
                    <a:pt x="534" y="5867"/>
                  </a:lnTo>
                  <a:lnTo>
                    <a:pt x="1600" y="5867"/>
                  </a:lnTo>
                  <a:lnTo>
                    <a:pt x="1600" y="5333"/>
                  </a:lnTo>
                  <a:lnTo>
                    <a:pt x="534" y="5333"/>
                  </a:lnTo>
                  <a:lnTo>
                    <a:pt x="534" y="4267"/>
                  </a:lnTo>
                  <a:lnTo>
                    <a:pt x="1600" y="4267"/>
                  </a:lnTo>
                  <a:lnTo>
                    <a:pt x="1600" y="3733"/>
                  </a:lnTo>
                  <a:lnTo>
                    <a:pt x="534" y="3733"/>
                  </a:lnTo>
                  <a:lnTo>
                    <a:pt x="534" y="2667"/>
                  </a:lnTo>
                  <a:lnTo>
                    <a:pt x="1600" y="2667"/>
                  </a:lnTo>
                  <a:lnTo>
                    <a:pt x="1600" y="2133"/>
                  </a:lnTo>
                  <a:lnTo>
                    <a:pt x="267" y="2133"/>
                  </a:lnTo>
                  <a:cubicBezTo>
                    <a:pt x="107" y="2133"/>
                    <a:pt x="0" y="2240"/>
                    <a:pt x="0" y="2400"/>
                  </a:cubicBezTo>
                  <a:close/>
                  <a:moveTo>
                    <a:pt x="11467" y="2133"/>
                  </a:moveTo>
                  <a:lnTo>
                    <a:pt x="10134" y="2133"/>
                  </a:lnTo>
                  <a:lnTo>
                    <a:pt x="10134" y="2667"/>
                  </a:lnTo>
                  <a:lnTo>
                    <a:pt x="11200" y="2667"/>
                  </a:lnTo>
                  <a:lnTo>
                    <a:pt x="11200" y="3733"/>
                  </a:lnTo>
                  <a:lnTo>
                    <a:pt x="10134" y="3733"/>
                  </a:lnTo>
                  <a:lnTo>
                    <a:pt x="10134" y="4267"/>
                  </a:lnTo>
                  <a:lnTo>
                    <a:pt x="11200" y="4267"/>
                  </a:lnTo>
                  <a:lnTo>
                    <a:pt x="11200" y="5333"/>
                  </a:lnTo>
                  <a:lnTo>
                    <a:pt x="10134" y="5333"/>
                  </a:lnTo>
                  <a:lnTo>
                    <a:pt x="10134" y="5867"/>
                  </a:lnTo>
                  <a:lnTo>
                    <a:pt x="11200" y="5867"/>
                  </a:lnTo>
                  <a:lnTo>
                    <a:pt x="11200" y="6933"/>
                  </a:lnTo>
                  <a:lnTo>
                    <a:pt x="10134" y="6933"/>
                  </a:lnTo>
                  <a:lnTo>
                    <a:pt x="10134" y="7467"/>
                  </a:lnTo>
                  <a:lnTo>
                    <a:pt x="11200" y="7467"/>
                  </a:lnTo>
                  <a:lnTo>
                    <a:pt x="11200" y="8533"/>
                  </a:lnTo>
                  <a:lnTo>
                    <a:pt x="10134" y="8533"/>
                  </a:lnTo>
                  <a:lnTo>
                    <a:pt x="10134" y="9067"/>
                  </a:lnTo>
                  <a:lnTo>
                    <a:pt x="11467" y="9067"/>
                  </a:lnTo>
                  <a:cubicBezTo>
                    <a:pt x="11627" y="9067"/>
                    <a:pt x="11734" y="8960"/>
                    <a:pt x="11734" y="8800"/>
                  </a:cubicBezTo>
                  <a:lnTo>
                    <a:pt x="11734" y="2400"/>
                  </a:lnTo>
                  <a:cubicBezTo>
                    <a:pt x="11734" y="2240"/>
                    <a:pt x="11627" y="2133"/>
                    <a:pt x="11467" y="21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15" name="文本框 114"/>
            <p:cNvSpPr txBox="1"/>
            <p:nvPr>
              <p:custDataLst>
                <p:tags r:id="rId44"/>
              </p:custDataLst>
            </p:nvPr>
          </p:nvSpPr>
          <p:spPr>
            <a:xfrm>
              <a:off x="5702515" y="11648203"/>
              <a:ext cx="1067599" cy="75656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p>
              <a:pPr marL="0" marR="0" indent="0" algn="ctr" defTabSz="82105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800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latin typeface="微软雅黑" panose="020B0604030504040204" pitchFamily="34" charset="-122"/>
                  <a:ea typeface="微软雅黑" panose="020B0604030504040204" pitchFamily="34" charset="-122"/>
                  <a:cs typeface="+mn-cs"/>
                  <a:sym typeface="微软雅黑" panose="020B0604030504040204" pitchFamily="34" charset="-122"/>
                </a:rPr>
                <a:t>虚拟机</a:t>
              </a:r>
              <a:endParaRPr kumimoji="0" lang="zh-CN" altLang="en-US" sz="800" b="1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n-cs"/>
                <a:sym typeface="微软雅黑" panose="020B0604030504040204" pitchFamily="34" charset="-122"/>
              </a:endParaRPr>
            </a:p>
            <a:p>
              <a:pPr marL="0" marR="0" indent="0" algn="ctr" defTabSz="82105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800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latin typeface="微软雅黑" panose="020B0604030504040204" pitchFamily="34" charset="-122"/>
                  <a:ea typeface="微软雅黑" panose="020B0604030504040204" pitchFamily="34" charset="-122"/>
                  <a:cs typeface="+mn-cs"/>
                  <a:sym typeface="微软雅黑" panose="020B0604030504040204" pitchFamily="34" charset="-122"/>
                </a:rPr>
                <a:t>Agent</a:t>
              </a:r>
              <a:endParaRPr kumimoji="0" lang="en-US" altLang="zh-CN" sz="800" b="1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n-cs"/>
                <a:sym typeface="微软雅黑" panose="020B0604030504040204" pitchFamily="34" charset="-122"/>
              </a:endParaRPr>
            </a:p>
          </p:txBody>
        </p:sp>
      </p:grpSp>
      <p:grpSp>
        <p:nvGrpSpPr>
          <p:cNvPr id="116" name="组合 115"/>
          <p:cNvGrpSpPr/>
          <p:nvPr/>
        </p:nvGrpSpPr>
        <p:grpSpPr>
          <a:xfrm>
            <a:off x="5842635" y="5442585"/>
            <a:ext cx="470535" cy="757630"/>
            <a:chOff x="5702515" y="10927403"/>
            <a:chExt cx="1067599" cy="1477361"/>
          </a:xfrm>
        </p:grpSpPr>
        <p:sp>
          <p:nvSpPr>
            <p:cNvPr id="117" name="iconfont-11206-4016491"/>
            <p:cNvSpPr>
              <a:spLocks noChangeAspect="1"/>
            </p:cNvSpPr>
            <p:nvPr>
              <p:custDataLst>
                <p:tags r:id="rId45"/>
              </p:custDataLst>
            </p:nvPr>
          </p:nvSpPr>
          <p:spPr>
            <a:xfrm>
              <a:off x="5859174" y="10927403"/>
              <a:ext cx="754279" cy="720000"/>
            </a:xfrm>
            <a:custGeom>
              <a:avLst/>
              <a:gdLst>
                <a:gd name="T0" fmla="*/ 3200 w 11734"/>
                <a:gd name="T1" fmla="*/ 2133 h 11200"/>
                <a:gd name="T2" fmla="*/ 4800 w 11734"/>
                <a:gd name="T3" fmla="*/ 1067 h 11200"/>
                <a:gd name="T4" fmla="*/ 4800 w 11734"/>
                <a:gd name="T5" fmla="*/ 2133 h 11200"/>
                <a:gd name="T6" fmla="*/ 6134 w 11734"/>
                <a:gd name="T7" fmla="*/ 1333 h 11200"/>
                <a:gd name="T8" fmla="*/ 8534 w 11734"/>
                <a:gd name="T9" fmla="*/ 1333 h 11200"/>
                <a:gd name="T10" fmla="*/ 3200 w 11734"/>
                <a:gd name="T11" fmla="*/ 4800 h 11200"/>
                <a:gd name="T12" fmla="*/ 4800 w 11734"/>
                <a:gd name="T13" fmla="*/ 3733 h 11200"/>
                <a:gd name="T14" fmla="*/ 4800 w 11734"/>
                <a:gd name="T15" fmla="*/ 4800 h 11200"/>
                <a:gd name="T16" fmla="*/ 6134 w 11734"/>
                <a:gd name="T17" fmla="*/ 4000 h 11200"/>
                <a:gd name="T18" fmla="*/ 8534 w 11734"/>
                <a:gd name="T19" fmla="*/ 4000 h 11200"/>
                <a:gd name="T20" fmla="*/ 3200 w 11734"/>
                <a:gd name="T21" fmla="*/ 7467 h 11200"/>
                <a:gd name="T22" fmla="*/ 4800 w 11734"/>
                <a:gd name="T23" fmla="*/ 6400 h 11200"/>
                <a:gd name="T24" fmla="*/ 4800 w 11734"/>
                <a:gd name="T25" fmla="*/ 7467 h 11200"/>
                <a:gd name="T26" fmla="*/ 6134 w 11734"/>
                <a:gd name="T27" fmla="*/ 6667 h 11200"/>
                <a:gd name="T28" fmla="*/ 8534 w 11734"/>
                <a:gd name="T29" fmla="*/ 6667 h 11200"/>
                <a:gd name="T30" fmla="*/ 3200 w 11734"/>
                <a:gd name="T31" fmla="*/ 10133 h 11200"/>
                <a:gd name="T32" fmla="*/ 4800 w 11734"/>
                <a:gd name="T33" fmla="*/ 9067 h 11200"/>
                <a:gd name="T34" fmla="*/ 4800 w 11734"/>
                <a:gd name="T35" fmla="*/ 10133 h 11200"/>
                <a:gd name="T36" fmla="*/ 6134 w 11734"/>
                <a:gd name="T37" fmla="*/ 9333 h 11200"/>
                <a:gd name="T38" fmla="*/ 8534 w 11734"/>
                <a:gd name="T39" fmla="*/ 9333 h 11200"/>
                <a:gd name="T40" fmla="*/ 2134 w 11734"/>
                <a:gd name="T41" fmla="*/ 267 h 11200"/>
                <a:gd name="T42" fmla="*/ 9334 w 11734"/>
                <a:gd name="T43" fmla="*/ 11200 h 11200"/>
                <a:gd name="T44" fmla="*/ 9334 w 11734"/>
                <a:gd name="T45" fmla="*/ 0 h 11200"/>
                <a:gd name="T46" fmla="*/ 2667 w 11734"/>
                <a:gd name="T47" fmla="*/ 8533 h 11200"/>
                <a:gd name="T48" fmla="*/ 9067 w 11734"/>
                <a:gd name="T49" fmla="*/ 8000 h 11200"/>
                <a:gd name="T50" fmla="*/ 9067 w 11734"/>
                <a:gd name="T51" fmla="*/ 5867 h 11200"/>
                <a:gd name="T52" fmla="*/ 2667 w 11734"/>
                <a:gd name="T53" fmla="*/ 5333 h 11200"/>
                <a:gd name="T54" fmla="*/ 9067 w 11734"/>
                <a:gd name="T55" fmla="*/ 5333 h 11200"/>
                <a:gd name="T56" fmla="*/ 2667 w 11734"/>
                <a:gd name="T57" fmla="*/ 533 h 11200"/>
                <a:gd name="T58" fmla="*/ 0 w 11734"/>
                <a:gd name="T59" fmla="*/ 2400 h 11200"/>
                <a:gd name="T60" fmla="*/ 1600 w 11734"/>
                <a:gd name="T61" fmla="*/ 9067 h 11200"/>
                <a:gd name="T62" fmla="*/ 534 w 11734"/>
                <a:gd name="T63" fmla="*/ 7467 h 11200"/>
                <a:gd name="T64" fmla="*/ 534 w 11734"/>
                <a:gd name="T65" fmla="*/ 6933 h 11200"/>
                <a:gd name="T66" fmla="*/ 1600 w 11734"/>
                <a:gd name="T67" fmla="*/ 5333 h 11200"/>
                <a:gd name="T68" fmla="*/ 1600 w 11734"/>
                <a:gd name="T69" fmla="*/ 4267 h 11200"/>
                <a:gd name="T70" fmla="*/ 534 w 11734"/>
                <a:gd name="T71" fmla="*/ 2667 h 11200"/>
                <a:gd name="T72" fmla="*/ 267 w 11734"/>
                <a:gd name="T73" fmla="*/ 2133 h 11200"/>
                <a:gd name="T74" fmla="*/ 10134 w 11734"/>
                <a:gd name="T75" fmla="*/ 2133 h 11200"/>
                <a:gd name="T76" fmla="*/ 11200 w 11734"/>
                <a:gd name="T77" fmla="*/ 3733 h 11200"/>
                <a:gd name="T78" fmla="*/ 11200 w 11734"/>
                <a:gd name="T79" fmla="*/ 4267 h 11200"/>
                <a:gd name="T80" fmla="*/ 10134 w 11734"/>
                <a:gd name="T81" fmla="*/ 5867 h 11200"/>
                <a:gd name="T82" fmla="*/ 10134 w 11734"/>
                <a:gd name="T83" fmla="*/ 6933 h 11200"/>
                <a:gd name="T84" fmla="*/ 11200 w 11734"/>
                <a:gd name="T85" fmla="*/ 8533 h 11200"/>
                <a:gd name="T86" fmla="*/ 11467 w 11734"/>
                <a:gd name="T87" fmla="*/ 9067 h 11200"/>
                <a:gd name="T88" fmla="*/ 11467 w 11734"/>
                <a:gd name="T89" fmla="*/ 2133 h 1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34" h="11200">
                  <a:moveTo>
                    <a:pt x="3734" y="1067"/>
                  </a:moveTo>
                  <a:lnTo>
                    <a:pt x="3200" y="1067"/>
                  </a:lnTo>
                  <a:lnTo>
                    <a:pt x="3200" y="2133"/>
                  </a:lnTo>
                  <a:lnTo>
                    <a:pt x="3734" y="2133"/>
                  </a:lnTo>
                  <a:lnTo>
                    <a:pt x="3734" y="1067"/>
                  </a:lnTo>
                  <a:close/>
                  <a:moveTo>
                    <a:pt x="4800" y="1067"/>
                  </a:moveTo>
                  <a:lnTo>
                    <a:pt x="4267" y="1067"/>
                  </a:lnTo>
                  <a:lnTo>
                    <a:pt x="4267" y="2133"/>
                  </a:lnTo>
                  <a:lnTo>
                    <a:pt x="4800" y="2133"/>
                  </a:lnTo>
                  <a:lnTo>
                    <a:pt x="4800" y="1067"/>
                  </a:lnTo>
                  <a:close/>
                  <a:moveTo>
                    <a:pt x="8534" y="1333"/>
                  </a:moveTo>
                  <a:lnTo>
                    <a:pt x="6134" y="1333"/>
                  </a:lnTo>
                  <a:lnTo>
                    <a:pt x="6134" y="1867"/>
                  </a:lnTo>
                  <a:lnTo>
                    <a:pt x="8534" y="1867"/>
                  </a:lnTo>
                  <a:lnTo>
                    <a:pt x="8534" y="1333"/>
                  </a:lnTo>
                  <a:close/>
                  <a:moveTo>
                    <a:pt x="3734" y="3733"/>
                  </a:moveTo>
                  <a:lnTo>
                    <a:pt x="3200" y="3733"/>
                  </a:lnTo>
                  <a:lnTo>
                    <a:pt x="3200" y="4800"/>
                  </a:lnTo>
                  <a:lnTo>
                    <a:pt x="3734" y="4800"/>
                  </a:lnTo>
                  <a:lnTo>
                    <a:pt x="3734" y="3733"/>
                  </a:lnTo>
                  <a:close/>
                  <a:moveTo>
                    <a:pt x="4800" y="3733"/>
                  </a:moveTo>
                  <a:lnTo>
                    <a:pt x="4267" y="3733"/>
                  </a:lnTo>
                  <a:lnTo>
                    <a:pt x="4267" y="4800"/>
                  </a:lnTo>
                  <a:lnTo>
                    <a:pt x="4800" y="4800"/>
                  </a:lnTo>
                  <a:lnTo>
                    <a:pt x="4800" y="3733"/>
                  </a:lnTo>
                  <a:close/>
                  <a:moveTo>
                    <a:pt x="8534" y="4000"/>
                  </a:moveTo>
                  <a:lnTo>
                    <a:pt x="6134" y="4000"/>
                  </a:lnTo>
                  <a:lnTo>
                    <a:pt x="6134" y="4533"/>
                  </a:lnTo>
                  <a:lnTo>
                    <a:pt x="8534" y="4533"/>
                  </a:lnTo>
                  <a:lnTo>
                    <a:pt x="8534" y="4000"/>
                  </a:lnTo>
                  <a:close/>
                  <a:moveTo>
                    <a:pt x="3734" y="6400"/>
                  </a:moveTo>
                  <a:lnTo>
                    <a:pt x="3200" y="6400"/>
                  </a:lnTo>
                  <a:lnTo>
                    <a:pt x="3200" y="7467"/>
                  </a:lnTo>
                  <a:lnTo>
                    <a:pt x="3734" y="7467"/>
                  </a:lnTo>
                  <a:lnTo>
                    <a:pt x="3734" y="6400"/>
                  </a:lnTo>
                  <a:close/>
                  <a:moveTo>
                    <a:pt x="4800" y="6400"/>
                  </a:moveTo>
                  <a:lnTo>
                    <a:pt x="4267" y="6400"/>
                  </a:lnTo>
                  <a:lnTo>
                    <a:pt x="4267" y="7467"/>
                  </a:lnTo>
                  <a:lnTo>
                    <a:pt x="4800" y="7467"/>
                  </a:lnTo>
                  <a:lnTo>
                    <a:pt x="4800" y="6400"/>
                  </a:lnTo>
                  <a:close/>
                  <a:moveTo>
                    <a:pt x="8534" y="6667"/>
                  </a:moveTo>
                  <a:lnTo>
                    <a:pt x="6134" y="6667"/>
                  </a:lnTo>
                  <a:lnTo>
                    <a:pt x="6134" y="7200"/>
                  </a:lnTo>
                  <a:lnTo>
                    <a:pt x="8534" y="7200"/>
                  </a:lnTo>
                  <a:lnTo>
                    <a:pt x="8534" y="6667"/>
                  </a:lnTo>
                  <a:close/>
                  <a:moveTo>
                    <a:pt x="3734" y="9067"/>
                  </a:moveTo>
                  <a:lnTo>
                    <a:pt x="3200" y="9067"/>
                  </a:lnTo>
                  <a:lnTo>
                    <a:pt x="3200" y="10133"/>
                  </a:lnTo>
                  <a:lnTo>
                    <a:pt x="3734" y="10133"/>
                  </a:lnTo>
                  <a:lnTo>
                    <a:pt x="3734" y="9067"/>
                  </a:lnTo>
                  <a:close/>
                  <a:moveTo>
                    <a:pt x="4800" y="9067"/>
                  </a:moveTo>
                  <a:lnTo>
                    <a:pt x="4267" y="9067"/>
                  </a:lnTo>
                  <a:lnTo>
                    <a:pt x="4267" y="10133"/>
                  </a:lnTo>
                  <a:lnTo>
                    <a:pt x="4800" y="10133"/>
                  </a:lnTo>
                  <a:lnTo>
                    <a:pt x="4800" y="9067"/>
                  </a:lnTo>
                  <a:close/>
                  <a:moveTo>
                    <a:pt x="8534" y="9333"/>
                  </a:moveTo>
                  <a:lnTo>
                    <a:pt x="6134" y="9333"/>
                  </a:lnTo>
                  <a:lnTo>
                    <a:pt x="6134" y="9867"/>
                  </a:lnTo>
                  <a:lnTo>
                    <a:pt x="8534" y="9867"/>
                  </a:lnTo>
                  <a:lnTo>
                    <a:pt x="8534" y="9333"/>
                  </a:lnTo>
                  <a:close/>
                  <a:moveTo>
                    <a:pt x="9334" y="0"/>
                  </a:moveTo>
                  <a:lnTo>
                    <a:pt x="2400" y="0"/>
                  </a:lnTo>
                  <a:cubicBezTo>
                    <a:pt x="2240" y="0"/>
                    <a:pt x="2134" y="107"/>
                    <a:pt x="2134" y="267"/>
                  </a:cubicBezTo>
                  <a:lnTo>
                    <a:pt x="2134" y="10933"/>
                  </a:lnTo>
                  <a:cubicBezTo>
                    <a:pt x="2134" y="11093"/>
                    <a:pt x="2240" y="11200"/>
                    <a:pt x="2400" y="11200"/>
                  </a:cubicBezTo>
                  <a:lnTo>
                    <a:pt x="9334" y="11200"/>
                  </a:lnTo>
                  <a:cubicBezTo>
                    <a:pt x="9494" y="11200"/>
                    <a:pt x="9600" y="11093"/>
                    <a:pt x="9600" y="10933"/>
                  </a:cubicBezTo>
                  <a:lnTo>
                    <a:pt x="9600" y="267"/>
                  </a:lnTo>
                  <a:cubicBezTo>
                    <a:pt x="9600" y="107"/>
                    <a:pt x="9494" y="0"/>
                    <a:pt x="9334" y="0"/>
                  </a:cubicBezTo>
                  <a:close/>
                  <a:moveTo>
                    <a:pt x="9067" y="10667"/>
                  </a:moveTo>
                  <a:lnTo>
                    <a:pt x="2667" y="10667"/>
                  </a:lnTo>
                  <a:lnTo>
                    <a:pt x="2667" y="8533"/>
                  </a:lnTo>
                  <a:lnTo>
                    <a:pt x="9067" y="8533"/>
                  </a:lnTo>
                  <a:lnTo>
                    <a:pt x="9067" y="10667"/>
                  </a:lnTo>
                  <a:close/>
                  <a:moveTo>
                    <a:pt x="9067" y="8000"/>
                  </a:moveTo>
                  <a:lnTo>
                    <a:pt x="2667" y="8000"/>
                  </a:lnTo>
                  <a:lnTo>
                    <a:pt x="2667" y="5867"/>
                  </a:lnTo>
                  <a:lnTo>
                    <a:pt x="9067" y="5867"/>
                  </a:lnTo>
                  <a:lnTo>
                    <a:pt x="9067" y="8000"/>
                  </a:lnTo>
                  <a:close/>
                  <a:moveTo>
                    <a:pt x="9067" y="5333"/>
                  </a:moveTo>
                  <a:lnTo>
                    <a:pt x="2667" y="5333"/>
                  </a:lnTo>
                  <a:lnTo>
                    <a:pt x="2667" y="3200"/>
                  </a:lnTo>
                  <a:lnTo>
                    <a:pt x="9067" y="3200"/>
                  </a:lnTo>
                  <a:lnTo>
                    <a:pt x="9067" y="5333"/>
                  </a:lnTo>
                  <a:close/>
                  <a:moveTo>
                    <a:pt x="9067" y="2667"/>
                  </a:moveTo>
                  <a:lnTo>
                    <a:pt x="2667" y="2667"/>
                  </a:lnTo>
                  <a:lnTo>
                    <a:pt x="2667" y="533"/>
                  </a:lnTo>
                  <a:lnTo>
                    <a:pt x="9067" y="533"/>
                  </a:lnTo>
                  <a:lnTo>
                    <a:pt x="9067" y="2667"/>
                  </a:lnTo>
                  <a:close/>
                  <a:moveTo>
                    <a:pt x="0" y="2400"/>
                  </a:moveTo>
                  <a:lnTo>
                    <a:pt x="0" y="8800"/>
                  </a:lnTo>
                  <a:cubicBezTo>
                    <a:pt x="0" y="8960"/>
                    <a:pt x="107" y="9067"/>
                    <a:pt x="267" y="9067"/>
                  </a:cubicBezTo>
                  <a:lnTo>
                    <a:pt x="1600" y="9067"/>
                  </a:lnTo>
                  <a:lnTo>
                    <a:pt x="1600" y="8533"/>
                  </a:lnTo>
                  <a:lnTo>
                    <a:pt x="534" y="8533"/>
                  </a:lnTo>
                  <a:lnTo>
                    <a:pt x="534" y="7467"/>
                  </a:lnTo>
                  <a:lnTo>
                    <a:pt x="1600" y="7467"/>
                  </a:lnTo>
                  <a:lnTo>
                    <a:pt x="1600" y="6933"/>
                  </a:lnTo>
                  <a:lnTo>
                    <a:pt x="534" y="6933"/>
                  </a:lnTo>
                  <a:lnTo>
                    <a:pt x="534" y="5867"/>
                  </a:lnTo>
                  <a:lnTo>
                    <a:pt x="1600" y="5867"/>
                  </a:lnTo>
                  <a:lnTo>
                    <a:pt x="1600" y="5333"/>
                  </a:lnTo>
                  <a:lnTo>
                    <a:pt x="534" y="5333"/>
                  </a:lnTo>
                  <a:lnTo>
                    <a:pt x="534" y="4267"/>
                  </a:lnTo>
                  <a:lnTo>
                    <a:pt x="1600" y="4267"/>
                  </a:lnTo>
                  <a:lnTo>
                    <a:pt x="1600" y="3733"/>
                  </a:lnTo>
                  <a:lnTo>
                    <a:pt x="534" y="3733"/>
                  </a:lnTo>
                  <a:lnTo>
                    <a:pt x="534" y="2667"/>
                  </a:lnTo>
                  <a:lnTo>
                    <a:pt x="1600" y="2667"/>
                  </a:lnTo>
                  <a:lnTo>
                    <a:pt x="1600" y="2133"/>
                  </a:lnTo>
                  <a:lnTo>
                    <a:pt x="267" y="2133"/>
                  </a:lnTo>
                  <a:cubicBezTo>
                    <a:pt x="107" y="2133"/>
                    <a:pt x="0" y="2240"/>
                    <a:pt x="0" y="2400"/>
                  </a:cubicBezTo>
                  <a:close/>
                  <a:moveTo>
                    <a:pt x="11467" y="2133"/>
                  </a:moveTo>
                  <a:lnTo>
                    <a:pt x="10134" y="2133"/>
                  </a:lnTo>
                  <a:lnTo>
                    <a:pt x="10134" y="2667"/>
                  </a:lnTo>
                  <a:lnTo>
                    <a:pt x="11200" y="2667"/>
                  </a:lnTo>
                  <a:lnTo>
                    <a:pt x="11200" y="3733"/>
                  </a:lnTo>
                  <a:lnTo>
                    <a:pt x="10134" y="3733"/>
                  </a:lnTo>
                  <a:lnTo>
                    <a:pt x="10134" y="4267"/>
                  </a:lnTo>
                  <a:lnTo>
                    <a:pt x="11200" y="4267"/>
                  </a:lnTo>
                  <a:lnTo>
                    <a:pt x="11200" y="5333"/>
                  </a:lnTo>
                  <a:lnTo>
                    <a:pt x="10134" y="5333"/>
                  </a:lnTo>
                  <a:lnTo>
                    <a:pt x="10134" y="5867"/>
                  </a:lnTo>
                  <a:lnTo>
                    <a:pt x="11200" y="5867"/>
                  </a:lnTo>
                  <a:lnTo>
                    <a:pt x="11200" y="6933"/>
                  </a:lnTo>
                  <a:lnTo>
                    <a:pt x="10134" y="6933"/>
                  </a:lnTo>
                  <a:lnTo>
                    <a:pt x="10134" y="7467"/>
                  </a:lnTo>
                  <a:lnTo>
                    <a:pt x="11200" y="7467"/>
                  </a:lnTo>
                  <a:lnTo>
                    <a:pt x="11200" y="8533"/>
                  </a:lnTo>
                  <a:lnTo>
                    <a:pt x="10134" y="8533"/>
                  </a:lnTo>
                  <a:lnTo>
                    <a:pt x="10134" y="9067"/>
                  </a:lnTo>
                  <a:lnTo>
                    <a:pt x="11467" y="9067"/>
                  </a:lnTo>
                  <a:cubicBezTo>
                    <a:pt x="11627" y="9067"/>
                    <a:pt x="11734" y="8960"/>
                    <a:pt x="11734" y="8800"/>
                  </a:cubicBezTo>
                  <a:lnTo>
                    <a:pt x="11734" y="2400"/>
                  </a:lnTo>
                  <a:cubicBezTo>
                    <a:pt x="11734" y="2240"/>
                    <a:pt x="11627" y="2133"/>
                    <a:pt x="11467" y="21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18" name="文本框 117"/>
            <p:cNvSpPr txBox="1"/>
            <p:nvPr>
              <p:custDataLst>
                <p:tags r:id="rId46"/>
              </p:custDataLst>
            </p:nvPr>
          </p:nvSpPr>
          <p:spPr>
            <a:xfrm>
              <a:off x="5702515" y="11648203"/>
              <a:ext cx="1067599" cy="75656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p>
              <a:pPr marL="0" marR="0" indent="0" algn="ctr" defTabSz="82105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800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latin typeface="微软雅黑" panose="020B0604030504040204" pitchFamily="34" charset="-122"/>
                  <a:ea typeface="微软雅黑" panose="020B0604030504040204" pitchFamily="34" charset="-122"/>
                  <a:cs typeface="+mn-cs"/>
                  <a:sym typeface="微软雅黑" panose="020B0604030504040204" pitchFamily="34" charset="-122"/>
                </a:rPr>
                <a:t>虚拟机</a:t>
              </a:r>
              <a:endParaRPr kumimoji="0" lang="zh-CN" altLang="en-US" sz="800" b="1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n-cs"/>
                <a:sym typeface="微软雅黑" panose="020B0604030504040204" pitchFamily="34" charset="-122"/>
              </a:endParaRPr>
            </a:p>
            <a:p>
              <a:pPr marL="0" marR="0" indent="0" algn="ctr" defTabSz="82105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800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latin typeface="微软雅黑" panose="020B0604030504040204" pitchFamily="34" charset="-122"/>
                  <a:ea typeface="微软雅黑" panose="020B0604030504040204" pitchFamily="34" charset="-122"/>
                  <a:cs typeface="+mn-cs"/>
                  <a:sym typeface="微软雅黑" panose="020B0604030504040204" pitchFamily="34" charset="-122"/>
                </a:rPr>
                <a:t>Agent</a:t>
              </a:r>
              <a:endParaRPr kumimoji="0" lang="en-US" altLang="zh-CN" sz="800" b="1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n-cs"/>
                <a:sym typeface="微软雅黑" panose="020B0604030504040204" pitchFamily="34" charset="-122"/>
              </a:endParaRPr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6517005" y="5442585"/>
            <a:ext cx="470535" cy="757630"/>
            <a:chOff x="5702515" y="10927403"/>
            <a:chExt cx="1067599" cy="1477361"/>
          </a:xfrm>
        </p:grpSpPr>
        <p:sp>
          <p:nvSpPr>
            <p:cNvPr id="120" name="iconfont-11206-4016491"/>
            <p:cNvSpPr>
              <a:spLocks noChangeAspect="1"/>
            </p:cNvSpPr>
            <p:nvPr>
              <p:custDataLst>
                <p:tags r:id="rId47"/>
              </p:custDataLst>
            </p:nvPr>
          </p:nvSpPr>
          <p:spPr>
            <a:xfrm>
              <a:off x="5859174" y="10927403"/>
              <a:ext cx="754279" cy="720000"/>
            </a:xfrm>
            <a:custGeom>
              <a:avLst/>
              <a:gdLst>
                <a:gd name="T0" fmla="*/ 3200 w 11734"/>
                <a:gd name="T1" fmla="*/ 2133 h 11200"/>
                <a:gd name="T2" fmla="*/ 4800 w 11734"/>
                <a:gd name="T3" fmla="*/ 1067 h 11200"/>
                <a:gd name="T4" fmla="*/ 4800 w 11734"/>
                <a:gd name="T5" fmla="*/ 2133 h 11200"/>
                <a:gd name="T6" fmla="*/ 6134 w 11734"/>
                <a:gd name="T7" fmla="*/ 1333 h 11200"/>
                <a:gd name="T8" fmla="*/ 8534 w 11734"/>
                <a:gd name="T9" fmla="*/ 1333 h 11200"/>
                <a:gd name="T10" fmla="*/ 3200 w 11734"/>
                <a:gd name="T11" fmla="*/ 4800 h 11200"/>
                <a:gd name="T12" fmla="*/ 4800 w 11734"/>
                <a:gd name="T13" fmla="*/ 3733 h 11200"/>
                <a:gd name="T14" fmla="*/ 4800 w 11734"/>
                <a:gd name="T15" fmla="*/ 4800 h 11200"/>
                <a:gd name="T16" fmla="*/ 6134 w 11734"/>
                <a:gd name="T17" fmla="*/ 4000 h 11200"/>
                <a:gd name="T18" fmla="*/ 8534 w 11734"/>
                <a:gd name="T19" fmla="*/ 4000 h 11200"/>
                <a:gd name="T20" fmla="*/ 3200 w 11734"/>
                <a:gd name="T21" fmla="*/ 7467 h 11200"/>
                <a:gd name="T22" fmla="*/ 4800 w 11734"/>
                <a:gd name="T23" fmla="*/ 6400 h 11200"/>
                <a:gd name="T24" fmla="*/ 4800 w 11734"/>
                <a:gd name="T25" fmla="*/ 7467 h 11200"/>
                <a:gd name="T26" fmla="*/ 6134 w 11734"/>
                <a:gd name="T27" fmla="*/ 6667 h 11200"/>
                <a:gd name="T28" fmla="*/ 8534 w 11734"/>
                <a:gd name="T29" fmla="*/ 6667 h 11200"/>
                <a:gd name="T30" fmla="*/ 3200 w 11734"/>
                <a:gd name="T31" fmla="*/ 10133 h 11200"/>
                <a:gd name="T32" fmla="*/ 4800 w 11734"/>
                <a:gd name="T33" fmla="*/ 9067 h 11200"/>
                <a:gd name="T34" fmla="*/ 4800 w 11734"/>
                <a:gd name="T35" fmla="*/ 10133 h 11200"/>
                <a:gd name="T36" fmla="*/ 6134 w 11734"/>
                <a:gd name="T37" fmla="*/ 9333 h 11200"/>
                <a:gd name="T38" fmla="*/ 8534 w 11734"/>
                <a:gd name="T39" fmla="*/ 9333 h 11200"/>
                <a:gd name="T40" fmla="*/ 2134 w 11734"/>
                <a:gd name="T41" fmla="*/ 267 h 11200"/>
                <a:gd name="T42" fmla="*/ 9334 w 11734"/>
                <a:gd name="T43" fmla="*/ 11200 h 11200"/>
                <a:gd name="T44" fmla="*/ 9334 w 11734"/>
                <a:gd name="T45" fmla="*/ 0 h 11200"/>
                <a:gd name="T46" fmla="*/ 2667 w 11734"/>
                <a:gd name="T47" fmla="*/ 8533 h 11200"/>
                <a:gd name="T48" fmla="*/ 9067 w 11734"/>
                <a:gd name="T49" fmla="*/ 8000 h 11200"/>
                <a:gd name="T50" fmla="*/ 9067 w 11734"/>
                <a:gd name="T51" fmla="*/ 5867 h 11200"/>
                <a:gd name="T52" fmla="*/ 2667 w 11734"/>
                <a:gd name="T53" fmla="*/ 5333 h 11200"/>
                <a:gd name="T54" fmla="*/ 9067 w 11734"/>
                <a:gd name="T55" fmla="*/ 5333 h 11200"/>
                <a:gd name="T56" fmla="*/ 2667 w 11734"/>
                <a:gd name="T57" fmla="*/ 533 h 11200"/>
                <a:gd name="T58" fmla="*/ 0 w 11734"/>
                <a:gd name="T59" fmla="*/ 2400 h 11200"/>
                <a:gd name="T60" fmla="*/ 1600 w 11734"/>
                <a:gd name="T61" fmla="*/ 9067 h 11200"/>
                <a:gd name="T62" fmla="*/ 534 w 11734"/>
                <a:gd name="T63" fmla="*/ 7467 h 11200"/>
                <a:gd name="T64" fmla="*/ 534 w 11734"/>
                <a:gd name="T65" fmla="*/ 6933 h 11200"/>
                <a:gd name="T66" fmla="*/ 1600 w 11734"/>
                <a:gd name="T67" fmla="*/ 5333 h 11200"/>
                <a:gd name="T68" fmla="*/ 1600 w 11734"/>
                <a:gd name="T69" fmla="*/ 4267 h 11200"/>
                <a:gd name="T70" fmla="*/ 534 w 11734"/>
                <a:gd name="T71" fmla="*/ 2667 h 11200"/>
                <a:gd name="T72" fmla="*/ 267 w 11734"/>
                <a:gd name="T73" fmla="*/ 2133 h 11200"/>
                <a:gd name="T74" fmla="*/ 10134 w 11734"/>
                <a:gd name="T75" fmla="*/ 2133 h 11200"/>
                <a:gd name="T76" fmla="*/ 11200 w 11734"/>
                <a:gd name="T77" fmla="*/ 3733 h 11200"/>
                <a:gd name="T78" fmla="*/ 11200 w 11734"/>
                <a:gd name="T79" fmla="*/ 4267 h 11200"/>
                <a:gd name="T80" fmla="*/ 10134 w 11734"/>
                <a:gd name="T81" fmla="*/ 5867 h 11200"/>
                <a:gd name="T82" fmla="*/ 10134 w 11734"/>
                <a:gd name="T83" fmla="*/ 6933 h 11200"/>
                <a:gd name="T84" fmla="*/ 11200 w 11734"/>
                <a:gd name="T85" fmla="*/ 8533 h 11200"/>
                <a:gd name="T86" fmla="*/ 11467 w 11734"/>
                <a:gd name="T87" fmla="*/ 9067 h 11200"/>
                <a:gd name="T88" fmla="*/ 11467 w 11734"/>
                <a:gd name="T89" fmla="*/ 2133 h 11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34" h="11200">
                  <a:moveTo>
                    <a:pt x="3734" y="1067"/>
                  </a:moveTo>
                  <a:lnTo>
                    <a:pt x="3200" y="1067"/>
                  </a:lnTo>
                  <a:lnTo>
                    <a:pt x="3200" y="2133"/>
                  </a:lnTo>
                  <a:lnTo>
                    <a:pt x="3734" y="2133"/>
                  </a:lnTo>
                  <a:lnTo>
                    <a:pt x="3734" y="1067"/>
                  </a:lnTo>
                  <a:close/>
                  <a:moveTo>
                    <a:pt x="4800" y="1067"/>
                  </a:moveTo>
                  <a:lnTo>
                    <a:pt x="4267" y="1067"/>
                  </a:lnTo>
                  <a:lnTo>
                    <a:pt x="4267" y="2133"/>
                  </a:lnTo>
                  <a:lnTo>
                    <a:pt x="4800" y="2133"/>
                  </a:lnTo>
                  <a:lnTo>
                    <a:pt x="4800" y="1067"/>
                  </a:lnTo>
                  <a:close/>
                  <a:moveTo>
                    <a:pt x="8534" y="1333"/>
                  </a:moveTo>
                  <a:lnTo>
                    <a:pt x="6134" y="1333"/>
                  </a:lnTo>
                  <a:lnTo>
                    <a:pt x="6134" y="1867"/>
                  </a:lnTo>
                  <a:lnTo>
                    <a:pt x="8534" y="1867"/>
                  </a:lnTo>
                  <a:lnTo>
                    <a:pt x="8534" y="1333"/>
                  </a:lnTo>
                  <a:close/>
                  <a:moveTo>
                    <a:pt x="3734" y="3733"/>
                  </a:moveTo>
                  <a:lnTo>
                    <a:pt x="3200" y="3733"/>
                  </a:lnTo>
                  <a:lnTo>
                    <a:pt x="3200" y="4800"/>
                  </a:lnTo>
                  <a:lnTo>
                    <a:pt x="3734" y="4800"/>
                  </a:lnTo>
                  <a:lnTo>
                    <a:pt x="3734" y="3733"/>
                  </a:lnTo>
                  <a:close/>
                  <a:moveTo>
                    <a:pt x="4800" y="3733"/>
                  </a:moveTo>
                  <a:lnTo>
                    <a:pt x="4267" y="3733"/>
                  </a:lnTo>
                  <a:lnTo>
                    <a:pt x="4267" y="4800"/>
                  </a:lnTo>
                  <a:lnTo>
                    <a:pt x="4800" y="4800"/>
                  </a:lnTo>
                  <a:lnTo>
                    <a:pt x="4800" y="3733"/>
                  </a:lnTo>
                  <a:close/>
                  <a:moveTo>
                    <a:pt x="8534" y="4000"/>
                  </a:moveTo>
                  <a:lnTo>
                    <a:pt x="6134" y="4000"/>
                  </a:lnTo>
                  <a:lnTo>
                    <a:pt x="6134" y="4533"/>
                  </a:lnTo>
                  <a:lnTo>
                    <a:pt x="8534" y="4533"/>
                  </a:lnTo>
                  <a:lnTo>
                    <a:pt x="8534" y="4000"/>
                  </a:lnTo>
                  <a:close/>
                  <a:moveTo>
                    <a:pt x="3734" y="6400"/>
                  </a:moveTo>
                  <a:lnTo>
                    <a:pt x="3200" y="6400"/>
                  </a:lnTo>
                  <a:lnTo>
                    <a:pt x="3200" y="7467"/>
                  </a:lnTo>
                  <a:lnTo>
                    <a:pt x="3734" y="7467"/>
                  </a:lnTo>
                  <a:lnTo>
                    <a:pt x="3734" y="6400"/>
                  </a:lnTo>
                  <a:close/>
                  <a:moveTo>
                    <a:pt x="4800" y="6400"/>
                  </a:moveTo>
                  <a:lnTo>
                    <a:pt x="4267" y="6400"/>
                  </a:lnTo>
                  <a:lnTo>
                    <a:pt x="4267" y="7467"/>
                  </a:lnTo>
                  <a:lnTo>
                    <a:pt x="4800" y="7467"/>
                  </a:lnTo>
                  <a:lnTo>
                    <a:pt x="4800" y="6400"/>
                  </a:lnTo>
                  <a:close/>
                  <a:moveTo>
                    <a:pt x="8534" y="6667"/>
                  </a:moveTo>
                  <a:lnTo>
                    <a:pt x="6134" y="6667"/>
                  </a:lnTo>
                  <a:lnTo>
                    <a:pt x="6134" y="7200"/>
                  </a:lnTo>
                  <a:lnTo>
                    <a:pt x="8534" y="7200"/>
                  </a:lnTo>
                  <a:lnTo>
                    <a:pt x="8534" y="6667"/>
                  </a:lnTo>
                  <a:close/>
                  <a:moveTo>
                    <a:pt x="3734" y="9067"/>
                  </a:moveTo>
                  <a:lnTo>
                    <a:pt x="3200" y="9067"/>
                  </a:lnTo>
                  <a:lnTo>
                    <a:pt x="3200" y="10133"/>
                  </a:lnTo>
                  <a:lnTo>
                    <a:pt x="3734" y="10133"/>
                  </a:lnTo>
                  <a:lnTo>
                    <a:pt x="3734" y="9067"/>
                  </a:lnTo>
                  <a:close/>
                  <a:moveTo>
                    <a:pt x="4800" y="9067"/>
                  </a:moveTo>
                  <a:lnTo>
                    <a:pt x="4267" y="9067"/>
                  </a:lnTo>
                  <a:lnTo>
                    <a:pt x="4267" y="10133"/>
                  </a:lnTo>
                  <a:lnTo>
                    <a:pt x="4800" y="10133"/>
                  </a:lnTo>
                  <a:lnTo>
                    <a:pt x="4800" y="9067"/>
                  </a:lnTo>
                  <a:close/>
                  <a:moveTo>
                    <a:pt x="8534" y="9333"/>
                  </a:moveTo>
                  <a:lnTo>
                    <a:pt x="6134" y="9333"/>
                  </a:lnTo>
                  <a:lnTo>
                    <a:pt x="6134" y="9867"/>
                  </a:lnTo>
                  <a:lnTo>
                    <a:pt x="8534" y="9867"/>
                  </a:lnTo>
                  <a:lnTo>
                    <a:pt x="8534" y="9333"/>
                  </a:lnTo>
                  <a:close/>
                  <a:moveTo>
                    <a:pt x="9334" y="0"/>
                  </a:moveTo>
                  <a:lnTo>
                    <a:pt x="2400" y="0"/>
                  </a:lnTo>
                  <a:cubicBezTo>
                    <a:pt x="2240" y="0"/>
                    <a:pt x="2134" y="107"/>
                    <a:pt x="2134" y="267"/>
                  </a:cubicBezTo>
                  <a:lnTo>
                    <a:pt x="2134" y="10933"/>
                  </a:lnTo>
                  <a:cubicBezTo>
                    <a:pt x="2134" y="11093"/>
                    <a:pt x="2240" y="11200"/>
                    <a:pt x="2400" y="11200"/>
                  </a:cubicBezTo>
                  <a:lnTo>
                    <a:pt x="9334" y="11200"/>
                  </a:lnTo>
                  <a:cubicBezTo>
                    <a:pt x="9494" y="11200"/>
                    <a:pt x="9600" y="11093"/>
                    <a:pt x="9600" y="10933"/>
                  </a:cubicBezTo>
                  <a:lnTo>
                    <a:pt x="9600" y="267"/>
                  </a:lnTo>
                  <a:cubicBezTo>
                    <a:pt x="9600" y="107"/>
                    <a:pt x="9494" y="0"/>
                    <a:pt x="9334" y="0"/>
                  </a:cubicBezTo>
                  <a:close/>
                  <a:moveTo>
                    <a:pt x="9067" y="10667"/>
                  </a:moveTo>
                  <a:lnTo>
                    <a:pt x="2667" y="10667"/>
                  </a:lnTo>
                  <a:lnTo>
                    <a:pt x="2667" y="8533"/>
                  </a:lnTo>
                  <a:lnTo>
                    <a:pt x="9067" y="8533"/>
                  </a:lnTo>
                  <a:lnTo>
                    <a:pt x="9067" y="10667"/>
                  </a:lnTo>
                  <a:close/>
                  <a:moveTo>
                    <a:pt x="9067" y="8000"/>
                  </a:moveTo>
                  <a:lnTo>
                    <a:pt x="2667" y="8000"/>
                  </a:lnTo>
                  <a:lnTo>
                    <a:pt x="2667" y="5867"/>
                  </a:lnTo>
                  <a:lnTo>
                    <a:pt x="9067" y="5867"/>
                  </a:lnTo>
                  <a:lnTo>
                    <a:pt x="9067" y="8000"/>
                  </a:lnTo>
                  <a:close/>
                  <a:moveTo>
                    <a:pt x="9067" y="5333"/>
                  </a:moveTo>
                  <a:lnTo>
                    <a:pt x="2667" y="5333"/>
                  </a:lnTo>
                  <a:lnTo>
                    <a:pt x="2667" y="3200"/>
                  </a:lnTo>
                  <a:lnTo>
                    <a:pt x="9067" y="3200"/>
                  </a:lnTo>
                  <a:lnTo>
                    <a:pt x="9067" y="5333"/>
                  </a:lnTo>
                  <a:close/>
                  <a:moveTo>
                    <a:pt x="9067" y="2667"/>
                  </a:moveTo>
                  <a:lnTo>
                    <a:pt x="2667" y="2667"/>
                  </a:lnTo>
                  <a:lnTo>
                    <a:pt x="2667" y="533"/>
                  </a:lnTo>
                  <a:lnTo>
                    <a:pt x="9067" y="533"/>
                  </a:lnTo>
                  <a:lnTo>
                    <a:pt x="9067" y="2667"/>
                  </a:lnTo>
                  <a:close/>
                  <a:moveTo>
                    <a:pt x="0" y="2400"/>
                  </a:moveTo>
                  <a:lnTo>
                    <a:pt x="0" y="8800"/>
                  </a:lnTo>
                  <a:cubicBezTo>
                    <a:pt x="0" y="8960"/>
                    <a:pt x="107" y="9067"/>
                    <a:pt x="267" y="9067"/>
                  </a:cubicBezTo>
                  <a:lnTo>
                    <a:pt x="1600" y="9067"/>
                  </a:lnTo>
                  <a:lnTo>
                    <a:pt x="1600" y="8533"/>
                  </a:lnTo>
                  <a:lnTo>
                    <a:pt x="534" y="8533"/>
                  </a:lnTo>
                  <a:lnTo>
                    <a:pt x="534" y="7467"/>
                  </a:lnTo>
                  <a:lnTo>
                    <a:pt x="1600" y="7467"/>
                  </a:lnTo>
                  <a:lnTo>
                    <a:pt x="1600" y="6933"/>
                  </a:lnTo>
                  <a:lnTo>
                    <a:pt x="534" y="6933"/>
                  </a:lnTo>
                  <a:lnTo>
                    <a:pt x="534" y="5867"/>
                  </a:lnTo>
                  <a:lnTo>
                    <a:pt x="1600" y="5867"/>
                  </a:lnTo>
                  <a:lnTo>
                    <a:pt x="1600" y="5333"/>
                  </a:lnTo>
                  <a:lnTo>
                    <a:pt x="534" y="5333"/>
                  </a:lnTo>
                  <a:lnTo>
                    <a:pt x="534" y="4267"/>
                  </a:lnTo>
                  <a:lnTo>
                    <a:pt x="1600" y="4267"/>
                  </a:lnTo>
                  <a:lnTo>
                    <a:pt x="1600" y="3733"/>
                  </a:lnTo>
                  <a:lnTo>
                    <a:pt x="534" y="3733"/>
                  </a:lnTo>
                  <a:lnTo>
                    <a:pt x="534" y="2667"/>
                  </a:lnTo>
                  <a:lnTo>
                    <a:pt x="1600" y="2667"/>
                  </a:lnTo>
                  <a:lnTo>
                    <a:pt x="1600" y="2133"/>
                  </a:lnTo>
                  <a:lnTo>
                    <a:pt x="267" y="2133"/>
                  </a:lnTo>
                  <a:cubicBezTo>
                    <a:pt x="107" y="2133"/>
                    <a:pt x="0" y="2240"/>
                    <a:pt x="0" y="2400"/>
                  </a:cubicBezTo>
                  <a:close/>
                  <a:moveTo>
                    <a:pt x="11467" y="2133"/>
                  </a:moveTo>
                  <a:lnTo>
                    <a:pt x="10134" y="2133"/>
                  </a:lnTo>
                  <a:lnTo>
                    <a:pt x="10134" y="2667"/>
                  </a:lnTo>
                  <a:lnTo>
                    <a:pt x="11200" y="2667"/>
                  </a:lnTo>
                  <a:lnTo>
                    <a:pt x="11200" y="3733"/>
                  </a:lnTo>
                  <a:lnTo>
                    <a:pt x="10134" y="3733"/>
                  </a:lnTo>
                  <a:lnTo>
                    <a:pt x="10134" y="4267"/>
                  </a:lnTo>
                  <a:lnTo>
                    <a:pt x="11200" y="4267"/>
                  </a:lnTo>
                  <a:lnTo>
                    <a:pt x="11200" y="5333"/>
                  </a:lnTo>
                  <a:lnTo>
                    <a:pt x="10134" y="5333"/>
                  </a:lnTo>
                  <a:lnTo>
                    <a:pt x="10134" y="5867"/>
                  </a:lnTo>
                  <a:lnTo>
                    <a:pt x="11200" y="5867"/>
                  </a:lnTo>
                  <a:lnTo>
                    <a:pt x="11200" y="6933"/>
                  </a:lnTo>
                  <a:lnTo>
                    <a:pt x="10134" y="6933"/>
                  </a:lnTo>
                  <a:lnTo>
                    <a:pt x="10134" y="7467"/>
                  </a:lnTo>
                  <a:lnTo>
                    <a:pt x="11200" y="7467"/>
                  </a:lnTo>
                  <a:lnTo>
                    <a:pt x="11200" y="8533"/>
                  </a:lnTo>
                  <a:lnTo>
                    <a:pt x="10134" y="8533"/>
                  </a:lnTo>
                  <a:lnTo>
                    <a:pt x="10134" y="9067"/>
                  </a:lnTo>
                  <a:lnTo>
                    <a:pt x="11467" y="9067"/>
                  </a:lnTo>
                  <a:cubicBezTo>
                    <a:pt x="11627" y="9067"/>
                    <a:pt x="11734" y="8960"/>
                    <a:pt x="11734" y="8800"/>
                  </a:cubicBezTo>
                  <a:lnTo>
                    <a:pt x="11734" y="2400"/>
                  </a:lnTo>
                  <a:cubicBezTo>
                    <a:pt x="11734" y="2240"/>
                    <a:pt x="11627" y="2133"/>
                    <a:pt x="11467" y="213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dirty="0">
                <a:latin typeface="微软雅黑" panose="020B0604030504040204" pitchFamily="34" charset="-122"/>
                <a:ea typeface="微软雅黑" panose="020B0604030504040204" pitchFamily="34" charset="-122"/>
              </a:endParaRPr>
            </a:p>
          </p:txBody>
        </p:sp>
        <p:sp>
          <p:nvSpPr>
            <p:cNvPr id="121" name="文本框 120"/>
            <p:cNvSpPr txBox="1"/>
            <p:nvPr>
              <p:custDataLst>
                <p:tags r:id="rId48"/>
              </p:custDataLst>
            </p:nvPr>
          </p:nvSpPr>
          <p:spPr>
            <a:xfrm>
              <a:off x="5702515" y="11648203"/>
              <a:ext cx="1067599" cy="756561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71437" tIns="71437" rIns="71437" bIns="71437" numCol="1" spcCol="38100" rtlCol="0" anchor="ctr">
              <a:spAutoFit/>
            </a:bodyPr>
            <a:p>
              <a:pPr marL="0" marR="0" indent="0" algn="ctr" defTabSz="82105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800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latin typeface="微软雅黑" panose="020B0604030504040204" pitchFamily="34" charset="-122"/>
                  <a:ea typeface="微软雅黑" panose="020B0604030504040204" pitchFamily="34" charset="-122"/>
                  <a:cs typeface="+mn-cs"/>
                  <a:sym typeface="微软雅黑" panose="020B0604030504040204" pitchFamily="34" charset="-122"/>
                </a:rPr>
                <a:t>虚拟机</a:t>
              </a:r>
              <a:endParaRPr kumimoji="0" lang="zh-CN" altLang="en-US" sz="800" b="1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n-cs"/>
                <a:sym typeface="微软雅黑" panose="020B0604030504040204" pitchFamily="34" charset="-122"/>
              </a:endParaRPr>
            </a:p>
            <a:p>
              <a:pPr marL="0" marR="0" indent="0" algn="ctr" defTabSz="821055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en-US" altLang="zh-CN" sz="800" b="1" i="0" u="none" strike="noStrike" cap="none" spc="0" normalizeH="0" baseline="0" dirty="0">
                  <a:ln>
                    <a:noFill/>
                  </a:ln>
                  <a:solidFill>
                    <a:schemeClr val="accent1">
                      <a:lumMod val="75000"/>
                    </a:schemeClr>
                  </a:solidFill>
                  <a:effectLst/>
                  <a:uFillTx/>
                  <a:latin typeface="微软雅黑" panose="020B0604030504040204" pitchFamily="34" charset="-122"/>
                  <a:ea typeface="微软雅黑" panose="020B0604030504040204" pitchFamily="34" charset="-122"/>
                  <a:cs typeface="+mn-cs"/>
                  <a:sym typeface="微软雅黑" panose="020B0604030504040204" pitchFamily="34" charset="-122"/>
                </a:rPr>
                <a:t>Agent</a:t>
              </a:r>
              <a:endParaRPr kumimoji="0" lang="en-US" altLang="zh-CN" sz="800" b="1" i="0" u="none" strike="noStrike" cap="none" spc="0" normalizeH="0" baseline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FillTx/>
                <a:latin typeface="微软雅黑" panose="020B0604030504040204" pitchFamily="34" charset="-122"/>
                <a:ea typeface="微软雅黑" panose="020B0604030504040204" pitchFamily="34" charset="-122"/>
                <a:cs typeface="+mn-cs"/>
                <a:sym typeface="微软雅黑" panose="020B0604030504040204" pitchFamily="34" charset="-122"/>
              </a:endParaRPr>
            </a:p>
          </p:txBody>
        </p:sp>
      </p:grpSp>
      <p:sp>
        <p:nvSpPr>
          <p:cNvPr id="122" name="矩形 121"/>
          <p:cNvSpPr/>
          <p:nvPr>
            <p:custDataLst>
              <p:tags r:id="rId49"/>
            </p:custDataLst>
          </p:nvPr>
        </p:nvSpPr>
        <p:spPr>
          <a:xfrm>
            <a:off x="1054100" y="3538973"/>
            <a:ext cx="5353685" cy="570601"/>
          </a:xfrm>
          <a:prstGeom prst="rect">
            <a:avLst/>
          </a:prstGeom>
          <a:solidFill>
            <a:srgbClr val="37A76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l"/>
            <a:endParaRPr lang="zh-CN" altLang="en-US" sz="900" b="1"/>
          </a:p>
        </p:txBody>
      </p:sp>
      <p:cxnSp>
        <p:nvCxnSpPr>
          <p:cNvPr id="123" name="直接箭头连接符 122"/>
          <p:cNvCxnSpPr>
            <a:stCxn id="67" idx="2"/>
          </p:cNvCxnSpPr>
          <p:nvPr>
            <p:custDataLst>
              <p:tags r:id="rId50"/>
            </p:custDataLst>
          </p:nvPr>
        </p:nvCxnSpPr>
        <p:spPr>
          <a:xfrm>
            <a:off x="3624580" y="3362960"/>
            <a:ext cx="0" cy="256540"/>
          </a:xfrm>
          <a:prstGeom prst="straightConnector1">
            <a:avLst/>
          </a:prstGeom>
          <a:ln w="22225">
            <a:solidFill>
              <a:srgbClr val="0084CF">
                <a:alpha val="91000"/>
              </a:srgb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矩形 123"/>
          <p:cNvSpPr/>
          <p:nvPr>
            <p:custDataLst>
              <p:tags r:id="rId51"/>
            </p:custDataLst>
          </p:nvPr>
        </p:nvSpPr>
        <p:spPr>
          <a:xfrm>
            <a:off x="1180465" y="3808315"/>
            <a:ext cx="834390" cy="2559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工具库</a:t>
            </a:r>
            <a:endParaRPr lang="zh-CN" altLang="en-US" sz="1200"/>
          </a:p>
        </p:txBody>
      </p:sp>
      <p:sp>
        <p:nvSpPr>
          <p:cNvPr id="125" name="矩形 124"/>
          <p:cNvSpPr/>
          <p:nvPr>
            <p:custDataLst>
              <p:tags r:id="rId52"/>
            </p:custDataLst>
          </p:nvPr>
        </p:nvSpPr>
        <p:spPr>
          <a:xfrm>
            <a:off x="2273300" y="3799340"/>
            <a:ext cx="834390" cy="2559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流程库</a:t>
            </a:r>
            <a:endParaRPr lang="zh-CN" altLang="en-US" sz="1200"/>
          </a:p>
        </p:txBody>
      </p:sp>
      <p:sp>
        <p:nvSpPr>
          <p:cNvPr id="126" name="矩形 125"/>
          <p:cNvSpPr/>
          <p:nvPr>
            <p:custDataLst>
              <p:tags r:id="rId53"/>
            </p:custDataLst>
          </p:nvPr>
        </p:nvSpPr>
        <p:spPr>
          <a:xfrm>
            <a:off x="3322003" y="3801562"/>
            <a:ext cx="834390" cy="2559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/>
              <a:t>文件分发</a:t>
            </a:r>
            <a:endParaRPr lang="zh-CN" altLang="en-US" sz="1200" dirty="0"/>
          </a:p>
        </p:txBody>
      </p:sp>
      <p:sp>
        <p:nvSpPr>
          <p:cNvPr id="46" name="矩形 45"/>
          <p:cNvSpPr/>
          <p:nvPr>
            <p:custDataLst>
              <p:tags r:id="rId54"/>
            </p:custDataLst>
          </p:nvPr>
        </p:nvSpPr>
        <p:spPr>
          <a:xfrm>
            <a:off x="4407030" y="3808315"/>
            <a:ext cx="834390" cy="2559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/>
              <a:t>定时调度</a:t>
            </a:r>
            <a:endParaRPr lang="zh-CN" altLang="en-US" sz="1200" dirty="0"/>
          </a:p>
        </p:txBody>
      </p:sp>
      <p:sp>
        <p:nvSpPr>
          <p:cNvPr id="128" name="文本框 127"/>
          <p:cNvSpPr txBox="1"/>
          <p:nvPr>
            <p:custDataLst>
              <p:tags r:id="rId55"/>
            </p:custDataLst>
          </p:nvPr>
        </p:nvSpPr>
        <p:spPr>
          <a:xfrm>
            <a:off x="2527463" y="3522136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zh-CN" altLang="en-US" sz="1400" dirty="0">
                <a:solidFill>
                  <a:schemeClr val="lt1"/>
                </a:solidFill>
                <a:latin typeface="微软雅黑" panose="020B0604030504040204" pitchFamily="34" charset="-122"/>
                <a:ea typeface="微软雅黑" panose="020B0604030504040204" pitchFamily="34" charset="-122"/>
              </a:rPr>
              <a:t>自动化运维平台能力通道</a:t>
            </a:r>
            <a:endParaRPr lang="zh-CN" altLang="en-US" sz="1400" dirty="0">
              <a:solidFill>
                <a:schemeClr val="lt1"/>
              </a:solidFill>
              <a:latin typeface="微软雅黑" panose="020B0604030504040204" pitchFamily="34" charset="-122"/>
              <a:ea typeface="微软雅黑" panose="020B0604030504040204" pitchFamily="34" charset="-122"/>
            </a:endParaRPr>
          </a:p>
        </p:txBody>
      </p:sp>
      <p:sp>
        <p:nvSpPr>
          <p:cNvPr id="47" name="矩形 46"/>
          <p:cNvSpPr/>
          <p:nvPr>
            <p:custDataLst>
              <p:tags r:id="rId56"/>
            </p:custDataLst>
          </p:nvPr>
        </p:nvSpPr>
        <p:spPr>
          <a:xfrm>
            <a:off x="5480241" y="3808315"/>
            <a:ext cx="834390" cy="25590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dirty="0"/>
              <a:t>批量任务</a:t>
            </a:r>
            <a:endParaRPr lang="zh-CN" altLang="en-US" sz="1200" dirty="0"/>
          </a:p>
        </p:txBody>
      </p:sp>
      <p:sp>
        <p:nvSpPr>
          <p:cNvPr id="51" name="文本框 50"/>
          <p:cNvSpPr txBox="1"/>
          <p:nvPr/>
        </p:nvSpPr>
        <p:spPr>
          <a:xfrm>
            <a:off x="7374255" y="3563620"/>
            <a:ext cx="1808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kumimoji="1" lang="zh-CN" altLang="en-US" sz="1600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流水线</a:t>
            </a:r>
            <a:r>
              <a:rPr kumimoji="1" lang="zh-CN" altLang="en-US" sz="1600" dirty="0" smtClean="0">
                <a:latin typeface="微软雅黑" panose="020B0604030504040204" pitchFamily="34" charset="-122"/>
                <a:ea typeface="微软雅黑" panose="020B0604030504040204" pitchFamily="34" charset="-122"/>
              </a:rPr>
              <a:t>及部署能力</a:t>
            </a:r>
            <a:endParaRPr kumimoji="1" lang="zh-CN" altLang="en-US" sz="1600" dirty="0" smtClean="0">
              <a:latin typeface="微软雅黑" panose="020B0604030504040204" pitchFamily="34" charset="-122"/>
              <a:ea typeface="微软雅黑" panose="020B0604030504040204" pitchFamily="34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8"/>
          <a:stretch>
            <a:fillRect/>
          </a:stretch>
        </p:blipFill>
        <p:spPr>
          <a:xfrm>
            <a:off x="7421245" y="3900805"/>
            <a:ext cx="4631055" cy="1868805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60"/>
          <a:stretch>
            <a:fillRect/>
          </a:stretch>
        </p:blipFill>
        <p:spPr>
          <a:xfrm>
            <a:off x="7345045" y="5092700"/>
            <a:ext cx="2386965" cy="1656715"/>
          </a:xfrm>
          <a:prstGeom prst="rect">
            <a:avLst/>
          </a:prstGeom>
        </p:spPr>
      </p:pic>
      <p:pic>
        <p:nvPicPr>
          <p:cNvPr id="54" name="图片 53"/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2"/>
          <a:srcRect r="11449"/>
          <a:stretch>
            <a:fillRect/>
          </a:stretch>
        </p:blipFill>
        <p:spPr>
          <a:xfrm>
            <a:off x="9751060" y="5092700"/>
            <a:ext cx="2386965" cy="1637665"/>
          </a:xfrm>
          <a:prstGeom prst="rect">
            <a:avLst/>
          </a:prstGeom>
        </p:spPr>
      </p:pic>
      <p:cxnSp>
        <p:nvCxnSpPr>
          <p:cNvPr id="2" name="肘形连接符 1"/>
          <p:cNvCxnSpPr>
            <a:stCxn id="34" idx="0"/>
            <a:endCxn id="68" idx="3"/>
          </p:cNvCxnSpPr>
          <p:nvPr/>
        </p:nvCxnSpPr>
        <p:spPr>
          <a:xfrm rot="16200000" flipV="1">
            <a:off x="4317365" y="1264285"/>
            <a:ext cx="588010" cy="802640"/>
          </a:xfrm>
          <a:prstGeom prst="bentConnector2">
            <a:avLst/>
          </a:prstGeom>
          <a:ln>
            <a:solidFill>
              <a:srgbClr val="0056D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肘形连接符 3"/>
          <p:cNvCxnSpPr>
            <a:stCxn id="34" idx="2"/>
          </p:cNvCxnSpPr>
          <p:nvPr/>
        </p:nvCxnSpPr>
        <p:spPr>
          <a:xfrm rot="5400000">
            <a:off x="4387850" y="2489835"/>
            <a:ext cx="643890" cy="605790"/>
          </a:xfrm>
          <a:prstGeom prst="bentConnector3">
            <a:avLst>
              <a:gd name="adj1" fmla="val 50000"/>
            </a:avLst>
          </a:prstGeom>
          <a:ln>
            <a:solidFill>
              <a:srgbClr val="0056D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  <p:tag name="TABLE_ENDDRAG_ORIGIN_RECT" val="626*79"/>
  <p:tag name="TABLE_ENDDRAG_RECT" val="203*396*626*79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MH_OLD_SHAPE_ID" val="47"/>
  <p:tag name="REFSHAPE" val="105553242882360"/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BEAUTIFY_FLAG" val="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自定义设计方案">
  <a:themeElements>
    <a:clrScheme name="蓝绿色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8266E"/>
      </a:accent1>
      <a:accent2>
        <a:srgbClr val="C1022C"/>
      </a:accent2>
      <a:accent3>
        <a:srgbClr val="F1B700"/>
      </a:accent3>
      <a:accent4>
        <a:srgbClr val="6A7899"/>
      </a:accent4>
      <a:accent5>
        <a:srgbClr val="9199A5"/>
      </a:accent5>
      <a:accent6>
        <a:srgbClr val="B7B9BD"/>
      </a:accent6>
      <a:hlink>
        <a:srgbClr val="4472C4"/>
      </a:hlink>
      <a:folHlink>
        <a:srgbClr val="BFBFB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kumimoji="1" dirty="0" smtClean="0">
            <a:latin typeface="微软雅黑" panose="020B0604030504040204" pitchFamily="34" charset="-122"/>
            <a:ea typeface="微软雅黑" panose="020B060403050404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蓝色​​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自定义设计方案">
  <a:themeElements>
    <a:clrScheme name="蓝绿色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08266E"/>
      </a:accent1>
      <a:accent2>
        <a:srgbClr val="C1022C"/>
      </a:accent2>
      <a:accent3>
        <a:srgbClr val="F1B700"/>
      </a:accent3>
      <a:accent4>
        <a:srgbClr val="6A7899"/>
      </a:accent4>
      <a:accent5>
        <a:srgbClr val="9199A5"/>
      </a:accent5>
      <a:accent6>
        <a:srgbClr val="B7B9BD"/>
      </a:accent6>
      <a:hlink>
        <a:srgbClr val="4472C4"/>
      </a:hlink>
      <a:folHlink>
        <a:srgbClr val="BFBFBF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kumimoji="1" dirty="0" smtClean="0">
            <a:latin typeface="微软雅黑" panose="020B0604030504040204" pitchFamily="34" charset="-122"/>
            <a:ea typeface="微软雅黑" panose="020B060403050404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2081</Words>
  <Application>WPS 演示</Application>
  <PresentationFormat>宽屏</PresentationFormat>
  <Paragraphs>498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46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6</vt:i4>
      </vt:variant>
    </vt:vector>
  </HeadingPairs>
  <TitlesOfParts>
    <vt:vector size="55" baseType="lpstr">
      <vt:lpstr>Arial</vt:lpstr>
      <vt:lpstr>宋体</vt:lpstr>
      <vt:lpstr>Wingdings</vt:lpstr>
      <vt:lpstr>微软雅黑</vt:lpstr>
      <vt:lpstr>方正雅意黑 GB18030L2</vt:lpstr>
      <vt:lpstr>微软雅黑 Light</vt:lpstr>
      <vt:lpstr>汉仪中黑KW</vt:lpstr>
      <vt:lpstr>inpin heiti</vt:lpstr>
      <vt:lpstr>Microsoft JhengHei</vt:lpstr>
      <vt:lpstr>汉仪中简黑简</vt:lpstr>
      <vt:lpstr>Arial</vt:lpstr>
      <vt:lpstr>思源宋体 CN</vt:lpstr>
      <vt:lpstr>苹方-简</vt:lpstr>
      <vt:lpstr>汉仪书宋二KW</vt:lpstr>
      <vt:lpstr>宋体</vt:lpstr>
      <vt:lpstr>Arial Unicode MS</vt:lpstr>
      <vt:lpstr>DengXian</vt:lpstr>
      <vt:lpstr>汉仪中等线KW</vt:lpstr>
      <vt:lpstr>微软雅黑</vt:lpstr>
      <vt:lpstr>Wingdings</vt:lpstr>
      <vt:lpstr>思源黑体 CN Heavy</vt:lpstr>
      <vt:lpstr>思源黑体 CN Bold</vt:lpstr>
      <vt:lpstr>思源黑体 CN Light</vt:lpstr>
      <vt:lpstr>Arial Regular</vt:lpstr>
      <vt:lpstr>宋体-简</vt:lpstr>
      <vt:lpstr>Noto Sans CJK JP Regular</vt:lpstr>
      <vt:lpstr>黑体</vt:lpstr>
      <vt:lpstr>宋体</vt:lpstr>
      <vt:lpstr>黑体</vt:lpstr>
      <vt:lpstr>Times New Roman Regular</vt:lpstr>
      <vt:lpstr>汉仪旗黑-55简</vt:lpstr>
      <vt:lpstr>Calibri</vt:lpstr>
      <vt:lpstr>Songti SC Regular</vt:lpstr>
      <vt:lpstr>Helvetica Neue Medium</vt:lpstr>
      <vt:lpstr>华文中宋</vt:lpstr>
      <vt:lpstr>OPPOSans R</vt:lpstr>
      <vt:lpstr>等线</vt:lpstr>
      <vt:lpstr>Helvetica Neue</vt:lpstr>
      <vt:lpstr>等线 Light</vt:lpstr>
      <vt:lpstr>Helvetica Neue Medium</vt:lpstr>
      <vt:lpstr>OPPOSans R</vt:lpstr>
      <vt:lpstr>微软雅黑 Light</vt:lpstr>
      <vt:lpstr>思源宋体 CN</vt:lpstr>
      <vt:lpstr>思源黑体 CN Bold</vt:lpstr>
      <vt:lpstr>思源黑体 CN Heavy</vt:lpstr>
      <vt:lpstr>思源黑体 CN Light</vt:lpstr>
      <vt:lpstr>自定义设计方案</vt:lpstr>
      <vt:lpstr>1_自定义设计方案</vt:lpstr>
      <vt:lpstr>2_自定义设计方案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EasyChaos解决方案</dc:title>
  <dc:creator>Mso9403</dc:creator>
  <cp:lastModifiedBy>Rio李刚</cp:lastModifiedBy>
  <cp:revision>214</cp:revision>
  <dcterms:created xsi:type="dcterms:W3CDTF">2026-10-06T06:50:02Z</dcterms:created>
  <dcterms:modified xsi:type="dcterms:W3CDTF">2026-10-06T06:50:02Z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6B82F02A4C9DFC361A9AC46AEDB0B635_43</vt:lpwstr>
  </property>
</Properties>
</file>