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37744" y="4864608"/>
            <a:ext cx="1676400" cy="1475232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0" y="4864608"/>
            <a:ext cx="1676400" cy="1475232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91712" y="4864608"/>
            <a:ext cx="1676400" cy="1475232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71744" y="4864608"/>
            <a:ext cx="1676400" cy="1475232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4608" y="3535680"/>
            <a:ext cx="5352288" cy="573024"/>
          </a:xfrm>
          <a:prstGeom prst="roundRect">
            <a:avLst>
              <a:gd name="adj" fmla="val 10000"/>
            </a:avLst>
          </a:prstGeom>
          <a:solidFill>
            <a:srgbClr val="37A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4876800"/>
            <a:ext cx="1310640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E01B79"/>
                </a:solidFill>
                <a:latin typeface="微软雅黑"/>
              </a:rPr>
              <a:t>开发环境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4876800"/>
            <a:ext cx="1310640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E01B79"/>
                </a:solidFill>
                <a:latin typeface="微软雅黑"/>
              </a:rPr>
              <a:t>测试环境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4592" y="4876800"/>
            <a:ext cx="1310640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E01B79"/>
                </a:solidFill>
                <a:latin typeface="微软雅黑"/>
              </a:rPr>
              <a:t>预发布环境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54624" y="4876800"/>
            <a:ext cx="1310640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E01B79"/>
                </a:solidFill>
                <a:latin typeface="微软雅黑"/>
              </a:rPr>
              <a:t>生产环境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76400" y="1365504"/>
            <a:ext cx="1359408" cy="0"/>
          </a:xfrm>
          <a:prstGeom prst="line">
            <a:avLst/>
          </a:prstGeom>
          <a:ln w="22225">
            <a:solidFill>
              <a:srgbClr val="1577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52016" y="3115056"/>
            <a:ext cx="1383792" cy="0"/>
          </a:xfrm>
          <a:prstGeom prst="line">
            <a:avLst/>
          </a:prstGeom>
          <a:ln w="22225">
            <a:solidFill>
              <a:srgbClr val="1577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212336" y="3115056"/>
            <a:ext cx="1463040" cy="0"/>
          </a:xfrm>
          <a:prstGeom prst="line">
            <a:avLst/>
          </a:prstGeom>
          <a:ln w="22225">
            <a:solidFill>
              <a:srgbClr val="1577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27120" y="1621536"/>
            <a:ext cx="0" cy="1243584"/>
          </a:xfrm>
          <a:prstGeom prst="line">
            <a:avLst/>
          </a:prstGeom>
          <a:ln w="22225">
            <a:solidFill>
              <a:srgbClr val="1577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27120" y="3364992"/>
            <a:ext cx="0" cy="256032"/>
          </a:xfrm>
          <a:prstGeom prst="line">
            <a:avLst/>
          </a:prstGeom>
          <a:ln w="22225">
            <a:solidFill>
              <a:srgbClr val="1577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72896" y="3822191"/>
            <a:ext cx="0" cy="1042417"/>
          </a:xfrm>
          <a:prstGeom prst="line">
            <a:avLst/>
          </a:prstGeom>
          <a:ln w="22225">
            <a:solidFill>
              <a:srgbClr val="1577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2928" y="4005072"/>
            <a:ext cx="0" cy="859536"/>
          </a:xfrm>
          <a:prstGeom prst="line">
            <a:avLst/>
          </a:prstGeom>
          <a:ln w="22225">
            <a:solidFill>
              <a:srgbClr val="1577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32960" y="3980688"/>
            <a:ext cx="0" cy="883920"/>
          </a:xfrm>
          <a:prstGeom prst="line">
            <a:avLst/>
          </a:prstGeom>
          <a:ln w="22225">
            <a:solidFill>
              <a:srgbClr val="1577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06896" y="3822191"/>
            <a:ext cx="0" cy="1042417"/>
          </a:xfrm>
          <a:prstGeom prst="line">
            <a:avLst/>
          </a:prstGeom>
          <a:ln w="22225">
            <a:solidFill>
              <a:srgbClr val="1577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401312" y="2804160"/>
            <a:ext cx="0" cy="286512"/>
          </a:xfrm>
          <a:prstGeom prst="line">
            <a:avLst/>
          </a:prstGeom>
          <a:ln w="22225">
            <a:solidFill>
              <a:srgbClr val="1577C4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01312" y="2804160"/>
            <a:ext cx="609600" cy="0"/>
          </a:xfrm>
          <a:prstGeom prst="line">
            <a:avLst/>
          </a:prstGeom>
          <a:ln w="22225">
            <a:solidFill>
              <a:srgbClr val="1577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010912" y="1365504"/>
            <a:ext cx="0" cy="1438656"/>
          </a:xfrm>
          <a:prstGeom prst="line">
            <a:avLst/>
          </a:prstGeom>
          <a:ln w="22225">
            <a:solidFill>
              <a:srgbClr val="1577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248912" y="1365504"/>
            <a:ext cx="762000" cy="0"/>
          </a:xfrm>
          <a:prstGeom prst="line">
            <a:avLst/>
          </a:prstGeom>
          <a:ln w="22225">
            <a:solidFill>
              <a:srgbClr val="1577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05968" y="1115568"/>
            <a:ext cx="1170432" cy="499871"/>
          </a:xfrm>
          <a:prstGeom prst="roundRect">
            <a:avLst>
              <a:gd name="adj" fmla="val 14000"/>
            </a:avLst>
          </a:prstGeom>
          <a:solidFill>
            <a:srgbClr val="0B8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持续集成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（CI）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35808" y="1121664"/>
            <a:ext cx="1170432" cy="499871"/>
          </a:xfrm>
          <a:prstGeom prst="roundRect">
            <a:avLst>
              <a:gd name="adj" fmla="val 14000"/>
            </a:avLst>
          </a:prstGeom>
          <a:solidFill>
            <a:srgbClr val="0B8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制品库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1583" y="2865120"/>
            <a:ext cx="1170432" cy="499871"/>
          </a:xfrm>
          <a:prstGeom prst="roundRect">
            <a:avLst>
              <a:gd name="adj" fmla="val 14000"/>
            </a:avLst>
          </a:prstGeom>
          <a:solidFill>
            <a:srgbClr val="76B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CMDB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35808" y="2865120"/>
            <a:ext cx="1170432" cy="499871"/>
          </a:xfrm>
          <a:prstGeom prst="roundRect">
            <a:avLst>
              <a:gd name="adj" fmla="val 14000"/>
            </a:avLst>
          </a:prstGeom>
          <a:solidFill>
            <a:srgbClr val="0B8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应用部署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（CD）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0" y="2865120"/>
            <a:ext cx="1170432" cy="499871"/>
          </a:xfrm>
          <a:prstGeom prst="roundRect">
            <a:avLst>
              <a:gd name="adj" fmla="val 14000"/>
            </a:avLst>
          </a:prstGeom>
          <a:solidFill>
            <a:srgbClr val="E01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ITSM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2624" y="3810000"/>
            <a:ext cx="835152" cy="256032"/>
          </a:xfrm>
          <a:prstGeom prst="roundRect">
            <a:avLst>
              <a:gd name="adj" fmla="val 14000"/>
            </a:avLst>
          </a:prstGeom>
          <a:solidFill>
            <a:srgbClr val="24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工具库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73808" y="3797808"/>
            <a:ext cx="835152" cy="256032"/>
          </a:xfrm>
          <a:prstGeom prst="roundRect">
            <a:avLst>
              <a:gd name="adj" fmla="val 14000"/>
            </a:avLst>
          </a:prstGeom>
          <a:solidFill>
            <a:srgbClr val="24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流程库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22320" y="3803904"/>
            <a:ext cx="835152" cy="256032"/>
          </a:xfrm>
          <a:prstGeom prst="roundRect">
            <a:avLst>
              <a:gd name="adj" fmla="val 14000"/>
            </a:avLst>
          </a:prstGeom>
          <a:solidFill>
            <a:srgbClr val="24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文件分发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07408" y="3810000"/>
            <a:ext cx="835152" cy="256032"/>
          </a:xfrm>
          <a:prstGeom prst="roundRect">
            <a:avLst>
              <a:gd name="adj" fmla="val 14000"/>
            </a:avLst>
          </a:prstGeom>
          <a:solidFill>
            <a:srgbClr val="24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定时调度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0304" y="3810000"/>
            <a:ext cx="835152" cy="256032"/>
          </a:xfrm>
          <a:prstGeom prst="roundRect">
            <a:avLst>
              <a:gd name="adj" fmla="val 14000"/>
            </a:avLst>
          </a:prstGeom>
          <a:solidFill>
            <a:srgbClr val="24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批量任务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4608" y="3547872"/>
            <a:ext cx="53522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微软雅黑"/>
              </a:rPr>
              <a:t>自动化运维平台能力通道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77568" y="1176528"/>
            <a:ext cx="932688" cy="390144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01952" y="1176528"/>
            <a:ext cx="883920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1.代码构建，上传制品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2704" y="2919984"/>
            <a:ext cx="932688" cy="390144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47088" y="2919984"/>
            <a:ext cx="883920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2.获取应用环境信息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08960" y="1987296"/>
            <a:ext cx="932688" cy="512064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33344" y="1987296"/>
            <a:ext cx="8839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3.获取应用制品信息，制定部署策略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26864" y="1962911"/>
            <a:ext cx="774192" cy="512064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51248" y="1962911"/>
            <a:ext cx="72542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5.部署验证后，进行制品晋级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47616" y="2919984"/>
            <a:ext cx="932688" cy="390144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2919984"/>
            <a:ext cx="883920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通过部署工单自动发布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5968" y="4279392"/>
            <a:ext cx="932688" cy="390144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4279392"/>
            <a:ext cx="883920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4.部署到开发环境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65248" y="4279392"/>
            <a:ext cx="932688" cy="390144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89632" y="4279392"/>
            <a:ext cx="883920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6.部署到测试环境，制品晋级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011168" y="4279392"/>
            <a:ext cx="932688" cy="390144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35552" y="4279392"/>
            <a:ext cx="883920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7.部署到预发布环境，制品晋级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13120" y="4279392"/>
            <a:ext cx="932688" cy="390144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37504" y="4279392"/>
            <a:ext cx="883920" cy="390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8.部署到生产环境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7032" y="5455920"/>
            <a:ext cx="207264" cy="353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637032" y="5544312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37032" y="5632704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37032" y="5721096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69976" y="5516880"/>
            <a:ext cx="48768" cy="231648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62584" y="5516880"/>
            <a:ext cx="48768" cy="231648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5008" y="5833872"/>
            <a:ext cx="5913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F3864"/>
                </a:solidFill>
                <a:latin typeface="微软雅黑"/>
              </a:rPr>
              <a:t>虚拟机</a:t>
            </a:r>
          </a:p>
          <a:p>
            <a:pPr algn="ctr"/>
            <a:r>
              <a:rPr sz="1050" b="1">
                <a:solidFill>
                  <a:srgbClr val="1F3864"/>
                </a:solidFill>
                <a:latin typeface="微软雅黑"/>
              </a:rPr>
              <a:t>Agent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313688" y="5455920"/>
            <a:ext cx="207264" cy="353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313688" y="5544312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313688" y="5632704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313688" y="5721096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1246632" y="5516880"/>
            <a:ext cx="48768" cy="231648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539240" y="5516880"/>
            <a:ext cx="48768" cy="231648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21664" y="5833872"/>
            <a:ext cx="5913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F3864"/>
                </a:solidFill>
                <a:latin typeface="微软雅黑"/>
              </a:rPr>
              <a:t>虚拟机</a:t>
            </a:r>
          </a:p>
          <a:p>
            <a:pPr algn="ctr"/>
            <a:r>
              <a:rPr sz="1050" b="1">
                <a:solidFill>
                  <a:srgbClr val="1F3864"/>
                </a:solidFill>
                <a:latin typeface="微软雅黑"/>
              </a:rPr>
              <a:t>Agent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423160" y="5455920"/>
            <a:ext cx="207264" cy="353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2423160" y="5544312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423160" y="5632704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423160" y="5721096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2356104" y="5516880"/>
            <a:ext cx="48768" cy="231648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648712" y="5516880"/>
            <a:ext cx="48768" cy="231648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31136" y="5833872"/>
            <a:ext cx="5913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F3864"/>
                </a:solidFill>
                <a:latin typeface="微软雅黑"/>
              </a:rPr>
              <a:t>虚拟机</a:t>
            </a:r>
          </a:p>
          <a:p>
            <a:pPr algn="ctr"/>
            <a:r>
              <a:rPr sz="1050" b="1">
                <a:solidFill>
                  <a:srgbClr val="1F3864"/>
                </a:solidFill>
                <a:latin typeface="微软雅黑"/>
              </a:rPr>
              <a:t>Agent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099816" y="5455920"/>
            <a:ext cx="207264" cy="353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3099816" y="5544312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099816" y="5632704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099816" y="5721096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3032760" y="5516880"/>
            <a:ext cx="48768" cy="231648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3325368" y="5516880"/>
            <a:ext cx="48768" cy="231648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907792" y="5833872"/>
            <a:ext cx="5913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F3864"/>
                </a:solidFill>
                <a:latin typeface="微软雅黑"/>
              </a:rPr>
              <a:t>虚拟机</a:t>
            </a:r>
          </a:p>
          <a:p>
            <a:pPr algn="ctr"/>
            <a:r>
              <a:rPr sz="1050" b="1">
                <a:solidFill>
                  <a:srgbClr val="1F3864"/>
                </a:solidFill>
                <a:latin typeface="微软雅黑"/>
              </a:rPr>
              <a:t>Agent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142232" y="5455920"/>
            <a:ext cx="207264" cy="353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4142232" y="5544312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142232" y="5632704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142232" y="5721096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4075176" y="5516880"/>
            <a:ext cx="48768" cy="231648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4367784" y="5516880"/>
            <a:ext cx="48768" cy="231648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950208" y="5833872"/>
            <a:ext cx="5913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F3864"/>
                </a:solidFill>
                <a:latin typeface="微软雅黑"/>
              </a:rPr>
              <a:t>虚拟机</a:t>
            </a:r>
          </a:p>
          <a:p>
            <a:pPr algn="ctr"/>
            <a:r>
              <a:rPr sz="1050" b="1">
                <a:solidFill>
                  <a:srgbClr val="1F3864"/>
                </a:solidFill>
                <a:latin typeface="微软雅黑"/>
              </a:rPr>
              <a:t>Agent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812792" y="5455920"/>
            <a:ext cx="207264" cy="353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812792" y="5544312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812792" y="5632704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812792" y="5721096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4745736" y="5516880"/>
            <a:ext cx="48768" cy="231648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5038344" y="5516880"/>
            <a:ext cx="48768" cy="231648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620768" y="5833872"/>
            <a:ext cx="5913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F3864"/>
                </a:solidFill>
                <a:latin typeface="微软雅黑"/>
              </a:rPr>
              <a:t>虚拟机</a:t>
            </a:r>
          </a:p>
          <a:p>
            <a:pPr algn="ctr"/>
            <a:r>
              <a:rPr sz="1050" b="1">
                <a:solidFill>
                  <a:srgbClr val="1F3864"/>
                </a:solidFill>
                <a:latin typeface="微软雅黑"/>
              </a:rPr>
              <a:t>Agent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971032" y="5455920"/>
            <a:ext cx="207264" cy="353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5971032" y="5544312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5971032" y="5632704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5971032" y="5721096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5903976" y="5516880"/>
            <a:ext cx="48768" cy="231648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6196584" y="5516880"/>
            <a:ext cx="48768" cy="231648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779008" y="5833872"/>
            <a:ext cx="5913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F3864"/>
                </a:solidFill>
                <a:latin typeface="微软雅黑"/>
              </a:rPr>
              <a:t>虚拟机</a:t>
            </a:r>
          </a:p>
          <a:p>
            <a:pPr algn="ctr"/>
            <a:r>
              <a:rPr sz="1050" b="1">
                <a:solidFill>
                  <a:srgbClr val="1F3864"/>
                </a:solidFill>
                <a:latin typeface="微软雅黑"/>
              </a:rPr>
              <a:t>Agent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647688" y="5455920"/>
            <a:ext cx="207264" cy="353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6647688" y="5544312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6647688" y="5632704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6647688" y="5721096"/>
            <a:ext cx="207264" cy="0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580632" y="5516880"/>
            <a:ext cx="48768" cy="231648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6873240" y="5516880"/>
            <a:ext cx="48768" cy="231648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455664" y="5833872"/>
            <a:ext cx="5913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F3864"/>
                </a:solidFill>
                <a:latin typeface="微软雅黑"/>
              </a:rPr>
              <a:t>虚拟机</a:t>
            </a:r>
          </a:p>
          <a:p>
            <a:pPr algn="ctr"/>
            <a:r>
              <a:rPr sz="1050" b="1">
                <a:solidFill>
                  <a:srgbClr val="1F3864"/>
                </a:solidFill>
                <a:latin typeface="微软雅黑"/>
              </a:rPr>
              <a:t>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